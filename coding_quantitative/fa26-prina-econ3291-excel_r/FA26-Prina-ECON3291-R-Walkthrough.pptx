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8" r:id="rId50"/>
    <p:sldId id="289" r:id="rId51"/>
    <p:sldId id="290" r:id="rId52"/>
    <p:sldId id="291" r:id="rId53"/>
    <p:sldId id="292" r:id="rId17"/>
    <p:sldId id="293" r:id="rId16"/>
    <p:sldId id="294" r:id="rId15"/>
    <p:sldId id="295" r:id="rId14"/>
    <p:sldId id="296" r:id="rId13"/>
    <p:sldId id="297" r:id="rId12"/>
    <p:sldId id="298" r:id="rId11"/>
    <p:sldId id="299" r:id="rId10"/>
    <p:sldId id="300" r:id="rId9"/>
    <p:sldId id="301" r:id="rId63"/>
    <p:sldId id="302" r:id="rId64"/>
    <p:sldId id="303" r:id="rId65"/>
    <p:sldId id="304" r:id="rId66"/>
    <p:sldId id="305" r:id="rId67"/>
    <p:sldId id="306" r:id="rId68"/>
    <p:sldId id="307" r:id="rId69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5" Type="http://schemas.openxmlformats.org/officeDocument/2006/relationships/slide" Target="slides/slide39.xml"/><Relationship Id="rId16" Type="http://schemas.openxmlformats.org/officeDocument/2006/relationships/slide" Target="slides/slide38.xml"/><Relationship Id="rId17" Type="http://schemas.openxmlformats.org/officeDocument/2006/relationships/slide" Target="slides/slide37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R for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Sean Rogers  · 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81328"/>
            <a:ext cx="658368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5722"/>
                </a:solidFill>
              </a:rPr>
              <a:t>SESSION 2 OF 2  •  R IN GOOGLE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The same problem set, worked step by step in R. Follow along in Colab, or use these slides afterwards as a reference.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Getting oriented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R is, how Colab works, and the words we will use.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Workshop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Getting oriented: Colab, notebooks, and the vocabulary of R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Loading the data and looking at it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Questions 1–8, worked step by step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Your Turn breaks along the way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Discussion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you will be able to 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Open a Colab notebook and switch it to the R runtime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Load the dataset and check it came in correctly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Describe variables, count entities, and build indicator variables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Compare groups, plot a relationship, and measure it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Fit a regression and read the output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R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Free software for data work, driven by written commands rather than clicks.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2646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32180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you write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line naming a variable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operates on that whole column at once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 assignment with  &lt;-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stores a result so you can reuse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function call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asks for one specific thing to be computed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script of those lines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regenerates the whole analysis on demand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310128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the commands are written down, your analysis is a document you can re-run, share, and correct. That is the whole reason the course uses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310128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Getting into Colab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Nothing to install. The one setup step that matters is the runtime.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Sign in at colab.research.google.com with your Google account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File → Upload notebook, and choose the course notebook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Runtime → Change runtime type → R →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73426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Colab defaults to Python; the notebook will not run until you change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2944368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The number one thing that goes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If a cell fails with a message about invalid syntax, you are still on the Python runtime. Go back to Runtime → Change runtime type and check it says 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2944368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How a notebook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 stack of cells you run from top to bottom.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Code cells hold R. Press the ▶ button, or Ctrl/Cmd + Enter, to run one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Output appears directly underneath the cell that produced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Text cells hold notes and headings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310002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7998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Cells share memory, so run them in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74035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if things get strange: Runtime → Restart and run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3291840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Out-of-order running is the most common source of confusing errors. When in doubt, restart and run everything from the top — it takes thirty seconds.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3291840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Vocabulary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10896" y="1060704"/>
          <a:ext cx="8522208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6922008"/>
              </a:tblGrid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Object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Anything you store with the assignment arrow  &lt;-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Data frame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table of data: rows are observations, columns are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single column of values.  df$hhe  pulls out the hhe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Function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command that does something:  mean(), nrow(), lm()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Argument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What you put inside a function's brackets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Package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bundle of extra functions, loaded with  library()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dataset is published as a Google Sheet, so there is nothing to upload.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1780317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y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"1RZxJHcFtfxGp8BiRQdA0YF6VKwT43MOY"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paste0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"https://docs.google.com/spreadsheets/d/"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"/export?format=csv"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str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1670589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3243357"/>
            <a:ext cx="8522208" cy="10391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'data.frame':   550 obs. of  10 variables: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hhid    : int  15681 15681 15680 15680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round   : int  1 0 1 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hhe     : num  82.2 85.9 40.4 40.7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298221"/>
            <a:ext cx="45720" cy="9293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3307365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tutorial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are being asked to find out, and what the data holds.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scenario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are helping the Ministry of Health evaluate a programme aimed at poor households.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The goal is to reduce what low-income rural households spend on health.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A pilot ran in several communities. You must assess whether it actually reduced spending.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have data from before the programme (round = 0) and one year after (round = 1),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37474F"/>
                </a:solidFill>
              </a:rPr>
              <a:t>in a treatment community (treatcom = 1) and a control community (treatcom = 0).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rows. One row per household per round.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389888"/>
          <a:ext cx="8522208" cy="2834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967728"/>
              </a:tblGrid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Unique household ID, constant across rounds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round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0 = baseline, 1 = one year after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local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Community identifier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health expenditure — the outcome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treatcom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treatment community, 0 =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agehh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Age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educhh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Years of education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pscore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poverty index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takeup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household participated in the programme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One row is a household-round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household appears twice. This decides several answers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head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4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1866836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 hhid round local   hhe treatcom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1 15681     1    34 82.19        1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2 15681     0    34 85.89        1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3 15680     1    34 40.38        1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4 15680     0    34 40.69        1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1921700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1930843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3547872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this twice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Rows 1 and 2 are the same household in two different years. So nrow(df) and the number of households are different numbers — and which you want depends on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547872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Summary statistics, and counting what the question actually asks for.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Six counts, then a table of statistics.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2148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0"/>
                <a:gridCol w="2852928"/>
              </a:tblGrid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Function you need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observations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nrow()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are in the dataset?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in treatment? In control?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table()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control locality?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Q1(a)  How many observations?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An observation is a row. nrow() counts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Click into the next empty code cell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nrow(df)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Press Ctrl + Enter (Cmd + Enter on a Mac) to run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205228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[1] 550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60092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6923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not 551?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file has 551 lines, but read.csv() turns the first one into column names rather than data — so nrow() reports 550.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96849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96849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observations.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Q1(b)  How many households?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 the same as rows: each household appears twice.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type  length(unique(df$hhid))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unique() drops repeats; length() counts what is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396849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550 rows ÷ 2 rounds = 275 households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00784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755648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196020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25088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226002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275 households, each observed twice.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Q1(c)  How many localities?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same pattern, applied to a different column.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length(unique(df$local))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type  unique(df$local)  and run that too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second line shows you the actual values, not just how many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407793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34 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62657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7180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49039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49039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 localities: 34 and 99.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Q1(d)  Which locality is treatment?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table() on two columns shows how they line 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table(df$local, df$treatcom)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785615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Read the grid: rows are localities, columns are treatment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700784"/>
            <a:ext cx="4261104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186812"/>
            <a:ext cx="4261104" cy="90100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0   1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34   0 262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99 288   0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241676"/>
            <a:ext cx="45720" cy="79127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529584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529584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One locality in treatment (local = 34) and one in control (local = 99).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931920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Worth remembering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Off-diagonal cells are zero: locality and treatment are the same split.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931920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Q1(e)–(f)  Households per locality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question says households, so count distinct IDs, not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the first line and run it — that is the treatment locality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Change the 1 to a 0 and run again for the control locality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square brackets are a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df$hhid[df$treatcom == 1] means the hhid values where treatcom is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0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144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4096512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4096512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131 in treatment, 144 in control. nrow() would give 262 — observations.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Building the summary table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Five variables and four statistics — twenty numbers, from one call.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a vector naming the five columns you want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Hand it to sapply(), which applies the same function to each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Wrap it in round(t(...), 2) to turn it upright and tidy the decimals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11450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"hhe"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"educhh"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"agehh"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"hhsize"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"pscore"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sapply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function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min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max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103527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4187952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sd() is the sample standard deviation — it divides by n − 1, which is what you want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4187952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Add "takeup" to vars and re-run. You did not have to write a single new line per statistic — that is the point of doing it this way.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Did anyone get something different?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s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2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4074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Mean     SD    Min     Max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hhe     70.06  30.75  14.67  255.02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educhh   3.20   2.55   0.00   14.00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agehh   46.04  15.67  21.00   87.00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hhsize   5.44   2.27   1.00   12.00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pscore 772.33 134.54 452.00 1167.00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2976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98678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These pool both rounds, so 46.04 is an average over household-years.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98678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Building a new variable from a rule, then counting with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parts, all about the treatment locality.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790688"/>
              </a:tblGrid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 are eligible?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treatment households are eligible?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eligible households took up the programme?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eligible households took it up?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456432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Note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There is no eligible column in the data. You build it yourself from the poverty index.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456432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  Creating the eligible variable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ifelse() reads as a sentence: if the test is true, then 1, otherwise 0.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write the ifelse() 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nothing prints, because you stored the result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table(df$eligible) to check it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8365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ifelse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p</a:t>
            </a:r>
            <a:r>
              <a:rPr sz="1000" b="1">
                <a:solidFill>
                  <a:srgbClr val="007986"/>
                </a:solidFill>
                <a:latin typeface="Courier New"/>
              </a:rPr>
              <a:t>s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750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72682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628773"/>
            <a:ext cx="4169663" cy="65239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 0   1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284 266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683637"/>
            <a:ext cx="45720" cy="54267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69278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456432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arrow creates the column if it does not exist. One line covers all 550 rows — you never repeat the rule per 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456432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Q2(a)  Eligible households in treatment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Restrict to one round first, so you count households rather than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Build the subset: baseline rows, treatment locality only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Check it with nrow() — you should see 131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sum the eligible column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92862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[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u</a:t>
            </a:r>
            <a:r>
              <a:rPr sz="1000" b="1">
                <a:solidFill>
                  <a:srgbClr val="007986"/>
                </a:solidFill>
                <a:latin typeface="Courier New"/>
              </a:rPr>
              <a:t>n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&amp;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m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8188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20848"/>
            <a:ext cx="4169663" cy="56032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75712"/>
            <a:ext cx="45720" cy="4505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78485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60 of the 131 treatment households are eligible.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Q2(b)  What fraction is that?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Because eligible is 1s and 0s, its mean is the proportion.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mean(hh_treat$eligible)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That is 60 ÷ 131, done for you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Multiply by 100 if you want it as a percentage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186812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0.4580153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41676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566928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mean of a column of 1s and 0s is the share that are 1 — so it saves you the division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566928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840480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840480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45.8% of treatment-locality households are eligible.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Work out (c) and (d) yourself: of the eligible treatment households, how many took up the programme, and what fraction is that?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Q2(c)–(d)  Take-up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Filter to the eligible ones, then count and average takeup.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a second filter inside the brackets: eligible == 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sum() gives the count, mean() gives the fraction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Watch the denominator — it is eligible households, not all of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59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0.9833333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40599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40599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59 of the 60 eligible households participated — a take-up rate of 98.3%.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3 and 4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Comparing treatment and control at baseline.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3  Building the comparison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group_by() splits the data; summarise() reports one row per group.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baseline subset and name it base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it into group_by(treatcom) to split it in two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that into summarise() and name each average you want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always finish with n = n() so you know the group sizes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907792"/>
            <a:ext cx="8522208" cy="1356772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0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962656"/>
            <a:ext cx="45720" cy="124704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Q3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all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1        0 66.49    2.976   5.910   763.3 144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2        1 71.50    3.442   4.931   782.3 131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529584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 1 is control (treatcom = 0), row 2 is treatment. A mean with no group size beside it cannot be judged.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529584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4  Eligible households only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extra line. Everything else is identical to Question 3.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Question 3 pipeline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Insert filter(eligible == 1) directly after base %&gt;%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rest of the pipeline is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907792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000" i="1">
                <a:solidFill>
                  <a:srgbClr val="78909C"/>
                </a:solidFill>
                <a:latin typeface="Arial"/>
              </a:rPr>
              <a:t>   # the only new line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962656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 the Question 4 table yourself, then re-run it with the threshold at 700 instead of 750. How much do the counts move?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Q4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eligible households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w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1        0 61.75    3.469   5.857   659.6 70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2        1 60.13    4.267   5.567   672.1 60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529584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529584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300" b="0" i="0">
                <a:solidFill>
                  <a:srgbClr val="212121"/>
                </a:solidFill>
              </a:rPr>
              <a:t>Control education here is 3.47, not the 3.27 in the older key.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" y="4041648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Restricting to eligible households pulls both poverty indices down by ~100 points.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4041648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5 and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Seeing a relationship, then measuring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6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5  The scatter plot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ggplot builds a plot in layers, joined with +.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Start with ggplot(base, aes(x = pscore, y = hhe))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geom_point() to draw the dots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labs() to title both axes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" y="253784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0583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plot appears under the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86380"/>
            <a:ext cx="3877055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an unlabelled chart is not a finished answer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700784"/>
            <a:ext cx="4169663" cy="13521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ggplot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aes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geom_point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"steelblue"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labs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"Poverty index"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"Health expenditure"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theme_minimal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755648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Q5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5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298448"/>
            <a:ext cx="5029200" cy="3008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371600"/>
            <a:ext cx="3255264" cy="1073912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What it shows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cloud slopes upward: households with a higher poverty index spend more on health at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71600"/>
            <a:ext cx="50292" cy="1073912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2542032"/>
            <a:ext cx="3255264" cy="1073912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the sign carefully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higher pscore means a poorer household, so poorer households are spending more, not less.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2542032"/>
            <a:ext cx="50292" cy="107391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931920"/>
            <a:ext cx="3255264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Save it with ggsave("scatter.png").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393192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6  Correlation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6. Calculate the correlation between household health expenditure and education of the household head at baseline.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line — and the variable names are right there in it.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cor(base$hhe, base$educhh)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again with base$pscore for contrast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Say the variable names out loud as you 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 b="1">
                <a:solidFill>
                  <a:srgbClr val="007986"/>
                </a:solidFill>
                <a:latin typeface="Courier New"/>
              </a:rPr>
              <a:t>d</a:t>
            </a:r>
            <a:r>
              <a:rPr sz="1050" b="1">
                <a:solidFill>
                  <a:srgbClr val="007986"/>
                </a:solidFill>
                <a:latin typeface="Courier New"/>
              </a:rPr>
              <a:t>u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370963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-0.09865188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0.469121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25827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3497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40156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40156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−0.099. The correlation is negative, and very weak.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895344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Why the old answer was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older key gives 0.4691 — that is the pscore correlation, printed second above.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895344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7 and 8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Estimating the programme's impact with regression.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7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7  What regression does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Fit a straight line through the data by least squares.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1458055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+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·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z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1348327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334670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a dummy makes this easy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treatcom is 0 or 1, the slope b is simply the difference in average health expenditure between the treatment and control localities.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334670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Fitting the model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lm() means linear model. Read the formula as: hhe explained by treatcom.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round = 1 subset and name it r1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Fit the model with lm() and store it in m1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Ask for the report with summary(m1)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12048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n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~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109512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31012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store it?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Storing the model rather than printing it means you can ask it other questions later — coef(m1), confint(m1) — without refitting.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31012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Named rows, in the order you wrote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5086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Coefficients: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(Intercept)   78.437      3.145  24.942  &lt; 2e-16 ***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treatcom     -15.119      4.556  -3.318  0.00103 ** 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Residual standard error: 37.74 on 273 degrees of freedom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Multiple R-squared:  0.03877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3989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95020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95020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 treatment coefficient is −15.12, with a standard error of 4.56.</a:t>
            </a:r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Reading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columns, one row per variable, and the stars are just shorthand.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5916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tells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Estimate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coefficient — the size of the effect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Std. Error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precisely it is measured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 value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Estimate ÷ Std. Error. Beyond about ±2 is significant at 5%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Pr(&gt;|t|)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p-value. 0.00103 is about a 1-in-1000 chance under the null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this is easy to read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Everything is labelled and in the order you wrote the formula, so there is no counting across a grid to work out which number belongs to which variable.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Q7(a)  Interpreting the result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Turn the coefficient into a sentence about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99768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63.32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88795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3017520"/>
            <a:ext cx="960120" cy="66293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71016" y="3017520"/>
            <a:ext cx="7562088" cy="66293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A year after the programme began, households in the treatment locality spend about 15 dollars less on health than households in the control locality.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3694176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Significant is not causal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gap this large is unlikely if the programme did nothing — but that alone does not prove it caused the gap.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694176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8  Adding controls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Add regressors with +. No rearranging of columns required.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lm() line from Question 7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educhh + hhsize + pscore inside the formula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Store it as m2 and run summary(m2)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834640"/>
            <a:ext cx="8522208" cy="633983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~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z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p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89504"/>
            <a:ext cx="45720" cy="52425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9864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76732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formula names the variables, so they can sit anywhere in the data and go in any order. Nothing needs rearranging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76732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" y="1316736"/>
            <a:ext cx="8522208" cy="385381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m</a:t>
            </a:r>
            <a:r>
              <a:rPr sz="1050">
                <a:solidFill>
                  <a:srgbClr val="6A4C9C"/>
                </a:solidFill>
                <a:latin typeface="Courier New"/>
              </a:rPr>
              <a:t>2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1371600"/>
            <a:ext cx="45720" cy="27565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CHIP"/>
          <p:cNvSpPr txBox="1"/>
          <p:nvPr/>
        </p:nvSpPr>
        <p:spPr>
          <a:xfrm>
            <a:off x="8119872" y="138074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1793556"/>
            <a:ext cx="8522208" cy="13521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(Intercept) 63.72961   14.47047   4.404 1.53e-05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treatcom   -20.37540    4.14544  -4.915 1.54e-06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educhh      -2.62528    0.79906  -3.285  0.00115 ** 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hhsize      -5.25988    0.91935  -5.721 2.80e-08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pscore       0.07023    0.01535   4.576 7.24e-06 ***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1848421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CHIP"/>
          <p:cNvSpPr txBox="1"/>
          <p:nvPr/>
        </p:nvSpPr>
        <p:spPr>
          <a:xfrm>
            <a:off x="8119872" y="185756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6027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71016" y="36027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With controls, the estimated impact grows from −15.12 to −20.38 dollars.</a:t>
            </a:r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What the controls tell you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coefficient is the effect of that variable, holding the others fixed.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468172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Reading it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Treatment locality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−20.38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the programme's estimated impact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head education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−2.63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year of schooling, ~$2.63 less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−5.26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member, ~$5.26 less per capita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Poverty index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0.07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poorer households spend slightly more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impact grows because the treatment locality differs from the control at baseline. Controlling for those differences separates the programme's effect from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Wrapping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did, and what to carry forward.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8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You're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Does anyone have questions about a step?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Which parts of the syntax felt natural, and which felt fiddly?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Where did you have to stop and think about households versus observations?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What would you want to look up again next time?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Keep the notebook — it is the fastest way to remember the syntax later.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W R A P P I N G   U P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Sean Rogers,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All materials: https://github.com/NULabNortheastern/digitalassignmentshowcase/tree/main/coding_quantitative/fa26-prina-econ3291-excel_r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