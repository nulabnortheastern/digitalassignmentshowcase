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17"/>
    <p:sldId id="293" r:id="rId16"/>
    <p:sldId id="294" r:id="rId15"/>
    <p:sldId id="295" r:id="rId14"/>
    <p:sldId id="296" r:id="rId13"/>
    <p:sldId id="297" r:id="rId12"/>
    <p:sldId id="298" r:id="rId11"/>
    <p:sldId id="299" r:id="rId10"/>
    <p:sldId id="300" r:id="rId9"/>
    <p:sldId id="301" r:id="rId63"/>
    <p:sldId id="302" r:id="rId64"/>
    <p:sldId id="303" r:id="rId65"/>
    <p:sldId id="304" r:id="rId66"/>
    <p:sldId id="305" r:id="rId67"/>
    <p:sldId id="306" r:id="rId68"/>
    <p:sldId id="307" r:id="rId69"/>
  </p:sldIdLst>
  <p:sldSz cy="5143500" cx="9144000"/>
  <p:notesSz cx="6858000" cy="9144000"/>
  <p:embeddedFontLst>
    <p:embeddedFont>
      <p:font typeface="Proxima Nova"/>
      <p:regular r:id="rId54"/>
      <p:bold r:id="rId55"/>
      <p:italic r:id="rId56"/>
      <p:boldItalic r:id="rId57"/>
    </p:embeddedFont>
    <p:embeddedFont>
      <p:font typeface="Roboto"/>
      <p:regular r:id="rId58"/>
      <p:bold r:id="rId59"/>
      <p:italic r:id="rId60"/>
      <p:boldItalic r:id="rId61"/>
    </p:embeddedFont>
    <p:embeddedFont>
      <p:font typeface="Alfa Slab One"/>
      <p:regular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Sarah Connel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5" Type="http://schemas.openxmlformats.org/officeDocument/2006/relationships/slide" Target="slides/slide39.xml"/><Relationship Id="rId16" Type="http://schemas.openxmlformats.org/officeDocument/2006/relationships/slide" Target="slides/slide38.xml"/><Relationship Id="rId17" Type="http://schemas.openxmlformats.org/officeDocument/2006/relationships/slide" Target="slides/slide37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font" Target="fonts/ProximaNova-regular.fntdata"/><Relationship Id="rId55" Type="http://schemas.openxmlformats.org/officeDocument/2006/relationships/font" Target="fonts/ProximaNova-bold.fntdata"/><Relationship Id="rId56" Type="http://schemas.openxmlformats.org/officeDocument/2006/relationships/font" Target="fonts/ProximaNova-italic.fntdata"/><Relationship Id="rId57" Type="http://schemas.openxmlformats.org/officeDocument/2006/relationships/font" Target="fonts/ProximaNova-boldItalic.fntdata"/><Relationship Id="rId58" Type="http://schemas.openxmlformats.org/officeDocument/2006/relationships/font" Target="fonts/Roboto-regular.fntdata"/><Relationship Id="rId59" Type="http://schemas.openxmlformats.org/officeDocument/2006/relationships/font" Target="fonts/Roboto-bold.fntdata"/><Relationship Id="rId60" Type="http://schemas.openxmlformats.org/officeDocument/2006/relationships/font" Target="fonts/Roboto-italic.fntdata"/><Relationship Id="rId61" Type="http://schemas.openxmlformats.org/officeDocument/2006/relationships/font" Target="fonts/Roboto-boldItalic.fntdata"/><Relationship Id="rId62" Type="http://schemas.openxmlformats.org/officeDocument/2006/relationships/font" Target="fonts/AlfaSlabOne-regular.fntdata"/><Relationship Id="rId63" Type="http://schemas.openxmlformats.org/officeDocument/2006/relationships/slide" Target="slides/slide46.xml"/><Relationship Id="rId64" Type="http://schemas.openxmlformats.org/officeDocument/2006/relationships/slide" Target="slides/slide47.xml"/><Relationship Id="rId65" Type="http://schemas.openxmlformats.org/officeDocument/2006/relationships/slide" Target="slides/slide48.xml"/><Relationship Id="rId66" Type="http://schemas.openxmlformats.org/officeDocument/2006/relationships/slide" Target="slides/slide49.xml"/><Relationship Id="rId67" Type="http://schemas.openxmlformats.org/officeDocument/2006/relationships/slide" Target="slides/slide50.xml"/><Relationship Id="rId68" Type="http://schemas.openxmlformats.org/officeDocument/2006/relationships/slide" Target="slides/slide51.xml"/><Relationship Id="rId6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14"/>
          <p:cNvCxnSpPr/>
          <p:nvPr/>
        </p:nvCxnSpPr>
        <p:spPr>
          <a:xfrm>
            <a:off x="4278300" y="2350188"/>
            <a:ext cx="587400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2226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b="1"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02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1" name="Google Shape;81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" name="Google Shape;8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556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21"/>
          <p:cNvSpPr txBox="1"/>
          <p:nvPr/>
        </p:nvSpPr>
        <p:spPr>
          <a:xfrm>
            <a:off x="6187300" y="4661700"/>
            <a:ext cx="2956500" cy="4818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Cambria"/>
                <a:ea typeface="Cambria"/>
                <a:cs typeface="Cambria"/>
                <a:sym typeface="Cambria"/>
              </a:rPr>
              <a:t>Feel free to ask questions at any point during the presentation!</a:t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pic>
        <p:nvPicPr>
          <p:cNvPr descr="Logo for the NULab for Digital Humanities and Computational Social Science" id="87" name="Google Shape;87;p22"/>
          <p:cNvPicPr preferRelativeResize="0"/>
          <p:nvPr/>
        </p:nvPicPr>
        <p:blipFill rotWithShape="1">
          <a:blip r:embed="rId2">
            <a:alphaModFix/>
          </a:blip>
          <a:srcRect b="27753" l="5347" r="9095" t="29603"/>
          <a:stretch/>
        </p:blipFill>
        <p:spPr>
          <a:xfrm>
            <a:off x="0" y="4444975"/>
            <a:ext cx="2550528" cy="70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55600" lvl="1" marL="914400" rtl="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42900" lvl="2" marL="1371600" rtl="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ogo for the NULab for Digital Humanities and Computational Social Science" id="92" name="Google Shape;92;p23"/>
          <p:cNvPicPr preferRelativeResize="0"/>
          <p:nvPr/>
        </p:nvPicPr>
        <p:blipFill rotWithShape="1">
          <a:blip r:embed="rId2">
            <a:alphaModFix/>
          </a:blip>
          <a:srcRect b="27753" l="5347" r="9095" t="29603"/>
          <a:stretch/>
        </p:blipFill>
        <p:spPr>
          <a:xfrm>
            <a:off x="0" y="4444975"/>
            <a:ext cx="2550528" cy="70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ogo for the NULab for Digital Humanities and Computational Social Science" id="95" name="Google Shape;95;p24"/>
          <p:cNvPicPr preferRelativeResize="0"/>
          <p:nvPr/>
        </p:nvPicPr>
        <p:blipFill rotWithShape="1">
          <a:blip r:embed="rId2">
            <a:alphaModFix/>
          </a:blip>
          <a:srcRect b="27753" l="5347" r="9095" t="29603"/>
          <a:stretch/>
        </p:blipFill>
        <p:spPr>
          <a:xfrm>
            <a:off x="0" y="4444975"/>
            <a:ext cx="2550528" cy="70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6"/>
          <p:cNvCxnSpPr/>
          <p:nvPr/>
        </p:nvCxnSpPr>
        <p:spPr>
          <a:xfrm>
            <a:off x="4278300" y="2350188"/>
            <a:ext cx="587400" cy="0"/>
          </a:xfrm>
          <a:prstGeom prst="straightConnector1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6"/>
          <p:cNvSpPr txBox="1"/>
          <p:nvPr>
            <p:ph type="ctrTitle"/>
          </p:nvPr>
        </p:nvSpPr>
        <p:spPr>
          <a:xfrm>
            <a:off x="311700" y="2226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b="1"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311700" y="102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ogo for the NULab for Digital Humanities and Computational Social Science" id="112" name="Google Shape;112;p28"/>
          <p:cNvPicPr preferRelativeResize="0"/>
          <p:nvPr/>
        </p:nvPicPr>
        <p:blipFill rotWithShape="1">
          <a:blip r:embed="rId2">
            <a:alphaModFix/>
          </a:blip>
          <a:srcRect b="27753" l="5347" r="9095" t="29603"/>
          <a:stretch/>
        </p:blipFill>
        <p:spPr>
          <a:xfrm>
            <a:off x="0" y="4573675"/>
            <a:ext cx="2082540" cy="57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1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31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" name="Google Shape;130;p3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3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32" name="Google Shape;132;p33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137" name="Google Shape;13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55600" lvl="1" marL="9144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D0E0E"/>
              </a:buClr>
              <a:buSzPts val="3600"/>
              <a:buFont typeface="Cambria"/>
              <a:buNone/>
              <a:defRPr b="1" sz="3600">
                <a:solidFill>
                  <a:srgbClr val="ED0E0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Char char="●"/>
              <a:defRPr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556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mbria"/>
              <a:buChar char="○"/>
              <a:defRPr sz="20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429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Char char="■"/>
              <a:defRPr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●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○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■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●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○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mbria"/>
              <a:buChar char="■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6187300" y="4661700"/>
            <a:ext cx="2956500" cy="4818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Cambria"/>
                <a:ea typeface="Cambria"/>
                <a:cs typeface="Cambria"/>
                <a:sym typeface="Cambria"/>
              </a:rPr>
              <a:t>Feel free to ask questions at any point during the presentation!</a:t>
            </a:r>
            <a:endParaRPr i="1"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8595108" y="4762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‹#›</a:t>
            </a:fld>
            <a:endParaRPr sz="2000">
              <a:solidFill>
                <a:srgbClr val="66666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6" name="Google Shape;56;p13" title="NULab for Digital Humanities_RGB_Monogram_Red+B (3)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333175"/>
            <a:ext cx="2186034" cy="810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311700" y="237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D0E0E"/>
              </a:buClr>
              <a:buSzPts val="3600"/>
              <a:buFont typeface="Cambria"/>
              <a:buNone/>
              <a:defRPr b="1" sz="3600">
                <a:solidFill>
                  <a:srgbClr val="ED0E0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Char char="●"/>
              <a:defRPr sz="24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556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mbria"/>
              <a:buChar char="○"/>
              <a:defRPr sz="20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Char char="■"/>
              <a:defRPr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●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○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■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●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mbria"/>
              <a:buChar char="○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mbria"/>
              <a:buChar char="■"/>
              <a:defRPr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896" y="475488"/>
            <a:ext cx="8229600" cy="96012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400" b="1" i="0">
                <a:solidFill>
                  <a:srgbClr val="212121"/>
                </a:solidFill>
              </a:rPr>
              <a:t>R for Statistical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3165823"/>
            <a:ext cx="8520600" cy="841248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sz="1450" b="0" i="0">
                <a:solidFill>
                  <a:srgbClr val="37474F"/>
                </a:solidFill>
              </a:rPr>
              <a:t>ECON 3291: Development Economics  •  Professor Silvia Prina</a:t>
            </a:r>
          </a:p>
          <a:p>
            <a:pPr>
              <a:spcAft>
                <a:spcPts val="200"/>
              </a:spcAft>
            </a:pPr>
            <a:r>
              <a:rPr sz="1450" b="0" i="0">
                <a:solidFill>
                  <a:srgbClr val="37474F"/>
                </a:solidFill>
              </a:rPr>
              <a:t>Taught by the DITI Research and Teaching Fellows</a:t>
            </a:r>
          </a:p>
          <a:p>
            <a:pPr>
              <a:spcAft>
                <a:spcPts val="200"/>
              </a:spcAft>
            </a:pPr>
            <a:r>
              <a:rPr sz="1450" b="0" i="0">
                <a:solidFill>
                  <a:srgbClr val="37474F"/>
                </a:solidFill>
              </a:rPr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1481328"/>
            <a:ext cx="658368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5722"/>
                </a:solidFill>
              </a:rPr>
              <a:t>SESSION 2 OF 2  •  R IN GOOGLE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1883664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2103120"/>
            <a:ext cx="694944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37474F"/>
                </a:solidFill>
              </a:rPr>
              <a:t>The same problem set, worked step by step in R. Follow along in Colab, or use these slides afterwards as a reference.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Getting oriented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What R is, how Colab works, and the words we will use.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1   O F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Workshop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28575"/>
            <a:ext cx="8520600" cy="34164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212121"/>
                </a:solidFill>
              </a:rPr>
              <a:t>Getting oriented: Colab, notebooks, and the vocabulary of R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12121"/>
                </a:solidFill>
              </a:rPr>
              <a:t>Loading the data and looking at it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12121"/>
                </a:solidFill>
              </a:rPr>
              <a:t>Questions 1–8, worked step by step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12121"/>
                </a:solidFill>
              </a:rPr>
              <a:t>Your Turn breaks along the way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212121"/>
                </a:solidFill>
              </a:rPr>
              <a:t>Discussion</a:t>
            </a:r>
          </a:p>
        </p:txBody>
      </p:sp>
      <p:sp>
        <p:nvSpPr>
          <p:cNvPr id="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G E T T I N G   O R I E N T E D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What you will be able to 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28575"/>
            <a:ext cx="8520600" cy="34164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12121"/>
                </a:solidFill>
              </a:rPr>
              <a:t>Open a Colab notebook and switch it to the R runtime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12121"/>
                </a:solidFill>
              </a:rPr>
              <a:t>Load the dataset and check it came in correctly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12121"/>
                </a:solidFill>
              </a:rPr>
              <a:t>Describe variables, count entities, and build indicator variables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12121"/>
                </a:solidFill>
              </a:rPr>
              <a:t>Compare groups, plot a relationship, and measure it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212121"/>
                </a:solidFill>
              </a:rPr>
              <a:t>Fit a regression and read the output</a:t>
            </a:r>
          </a:p>
        </p:txBody>
      </p:sp>
      <p:sp>
        <p:nvSpPr>
          <p:cNvPr id="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G E T T I N G   O R I E N T E D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What R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969264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Free software for data work, driven by written commands rather than clicks.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426464"/>
          <a:ext cx="852220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321808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you write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 line naming a variable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operates on that whole column at once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an assignment with  &lt;-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stores a result so you can reuse it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 function call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asks for one specific thing to be computed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 script of those lines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regenerates the whole analysis on demand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0896" y="3310128"/>
            <a:ext cx="8522208" cy="605536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Because the commands are written down, your analysis is a document you can re-run, share, and correct. That is the whole reason the course uses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3310128"/>
            <a:ext cx="50292" cy="60553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G E T T I N G   O R I E N T E 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Getting into Colab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969264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Nothing to install. The one setup step that matters is the runtime.</a:t>
            </a:r>
          </a:p>
        </p:txBody>
      </p:sp>
      <p:sp>
        <p:nvSpPr>
          <p:cNvPr id="4" name="Oval 3"/>
          <p:cNvSpPr/>
          <p:nvPr/>
        </p:nvSpPr>
        <p:spPr>
          <a:xfrm>
            <a:off x="310896" y="140817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6172"/>
            <a:ext cx="7900416" cy="264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212121"/>
                </a:solidFill>
              </a:rPr>
              <a:t>Sign in at colab.research.google.com with your Google account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708785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6781"/>
            <a:ext cx="7900416" cy="264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212121"/>
                </a:solidFill>
              </a:rPr>
              <a:t>File → Upload notebook, and choose the course notebook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2009393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77389"/>
            <a:ext cx="7900416" cy="264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212121"/>
                </a:solidFill>
              </a:rPr>
              <a:t>Runtime → Change runtime type → R → 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73426"/>
            <a:ext cx="7900416" cy="23304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Colab defaults to Python; the notebook will not run until you change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944368"/>
            <a:ext cx="8522208" cy="853440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FF5722"/>
                </a:solidFill>
              </a:rPr>
              <a:t>The number one thing that goes wrong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If a cell fails with a message about invalid syntax, you are still on the Python runtime. Go back to Runtime → Change runtime type and check it says 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" y="2944368"/>
            <a:ext cx="50292" cy="85344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G E T T I N G   O R I E N T E 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How a notebook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969264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A stack of cells you run from top to bottom.</a:t>
            </a:r>
          </a:p>
        </p:txBody>
      </p:sp>
      <p:sp>
        <p:nvSpPr>
          <p:cNvPr id="4" name="Oval 3"/>
          <p:cNvSpPr/>
          <p:nvPr/>
        </p:nvSpPr>
        <p:spPr>
          <a:xfrm>
            <a:off x="310896" y="140817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6172"/>
            <a:ext cx="7900416" cy="264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212121"/>
                </a:solidFill>
              </a:rPr>
              <a:t>Code cells hold R. Press the ▶ button, or Ctrl/Cmd + Enter, to run one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708785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6781"/>
            <a:ext cx="7900416" cy="264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212121"/>
                </a:solidFill>
              </a:rPr>
              <a:t>Output appears directly underneath the cell that produced it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2009393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77389"/>
            <a:ext cx="7900416" cy="264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212121"/>
                </a:solidFill>
              </a:rPr>
              <a:t>Text cells hold notes and headings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310002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77998"/>
            <a:ext cx="7900416" cy="264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212121"/>
                </a:solidFill>
              </a:rPr>
              <a:t>Cells share memory, so run them in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74035"/>
            <a:ext cx="7900416" cy="23304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if things get strange: Runtime → Restart and run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3291840"/>
            <a:ext cx="8522208" cy="605536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Out-of-order running is the most common source of confusing errors. When in doubt, restart and run everything from the top — it takes thirty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3291840"/>
            <a:ext cx="50292" cy="60553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G E T T I N G   O R I E N T E 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Vocabulary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0896" y="1060704"/>
          <a:ext cx="8522208" cy="2651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6922008"/>
              </a:tblGrid>
              <a:tr h="37882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Object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Anything you store with the assignment arrow  &lt;-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Data frame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 table of data: rows are observations, columns are variables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Vector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 single column of values.  df$hhe  pulls out the hhe column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Function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 command that does something:  mean(), nrow(), lm()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Argument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What you put inside a function's brackets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Package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C272B"/>
                          </a:solidFill>
                        </a:rPr>
                        <a:t>A bundle of extra functions, loaded with  library()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G E T T I N G   O R I E N T E D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Loading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969264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The dataset is published as a Google Sheet, so there is nothing to upload.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371600"/>
            <a:ext cx="8522208" cy="1780317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library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y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library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g</a:t>
            </a:r>
            <a:r>
              <a:rPr sz="1150" b="1">
                <a:solidFill>
                  <a:srgbClr val="007986"/>
                </a:solidFill>
                <a:latin typeface="Courier New"/>
              </a:rPr>
              <a:t>g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>
                <a:solidFill>
                  <a:srgbClr val="6A4C9C"/>
                </a:solidFill>
                <a:latin typeface="Courier New"/>
              </a:rPr>
              <a:t>2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575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>
                <a:solidFill>
                  <a:srgbClr val="1C272B"/>
                </a:solidFill>
                <a:latin typeface="Courier New"/>
              </a:rPr>
              <a:t>_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&lt;</a:t>
            </a:r>
            <a:r>
              <a:rPr sz="1150">
                <a:solidFill>
                  <a:srgbClr val="1C272B"/>
                </a:solidFill>
                <a:latin typeface="Courier New"/>
              </a:rPr>
              <a:t>-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B03A14"/>
                </a:solidFill>
                <a:latin typeface="Courier New"/>
              </a:rPr>
              <a:t>"1RZxJHcFtfxGp8BiRQdA0YF6VKwT43MOY"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v</a:t>
            </a:r>
            <a:r>
              <a:rPr sz="1150">
                <a:solidFill>
                  <a:srgbClr val="1C272B"/>
                </a:solidFill>
                <a:latin typeface="Courier New"/>
              </a:rPr>
              <a:t>_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&lt;</a:t>
            </a:r>
            <a:r>
              <a:rPr sz="1150">
                <a:solidFill>
                  <a:srgbClr val="1C272B"/>
                </a:solidFill>
                <a:latin typeface="Courier New"/>
              </a:rPr>
              <a:t>-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paste0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>
                <a:solidFill>
                  <a:srgbClr val="B03A14"/>
                </a:solidFill>
                <a:latin typeface="Courier New"/>
              </a:rPr>
              <a:t>"https://docs.google.com/spreadsheets/d/"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>
                <a:solidFill>
                  <a:srgbClr val="1C272B"/>
                </a:solidFill>
                <a:latin typeface="Courier New"/>
              </a:rPr>
              <a:t>_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B03A14"/>
                </a:solidFill>
                <a:latin typeface="Courier New"/>
              </a:rPr>
              <a:t>"/export?format=csv"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&lt;</a:t>
            </a:r>
            <a:r>
              <a:rPr sz="1150">
                <a:solidFill>
                  <a:srgbClr val="1C272B"/>
                </a:solidFill>
                <a:latin typeface="Courier New"/>
              </a:rPr>
              <a:t>-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read.csv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v</a:t>
            </a:r>
            <a:r>
              <a:rPr sz="1150">
                <a:solidFill>
                  <a:srgbClr val="1C272B"/>
                </a:solidFill>
                <a:latin typeface="Courier New"/>
              </a:rPr>
              <a:t>_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str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426464"/>
            <a:ext cx="45720" cy="1670589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CHIP"/>
          <p:cNvSpPr txBox="1"/>
          <p:nvPr/>
        </p:nvSpPr>
        <p:spPr>
          <a:xfrm>
            <a:off x="8119872" y="1435608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" y="3243357"/>
            <a:ext cx="8522208" cy="1039114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'data.frame':   550 obs. of  10 variables: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$ hhid    : int  15681 15681 15680 15680 ...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$ round   : int  1 0 1 0 ...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$ hhe     : num  82.2 85.9 40.4 40.7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3298221"/>
            <a:ext cx="45720" cy="929385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CHIP"/>
          <p:cNvSpPr txBox="1"/>
          <p:nvPr/>
        </p:nvSpPr>
        <p:spPr>
          <a:xfrm>
            <a:off x="8119872" y="3307365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0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G E T T I N G   O R I E N T E 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The tutorial 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What you are being asked to find out, and what the data holds.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2   O F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The scenario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28575"/>
            <a:ext cx="8520600" cy="34164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You are helping the Ministry of Health evaluate a programme aimed at poor households.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The goal is to reduce what low-income rural households spend on health.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A pilot ran in several communities. You must assess whether it actually reduced spending.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You have data from before the programme (round = 0) and one year after (round = 1),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37474F"/>
                </a:solidFill>
              </a:rPr>
              <a:t>in a treatment community (treatcom = 1) and a control community (treatcom = 0).</a:t>
            </a:r>
          </a:p>
        </p:txBody>
      </p:sp>
      <p:sp>
        <p:nvSpPr>
          <p:cNvPr id="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T H E   T U T O R I A L   S C E N A R I 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969264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550 rows. One row per household per round.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389888"/>
          <a:ext cx="8522208" cy="2834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967728"/>
              </a:tblGrid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hhid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Unique household ID, constant across rounds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round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0 = baseline, 1 = one year after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local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Community identifier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hhe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Household health expenditure — the outcome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treatcom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1 = treatment community, 0 = control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agehh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Age of the household head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educhh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Years of education of the household head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hhsize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Household size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pscore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Household poverty index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769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>
                          <a:solidFill>
                            <a:srgbClr val="1C272B"/>
                          </a:solidFill>
                          <a:latin typeface="Courier New"/>
                        </a:rPr>
                        <a:t>takeup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</a:rPr>
                        <a:t>1 = household participated in the programme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T H E   T U T O R I A L   S C E N A R I O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One row is a household-round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969264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Each household appears twice. This decides several answers later.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" y="1371600"/>
            <a:ext cx="8522208" cy="403796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head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6A4C9C"/>
                </a:solidFill>
                <a:latin typeface="Courier New"/>
              </a:rPr>
              <a:t>4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426464"/>
            <a:ext cx="45720" cy="29406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ZCHIP"/>
          <p:cNvSpPr txBox="1"/>
          <p:nvPr/>
        </p:nvSpPr>
        <p:spPr>
          <a:xfrm>
            <a:off x="8119872" y="1435608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" y="1866836"/>
            <a:ext cx="8522208" cy="1250886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  hhid round local   hhe treatcom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1 15681     1    34 82.19        1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2 15681     0    34 85.89        1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3 15680     1    34 40.38        1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4 15680     0    34 40.69        1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921700"/>
            <a:ext cx="45720" cy="114115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CHIP"/>
          <p:cNvSpPr txBox="1"/>
          <p:nvPr/>
        </p:nvSpPr>
        <p:spPr>
          <a:xfrm>
            <a:off x="8119872" y="1930843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3547872"/>
            <a:ext cx="8522208" cy="853440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FF5722"/>
                </a:solidFill>
              </a:rPr>
              <a:t>Read this twice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Rows 1 and 2 are the same household in two different years. So nrow(df) and the number of households are different numbers — and which you want depends on the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3547872"/>
            <a:ext cx="50292" cy="85344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T H E   T U T O R I A L   S C E N A R I 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Question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Summary statistics, and counting what the question actually asks for.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3   O F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Question 1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44780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1. Make a table reporting the mean, standard deviation, minimum and maximum of household health expenditure, household head education and age, household size, and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41122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42620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Six counts, then a table of statistics.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0896" y="1737360"/>
          <a:ext cx="8522208" cy="2148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2852928"/>
              </a:tblGrid>
              <a:tr h="30697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Part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What it asks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Function you need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0697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(a)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many observations are in the dataset?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nrow()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(b)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many households are in the dataset?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length(unique())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0697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(c)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many localities are in the dataset?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length(unique())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(d)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many localities in treatment? In control?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table()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0697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many households in the treatment locality?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length(unique())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(f)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many households in the control locality?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length(unique())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Q1(a)  How many observations?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44780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1. Make a table reporting the mean, standard deviation, minimum and maximum of household health expenditure, household head education and age, household size, and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41122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42620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An observation is a row. nrow() counts rows.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Click into the next empty code cell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Type  nrow(df)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Press Ctrl + Enter (Cmd + Enter on a Mac) to run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00784"/>
            <a:ext cx="4169663" cy="413004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007986"/>
                </a:solidFill>
                <a:latin typeface="Courier New"/>
              </a:rPr>
              <a:t>nrow</a:t>
            </a:r>
            <a:r>
              <a:rPr sz="1200">
                <a:solidFill>
                  <a:srgbClr val="1C272B"/>
                </a:solidFill>
                <a:latin typeface="Courier New"/>
              </a:rPr>
              <a:t>(</a:t>
            </a:r>
            <a:r>
              <a:rPr sz="1200" b="1">
                <a:solidFill>
                  <a:srgbClr val="007986"/>
                </a:solidFill>
                <a:latin typeface="Courier New"/>
              </a:rPr>
              <a:t>d</a:t>
            </a:r>
            <a:r>
              <a:rPr sz="1200" b="1">
                <a:solidFill>
                  <a:srgbClr val="007986"/>
                </a:solidFill>
                <a:latin typeface="Courier New"/>
              </a:rPr>
              <a:t>f</a:t>
            </a:r>
            <a:r>
              <a:rPr sz="12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55648"/>
            <a:ext cx="45720" cy="30327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205228"/>
            <a:ext cx="4169663" cy="413004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200">
                <a:solidFill>
                  <a:srgbClr val="1C272B"/>
                </a:solidFill>
                <a:latin typeface="Courier New"/>
              </a:rPr>
              <a:t>[1] 550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260092"/>
            <a:ext cx="45720" cy="30327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2269236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3127248"/>
            <a:ext cx="8522208" cy="85344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455A64"/>
                </a:solidFill>
              </a:rPr>
              <a:t>Why not 551?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 file has 551 lines, but read.csv() turns the first one into column names rather than data — so nrow() reports 550.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3127248"/>
            <a:ext cx="50292" cy="85344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" y="3968496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71016" y="3968496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550 observations.</a:t>
            </a:r>
          </a:p>
        </p:txBody>
      </p:sp>
      <p:sp>
        <p:nvSpPr>
          <p:cNvPr id="22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Q1(b)  How many households?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44780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1. Make a table reporting the mean, standard deviation, minimum and maximum of household health expenditure, household head education and age, household size, and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41122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42620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Not the same as rows: each household appears twice.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In a new cell, type  length(unique(df$hhid))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Run it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unique() drops repeats; length() counts what is 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01265"/>
            <a:ext cx="3968496" cy="21755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050" b="0" i="1">
                <a:solidFill>
                  <a:srgbClr val="37474F"/>
                </a:solidFill>
              </a:rPr>
              <a:t>550 rows ÷ 2 rounds = 275 households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700784"/>
            <a:ext cx="4169663" cy="403796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length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unique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$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755648"/>
            <a:ext cx="45720" cy="29406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196020"/>
            <a:ext cx="4169663" cy="403796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[1] 275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250884"/>
            <a:ext cx="45720" cy="29406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ZCHIP"/>
          <p:cNvSpPr txBox="1"/>
          <p:nvPr/>
        </p:nvSpPr>
        <p:spPr>
          <a:xfrm>
            <a:off x="8119872" y="2260028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3785615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71016" y="3785615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275 households, each observed twice.</a:t>
            </a:r>
          </a:p>
        </p:txBody>
      </p:sp>
      <p:sp>
        <p:nvSpPr>
          <p:cNvPr id="21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Q1(c)  How many localities?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44780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1. Make a table reporting the mean, standard deviation, minimum and maximum of household health expenditure, household head education and age, household size, and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41122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42620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The same pattern, applied to a different column.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Type  length(unique(df$local))  and run it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Then type  unique(df$local)  and run that too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968496" cy="44221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The second line shows you the actual values, not just how many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00784"/>
            <a:ext cx="4169663" cy="615569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length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unique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$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unique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$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55648"/>
            <a:ext cx="45720" cy="505841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407793"/>
            <a:ext cx="4169663" cy="615569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[1] 2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[1] 34 99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462657"/>
            <a:ext cx="45720" cy="505841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2471801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3749039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1016" y="3749039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2 localities: 34 and 99.</a:t>
            </a:r>
          </a:p>
        </p:txBody>
      </p:sp>
      <p:sp>
        <p:nvSpPr>
          <p:cNvPr id="20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Q1(d)  Which locality is treatment?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44780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1. Make a table reporting the mean, standard deviation, minimum and maximum of household health expenditure, household head education and age, household size, and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41122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42620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table() on two columns shows how they line up.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785615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Type  table(df$local, df$treatcom)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785615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Run it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785615" cy="44221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Read the grid: rows are localities, columns are treatment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700784"/>
            <a:ext cx="4261104" cy="394588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table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f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</a:t>
            </a:r>
            <a:r>
              <a:rPr sz="1100" b="1">
                <a:solidFill>
                  <a:srgbClr val="007986"/>
                </a:solidFill>
                <a:latin typeface="Courier New"/>
              </a:rPr>
              <a:t>o</a:t>
            </a:r>
            <a:r>
              <a:rPr sz="1100" b="1">
                <a:solidFill>
                  <a:srgbClr val="007986"/>
                </a:solidFill>
                <a:latin typeface="Courier New"/>
              </a:rPr>
              <a:t>c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</a:t>
            </a:r>
            <a:r>
              <a:rPr sz="1100">
                <a:solidFill>
                  <a:srgbClr val="1C272B"/>
                </a:solidFill>
                <a:latin typeface="Courier New"/>
              </a:rPr>
              <a:t>,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f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c</a:t>
            </a:r>
            <a:r>
              <a:rPr sz="1100" b="1">
                <a:solidFill>
                  <a:srgbClr val="007986"/>
                </a:solidFill>
                <a:latin typeface="Courier New"/>
              </a:rPr>
              <a:t>o</a:t>
            </a:r>
            <a:r>
              <a:rPr sz="1100" b="1">
                <a:solidFill>
                  <a:srgbClr val="007986"/>
                </a:solidFill>
                <a:latin typeface="Courier New"/>
              </a:rPr>
              <a:t>m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55648"/>
            <a:ext cx="45720" cy="28486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186812"/>
            <a:ext cx="4261104" cy="901001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550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       0   1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  34   0 262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  99 288   0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41676"/>
            <a:ext cx="45720" cy="791273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2250820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3529584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1016" y="3529584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One locality in treatment (local = 34) and one in control (local = 99).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3931920"/>
            <a:ext cx="8522208" cy="632968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FF5722"/>
                </a:solidFill>
              </a:rPr>
              <a:t>Worth remembering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Off-diagonal cells are zero: locality and treatment are the same split.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3931920"/>
            <a:ext cx="50292" cy="63296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Q1(e)–(f)  Households per locality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44780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1. Make a table reporting the mean, standard deviation, minimum and maximum of household health expenditure, household head education and age, household size, and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41122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42620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The question says households, so count distinct IDs, not rows.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Type the first line and run it — that is the treatment locality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Change the 1 to a 0 and run again for the control locality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The square brackets are a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01265"/>
            <a:ext cx="7900416" cy="21755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050" b="0" i="1">
                <a:solidFill>
                  <a:srgbClr val="37474F"/>
                </a:solidFill>
              </a:rPr>
              <a:t>df$hhid[df$treatcom == 1] means the hhid values where treatcom is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" y="2798064"/>
            <a:ext cx="8522208" cy="597154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length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unique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f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i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>
                <a:solidFill>
                  <a:srgbClr val="1C272B"/>
                </a:solidFill>
                <a:latin typeface="Courier New"/>
              </a:rPr>
              <a:t>[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f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c</a:t>
            </a:r>
            <a:r>
              <a:rPr sz="1100" b="1">
                <a:solidFill>
                  <a:srgbClr val="007986"/>
                </a:solidFill>
                <a:latin typeface="Courier New"/>
              </a:rPr>
              <a:t>o</a:t>
            </a:r>
            <a:r>
              <a:rPr sz="1100" b="1">
                <a:solidFill>
                  <a:srgbClr val="007986"/>
                </a:solidFill>
                <a:latin typeface="Courier New"/>
              </a:rPr>
              <a:t>m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]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length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unique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f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i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>
                <a:solidFill>
                  <a:srgbClr val="1C272B"/>
                </a:solidFill>
                <a:latin typeface="Courier New"/>
              </a:rPr>
              <a:t>[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f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c</a:t>
            </a:r>
            <a:r>
              <a:rPr sz="1100" b="1">
                <a:solidFill>
                  <a:srgbClr val="007986"/>
                </a:solidFill>
                <a:latin typeface="Courier New"/>
              </a:rPr>
              <a:t>o</a:t>
            </a:r>
            <a:r>
              <a:rPr sz="1100" b="1">
                <a:solidFill>
                  <a:srgbClr val="007986"/>
                </a:solidFill>
                <a:latin typeface="Courier New"/>
              </a:rPr>
              <a:t>m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6A4C9C"/>
                </a:solidFill>
                <a:latin typeface="Courier New"/>
              </a:rPr>
              <a:t>0</a:t>
            </a:r>
            <a:r>
              <a:rPr sz="1100">
                <a:solidFill>
                  <a:srgbClr val="1C272B"/>
                </a:solidFill>
                <a:latin typeface="Courier New"/>
              </a:rPr>
              <a:t>]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2852928"/>
            <a:ext cx="45720" cy="487425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ZCHIP"/>
          <p:cNvSpPr txBox="1"/>
          <p:nvPr/>
        </p:nvSpPr>
        <p:spPr>
          <a:xfrm>
            <a:off x="8119872" y="286207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" y="3486658"/>
            <a:ext cx="8522208" cy="597154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[1] 131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[1] 144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3541522"/>
            <a:ext cx="45720" cy="487425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ZCHIP"/>
          <p:cNvSpPr txBox="1"/>
          <p:nvPr/>
        </p:nvSpPr>
        <p:spPr>
          <a:xfrm>
            <a:off x="8119872" y="3550666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4096512"/>
            <a:ext cx="960120" cy="40233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71016" y="4096512"/>
            <a:ext cx="7562088" cy="402336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131 in treatment, 144 in control. nrow() would give 262 — observations.</a:t>
            </a:r>
          </a:p>
        </p:txBody>
      </p:sp>
      <p:sp>
        <p:nvSpPr>
          <p:cNvPr id="21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Q1  Building the summary table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44780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1. Make a table reporting the mean, standard deviation, minimum and maximum of household health expenditure, household head education and age, household size, and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41122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42620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Five variables and four statistics — twenty numbers, from one call.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Make a vector naming the five columns you want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Hand it to sapply(), which applies the same function to each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Wrap it in round(t(...), 2) to turn it upright and tidy the decimals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" y="2798064"/>
            <a:ext cx="8522208" cy="11450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v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&lt;</a:t>
            </a:r>
            <a:r>
              <a:rPr sz="1150">
                <a:solidFill>
                  <a:srgbClr val="1C272B"/>
                </a:solidFill>
                <a:latin typeface="Courier New"/>
              </a:rPr>
              <a:t>-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>
                <a:solidFill>
                  <a:srgbClr val="B03A14"/>
                </a:solidFill>
                <a:latin typeface="Courier New"/>
              </a:rPr>
              <a:t>"hhe"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B03A14"/>
                </a:solidFill>
                <a:latin typeface="Courier New"/>
              </a:rPr>
              <a:t>"educhh"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B03A14"/>
                </a:solidFill>
                <a:latin typeface="Courier New"/>
              </a:rPr>
              <a:t>"agehh"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B03A14"/>
                </a:solidFill>
                <a:latin typeface="Courier New"/>
              </a:rPr>
              <a:t>"hhsize"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B03A14"/>
                </a:solidFill>
                <a:latin typeface="Courier New"/>
              </a:rPr>
              <a:t>"pscore"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575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b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&lt;</a:t>
            </a:r>
            <a:r>
              <a:rPr sz="1150">
                <a:solidFill>
                  <a:srgbClr val="1C272B"/>
                </a:solidFill>
                <a:latin typeface="Courier New"/>
              </a:rPr>
              <a:t>-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sapply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[</a:t>
            </a:r>
            <a:r>
              <a:rPr sz="1150" b="1">
                <a:solidFill>
                  <a:srgbClr val="007986"/>
                </a:solidFill>
                <a:latin typeface="Courier New"/>
              </a:rPr>
              <a:t>v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>
                <a:solidFill>
                  <a:srgbClr val="1C272B"/>
                </a:solidFill>
                <a:latin typeface="Courier New"/>
              </a:rPr>
              <a:t>]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function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x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x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sd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x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min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x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x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max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x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round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b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6A4C9C"/>
                </a:solidFill>
                <a:latin typeface="Courier New"/>
              </a:rPr>
              <a:t>2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852928"/>
            <a:ext cx="45720" cy="1035272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286207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4187952"/>
            <a:ext cx="8522208" cy="38506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sd() is the sample standard deviation — it divides by n − 1, which is what you want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4187952"/>
            <a:ext cx="50292" cy="38506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Your Turn!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3017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Add "takeup" to vars and re-run. You did not have to write a single new line per statistic — that is the point of doing it this way.</a:t>
            </a:r>
          </a:p>
        </p:txBody>
      </p:sp>
      <p:sp>
        <p:nvSpPr>
          <p:cNvPr id="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H A N D S  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Q1  Results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44780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1. Make a table reporting the mean, standard deviation, minimum and maximum of household health expenditure, household head education and age, household size, and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41122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42620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Did anyone get something different?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682496"/>
            <a:ext cx="8522208" cy="394588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round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s</a:t>
            </a:r>
            <a:r>
              <a:rPr sz="1100" b="1">
                <a:solidFill>
                  <a:srgbClr val="007986"/>
                </a:solidFill>
                <a:latin typeface="Courier New"/>
              </a:rPr>
              <a:t>u</a:t>
            </a:r>
            <a:r>
              <a:rPr sz="1100" b="1">
                <a:solidFill>
                  <a:srgbClr val="007986"/>
                </a:solidFill>
                <a:latin typeface="Courier New"/>
              </a:rPr>
              <a:t>m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b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  <a:r>
              <a:rPr sz="1100">
                <a:solidFill>
                  <a:srgbClr val="1C272B"/>
                </a:solidFill>
                <a:latin typeface="Courier New"/>
              </a:rPr>
              <a:t>,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6A4C9C"/>
                </a:solidFill>
                <a:latin typeface="Courier New"/>
              </a:rPr>
              <a:t>2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737360"/>
            <a:ext cx="45720" cy="28486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CHIP"/>
          <p:cNvSpPr txBox="1"/>
          <p:nvPr/>
        </p:nvSpPr>
        <p:spPr>
          <a:xfrm>
            <a:off x="8119872" y="1746504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2168524"/>
            <a:ext cx="8522208" cy="1407414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         Mean     SD    Min     Max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hhe     70.06  30.75  14.67  255.02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educhh   3.20   2.55   0.00   14.00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agehh   46.04  15.67  21.00   87.00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hhsize   5.44   2.27   1.00   12.00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pscore 772.33 134.54 452.00 1167.00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2223388"/>
            <a:ext cx="45720" cy="1297685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ZCHIP"/>
          <p:cNvSpPr txBox="1"/>
          <p:nvPr/>
        </p:nvSpPr>
        <p:spPr>
          <a:xfrm>
            <a:off x="8119872" y="223253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3986784"/>
            <a:ext cx="8522208" cy="38506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These pool both rounds, so 46.04 is an average over household-years.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986784"/>
            <a:ext cx="50292" cy="38506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H A N D S   O 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Question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Building a new variable from a rule, then counting with it.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4   O F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Question 2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2. Create a new variable called eligible, equal to one if the household has a poverty index of 750 or below.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50" b="0" i="0">
                <a:solidFill>
                  <a:srgbClr val="212121"/>
                </a:solidFill>
              </a:rPr>
              <a:t>Four parts, all about the treatment locality.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0896" y="1737360"/>
          <a:ext cx="852220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790688"/>
              </a:tblGrid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Part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What it asks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(a)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many households in the treatment locality are eligible?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(b)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What fraction of treatment households are eligible?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(c)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many eligible households took up the programme?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(d)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What fraction of eligible households took it up?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0896" y="3456432"/>
            <a:ext cx="8522208" cy="632968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FF5722"/>
                </a:solidFill>
              </a:rPr>
              <a:t>Note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There is no eligible column in the data. You build it yourself from the poverty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3456432"/>
            <a:ext cx="50292" cy="63296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Q2  Creating the eligible variable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2. Create a new variable called eligible, equal to one if the household has a poverty index of 750 or below.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ifelse() reads as a sentence: if the test is true, then 1, otherwise 0.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In a new cell, write the ifelse() line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Run it — nothing prints, because you stored the result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Run table(df$eligible) to check it worked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00784"/>
            <a:ext cx="4169663" cy="836549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000" b="1">
                <a:solidFill>
                  <a:srgbClr val="007986"/>
                </a:solidFill>
                <a:latin typeface="Courier New"/>
              </a:rPr>
              <a:t>d</a:t>
            </a:r>
            <a:r>
              <a:rPr sz="1000" b="1">
                <a:solidFill>
                  <a:srgbClr val="007986"/>
                </a:solidFill>
                <a:latin typeface="Courier New"/>
              </a:rPr>
              <a:t>f</a:t>
            </a:r>
            <a:r>
              <a:rPr sz="1000">
                <a:solidFill>
                  <a:srgbClr val="1C272B"/>
                </a:solidFill>
                <a:latin typeface="Courier New"/>
              </a:rPr>
              <a:t>$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 b="1">
                <a:solidFill>
                  <a:srgbClr val="007986"/>
                </a:solidFill>
                <a:latin typeface="Courier New"/>
              </a:rPr>
              <a:t>l</a:t>
            </a:r>
            <a:r>
              <a:rPr sz="1000" b="1">
                <a:solidFill>
                  <a:srgbClr val="007986"/>
                </a:solidFill>
                <a:latin typeface="Courier New"/>
              </a:rPr>
              <a:t>i</a:t>
            </a:r>
            <a:r>
              <a:rPr sz="1000" b="1">
                <a:solidFill>
                  <a:srgbClr val="007986"/>
                </a:solidFill>
                <a:latin typeface="Courier New"/>
              </a:rPr>
              <a:t>g</a:t>
            </a:r>
            <a:r>
              <a:rPr sz="1000" b="1">
                <a:solidFill>
                  <a:srgbClr val="007986"/>
                </a:solidFill>
                <a:latin typeface="Courier New"/>
              </a:rPr>
              <a:t>i</a:t>
            </a:r>
            <a:r>
              <a:rPr sz="1000" b="1">
                <a:solidFill>
                  <a:srgbClr val="007986"/>
                </a:solidFill>
                <a:latin typeface="Courier New"/>
              </a:rPr>
              <a:t>b</a:t>
            </a:r>
            <a:r>
              <a:rPr sz="1000" b="1">
                <a:solidFill>
                  <a:srgbClr val="007986"/>
                </a:solidFill>
                <a:latin typeface="Courier New"/>
              </a:rPr>
              <a:t>l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&lt;</a:t>
            </a:r>
            <a:r>
              <a:rPr sz="1000">
                <a:solidFill>
                  <a:srgbClr val="1C272B"/>
                </a:solidFill>
                <a:latin typeface="Courier New"/>
              </a:rPr>
              <a:t>-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 b="1">
                <a:solidFill>
                  <a:srgbClr val="007986"/>
                </a:solidFill>
                <a:latin typeface="Courier New"/>
              </a:rPr>
              <a:t>ifelse</a:t>
            </a:r>
            <a:r>
              <a:rPr sz="1000">
                <a:solidFill>
                  <a:srgbClr val="1C272B"/>
                </a:solidFill>
                <a:latin typeface="Courier New"/>
              </a:rPr>
              <a:t>(</a:t>
            </a:r>
          </a:p>
          <a:p>
            <a:pPr algn="l">
              <a:spcAft>
                <a:spcPts val="0"/>
              </a:spcAft>
              <a:buNone/>
            </a:pP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 b="1">
                <a:solidFill>
                  <a:srgbClr val="007986"/>
                </a:solidFill>
                <a:latin typeface="Courier New"/>
              </a:rPr>
              <a:t>d</a:t>
            </a:r>
            <a:r>
              <a:rPr sz="1000" b="1">
                <a:solidFill>
                  <a:srgbClr val="007986"/>
                </a:solidFill>
                <a:latin typeface="Courier New"/>
              </a:rPr>
              <a:t>f</a:t>
            </a:r>
            <a:r>
              <a:rPr sz="1000">
                <a:solidFill>
                  <a:srgbClr val="1C272B"/>
                </a:solidFill>
                <a:latin typeface="Courier New"/>
              </a:rPr>
              <a:t>$</a:t>
            </a:r>
            <a:r>
              <a:rPr sz="1000" b="1">
                <a:solidFill>
                  <a:srgbClr val="007986"/>
                </a:solidFill>
                <a:latin typeface="Courier New"/>
              </a:rPr>
              <a:t>p</a:t>
            </a:r>
            <a:r>
              <a:rPr sz="1000" b="1">
                <a:solidFill>
                  <a:srgbClr val="007986"/>
                </a:solidFill>
                <a:latin typeface="Courier New"/>
              </a:rPr>
              <a:t>s</a:t>
            </a:r>
            <a:r>
              <a:rPr sz="1000" b="1">
                <a:solidFill>
                  <a:srgbClr val="007986"/>
                </a:solidFill>
                <a:latin typeface="Courier New"/>
              </a:rPr>
              <a:t>c</a:t>
            </a:r>
            <a:r>
              <a:rPr sz="1000" b="1">
                <a:solidFill>
                  <a:srgbClr val="007986"/>
                </a:solidFill>
                <a:latin typeface="Courier New"/>
              </a:rPr>
              <a:t>o</a:t>
            </a:r>
            <a:r>
              <a:rPr sz="1000" b="1">
                <a:solidFill>
                  <a:srgbClr val="007986"/>
                </a:solidFill>
                <a:latin typeface="Courier New"/>
              </a:rPr>
              <a:t>r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&lt;</a:t>
            </a:r>
            <a:r>
              <a:rPr sz="1000">
                <a:solidFill>
                  <a:srgbClr val="1C272B"/>
                </a:solidFill>
                <a:latin typeface="Courier New"/>
              </a:rPr>
              <a:t>=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6A4C9C"/>
                </a:solidFill>
                <a:latin typeface="Courier New"/>
              </a:rPr>
              <a:t>750</a:t>
            </a:r>
            <a:r>
              <a:rPr sz="1000">
                <a:solidFill>
                  <a:srgbClr val="1C272B"/>
                </a:solidFill>
                <a:latin typeface="Courier New"/>
              </a:rPr>
              <a:t>,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6A4C9C"/>
                </a:solidFill>
                <a:latin typeface="Courier New"/>
              </a:rPr>
              <a:t>1</a:t>
            </a:r>
            <a:r>
              <a:rPr sz="1000">
                <a:solidFill>
                  <a:srgbClr val="1C272B"/>
                </a:solidFill>
                <a:latin typeface="Courier New"/>
              </a:rPr>
              <a:t>,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6A4C9C"/>
                </a:solidFill>
                <a:latin typeface="Courier New"/>
              </a:rPr>
              <a:t>0</a:t>
            </a:r>
            <a:r>
              <a:rPr sz="100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500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000" b="1">
                <a:solidFill>
                  <a:srgbClr val="007986"/>
                </a:solidFill>
                <a:latin typeface="Courier New"/>
              </a:rPr>
              <a:t>table</a:t>
            </a:r>
            <a:r>
              <a:rPr sz="1000">
                <a:solidFill>
                  <a:srgbClr val="1C272B"/>
                </a:solidFill>
                <a:latin typeface="Courier New"/>
              </a:rPr>
              <a:t>(</a:t>
            </a:r>
            <a:r>
              <a:rPr sz="1000" b="1">
                <a:solidFill>
                  <a:srgbClr val="007986"/>
                </a:solidFill>
                <a:latin typeface="Courier New"/>
              </a:rPr>
              <a:t>d</a:t>
            </a:r>
            <a:r>
              <a:rPr sz="1000" b="1">
                <a:solidFill>
                  <a:srgbClr val="007986"/>
                </a:solidFill>
                <a:latin typeface="Courier New"/>
              </a:rPr>
              <a:t>f</a:t>
            </a:r>
            <a:r>
              <a:rPr sz="1000">
                <a:solidFill>
                  <a:srgbClr val="1C272B"/>
                </a:solidFill>
                <a:latin typeface="Courier New"/>
              </a:rPr>
              <a:t>$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 b="1">
                <a:solidFill>
                  <a:srgbClr val="007986"/>
                </a:solidFill>
                <a:latin typeface="Courier New"/>
              </a:rPr>
              <a:t>l</a:t>
            </a:r>
            <a:r>
              <a:rPr sz="1000" b="1">
                <a:solidFill>
                  <a:srgbClr val="007986"/>
                </a:solidFill>
                <a:latin typeface="Courier New"/>
              </a:rPr>
              <a:t>i</a:t>
            </a:r>
            <a:r>
              <a:rPr sz="1000" b="1">
                <a:solidFill>
                  <a:srgbClr val="007986"/>
                </a:solidFill>
                <a:latin typeface="Courier New"/>
              </a:rPr>
              <a:t>g</a:t>
            </a:r>
            <a:r>
              <a:rPr sz="1000" b="1">
                <a:solidFill>
                  <a:srgbClr val="007986"/>
                </a:solidFill>
                <a:latin typeface="Courier New"/>
              </a:rPr>
              <a:t>i</a:t>
            </a:r>
            <a:r>
              <a:rPr sz="1000" b="1">
                <a:solidFill>
                  <a:srgbClr val="007986"/>
                </a:solidFill>
                <a:latin typeface="Courier New"/>
              </a:rPr>
              <a:t>b</a:t>
            </a:r>
            <a:r>
              <a:rPr sz="1000" b="1">
                <a:solidFill>
                  <a:srgbClr val="007986"/>
                </a:solidFill>
                <a:latin typeface="Courier New"/>
              </a:rPr>
              <a:t>l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55648"/>
            <a:ext cx="45720" cy="726821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628773"/>
            <a:ext cx="4169663" cy="652399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500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000">
                <a:solidFill>
                  <a:srgbClr val="1C272B"/>
                </a:solidFill>
                <a:latin typeface="Courier New"/>
              </a:rPr>
              <a:t>  0   1</a:t>
            </a:r>
          </a:p>
          <a:p>
            <a:pPr algn="l">
              <a:spcAft>
                <a:spcPts val="0"/>
              </a:spcAft>
              <a:buNone/>
            </a:pPr>
            <a:r>
              <a:rPr sz="1000">
                <a:solidFill>
                  <a:srgbClr val="1C272B"/>
                </a:solidFill>
                <a:latin typeface="Courier New"/>
              </a:rPr>
              <a:t>284 266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683637"/>
            <a:ext cx="45720" cy="542671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2692781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3456432"/>
            <a:ext cx="8522208" cy="605536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 arrow creates the column if it does not exist. One line covers all 550 rows — you never repeat the rule per row.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3456432"/>
            <a:ext cx="50292" cy="60553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Q2(a)  Eligible households in treatment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2. Create a new variable called eligible, equal to one if the household has a poverty index of 750 or below.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Restrict to one round first, so you count households rather than rows.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Build the subset: baseline rows, treatment locality only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Check it with nrow() — you should see 131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Then sum the eligible column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00784"/>
            <a:ext cx="4169663" cy="928624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000" b="1">
                <a:solidFill>
                  <a:srgbClr val="007986"/>
                </a:solidFill>
                <a:latin typeface="Courier New"/>
              </a:rPr>
              <a:t>h</a:t>
            </a:r>
            <a:r>
              <a:rPr sz="1000" b="1">
                <a:solidFill>
                  <a:srgbClr val="007986"/>
                </a:solidFill>
                <a:latin typeface="Courier New"/>
              </a:rPr>
              <a:t>h</a:t>
            </a:r>
            <a:r>
              <a:rPr sz="1000">
                <a:solidFill>
                  <a:srgbClr val="1C272B"/>
                </a:solidFill>
                <a:latin typeface="Courier New"/>
              </a:rPr>
              <a:t>_</a:t>
            </a:r>
            <a:r>
              <a:rPr sz="1000" b="1">
                <a:solidFill>
                  <a:srgbClr val="007986"/>
                </a:solidFill>
                <a:latin typeface="Courier New"/>
              </a:rPr>
              <a:t>t</a:t>
            </a:r>
            <a:r>
              <a:rPr sz="1000" b="1">
                <a:solidFill>
                  <a:srgbClr val="007986"/>
                </a:solidFill>
                <a:latin typeface="Courier New"/>
              </a:rPr>
              <a:t>r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 b="1">
                <a:solidFill>
                  <a:srgbClr val="007986"/>
                </a:solidFill>
                <a:latin typeface="Courier New"/>
              </a:rPr>
              <a:t>a</a:t>
            </a:r>
            <a:r>
              <a:rPr sz="1000" b="1">
                <a:solidFill>
                  <a:srgbClr val="007986"/>
                </a:solidFill>
                <a:latin typeface="Courier New"/>
              </a:rPr>
              <a:t>t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&lt;</a:t>
            </a:r>
            <a:r>
              <a:rPr sz="1000">
                <a:solidFill>
                  <a:srgbClr val="1C272B"/>
                </a:solidFill>
                <a:latin typeface="Courier New"/>
              </a:rPr>
              <a:t>-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 b="1">
                <a:solidFill>
                  <a:srgbClr val="007986"/>
                </a:solidFill>
                <a:latin typeface="Courier New"/>
              </a:rPr>
              <a:t>d</a:t>
            </a:r>
            <a:r>
              <a:rPr sz="1000" b="1">
                <a:solidFill>
                  <a:srgbClr val="007986"/>
                </a:solidFill>
                <a:latin typeface="Courier New"/>
              </a:rPr>
              <a:t>f</a:t>
            </a:r>
            <a:r>
              <a:rPr sz="1000">
                <a:solidFill>
                  <a:srgbClr val="1C272B"/>
                </a:solidFill>
                <a:latin typeface="Courier New"/>
              </a:rPr>
              <a:t>[</a:t>
            </a:r>
            <a:r>
              <a:rPr sz="1000" b="1">
                <a:solidFill>
                  <a:srgbClr val="007986"/>
                </a:solidFill>
                <a:latin typeface="Courier New"/>
              </a:rPr>
              <a:t>d</a:t>
            </a:r>
            <a:r>
              <a:rPr sz="1000" b="1">
                <a:solidFill>
                  <a:srgbClr val="007986"/>
                </a:solidFill>
                <a:latin typeface="Courier New"/>
              </a:rPr>
              <a:t>f</a:t>
            </a:r>
            <a:r>
              <a:rPr sz="1000">
                <a:solidFill>
                  <a:srgbClr val="1C272B"/>
                </a:solidFill>
                <a:latin typeface="Courier New"/>
              </a:rPr>
              <a:t>$</a:t>
            </a:r>
            <a:r>
              <a:rPr sz="1000" b="1">
                <a:solidFill>
                  <a:srgbClr val="007986"/>
                </a:solidFill>
                <a:latin typeface="Courier New"/>
              </a:rPr>
              <a:t>r</a:t>
            </a:r>
            <a:r>
              <a:rPr sz="1000" b="1">
                <a:solidFill>
                  <a:srgbClr val="007986"/>
                </a:solidFill>
                <a:latin typeface="Courier New"/>
              </a:rPr>
              <a:t>o</a:t>
            </a:r>
            <a:r>
              <a:rPr sz="1000" b="1">
                <a:solidFill>
                  <a:srgbClr val="007986"/>
                </a:solidFill>
                <a:latin typeface="Courier New"/>
              </a:rPr>
              <a:t>u</a:t>
            </a:r>
            <a:r>
              <a:rPr sz="1000" b="1">
                <a:solidFill>
                  <a:srgbClr val="007986"/>
                </a:solidFill>
                <a:latin typeface="Courier New"/>
              </a:rPr>
              <a:t>n</a:t>
            </a:r>
            <a:r>
              <a:rPr sz="1000" b="1">
                <a:solidFill>
                  <a:srgbClr val="007986"/>
                </a:solidFill>
                <a:latin typeface="Courier New"/>
              </a:rPr>
              <a:t>d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=</a:t>
            </a:r>
            <a:r>
              <a:rPr sz="1000">
                <a:solidFill>
                  <a:srgbClr val="1C272B"/>
                </a:solidFill>
                <a:latin typeface="Courier New"/>
              </a:rPr>
              <a:t>=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6A4C9C"/>
                </a:solidFill>
                <a:latin typeface="Courier New"/>
              </a:rPr>
              <a:t>0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&amp;</a:t>
            </a:r>
          </a:p>
          <a:p>
            <a:pPr algn="l">
              <a:spcAft>
                <a:spcPts val="0"/>
              </a:spcAft>
              <a:buNone/>
            </a:pP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 b="1">
                <a:solidFill>
                  <a:srgbClr val="007986"/>
                </a:solidFill>
                <a:latin typeface="Courier New"/>
              </a:rPr>
              <a:t>d</a:t>
            </a:r>
            <a:r>
              <a:rPr sz="1000" b="1">
                <a:solidFill>
                  <a:srgbClr val="007986"/>
                </a:solidFill>
                <a:latin typeface="Courier New"/>
              </a:rPr>
              <a:t>f</a:t>
            </a:r>
            <a:r>
              <a:rPr sz="1000">
                <a:solidFill>
                  <a:srgbClr val="1C272B"/>
                </a:solidFill>
                <a:latin typeface="Courier New"/>
              </a:rPr>
              <a:t>$</a:t>
            </a:r>
            <a:r>
              <a:rPr sz="1000" b="1">
                <a:solidFill>
                  <a:srgbClr val="007986"/>
                </a:solidFill>
                <a:latin typeface="Courier New"/>
              </a:rPr>
              <a:t>t</a:t>
            </a:r>
            <a:r>
              <a:rPr sz="1000" b="1">
                <a:solidFill>
                  <a:srgbClr val="007986"/>
                </a:solidFill>
                <a:latin typeface="Courier New"/>
              </a:rPr>
              <a:t>r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 b="1">
                <a:solidFill>
                  <a:srgbClr val="007986"/>
                </a:solidFill>
                <a:latin typeface="Courier New"/>
              </a:rPr>
              <a:t>a</a:t>
            </a:r>
            <a:r>
              <a:rPr sz="1000" b="1">
                <a:solidFill>
                  <a:srgbClr val="007986"/>
                </a:solidFill>
                <a:latin typeface="Courier New"/>
              </a:rPr>
              <a:t>t</a:t>
            </a:r>
            <a:r>
              <a:rPr sz="1000" b="1">
                <a:solidFill>
                  <a:srgbClr val="007986"/>
                </a:solidFill>
                <a:latin typeface="Courier New"/>
              </a:rPr>
              <a:t>c</a:t>
            </a:r>
            <a:r>
              <a:rPr sz="1000" b="1">
                <a:solidFill>
                  <a:srgbClr val="007986"/>
                </a:solidFill>
                <a:latin typeface="Courier New"/>
              </a:rPr>
              <a:t>o</a:t>
            </a:r>
            <a:r>
              <a:rPr sz="1000" b="1">
                <a:solidFill>
                  <a:srgbClr val="007986"/>
                </a:solidFill>
                <a:latin typeface="Courier New"/>
              </a:rPr>
              <a:t>m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=</a:t>
            </a:r>
            <a:r>
              <a:rPr sz="1000">
                <a:solidFill>
                  <a:srgbClr val="1C272B"/>
                </a:solidFill>
                <a:latin typeface="Courier New"/>
              </a:rPr>
              <a:t>=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6A4C9C"/>
                </a:solidFill>
                <a:latin typeface="Courier New"/>
              </a:rPr>
              <a:t>1</a:t>
            </a:r>
            <a:r>
              <a:rPr sz="1000">
                <a:solidFill>
                  <a:srgbClr val="1C272B"/>
                </a:solidFill>
                <a:latin typeface="Courier New"/>
              </a:rPr>
              <a:t>,</a:t>
            </a:r>
            <a:r>
              <a:rPr sz="1000">
                <a:solidFill>
                  <a:srgbClr val="1C272B"/>
                </a:solidFill>
                <a:latin typeface="Courier New"/>
              </a:rPr>
              <a:t> </a:t>
            </a:r>
            <a:r>
              <a:rPr sz="1000">
                <a:solidFill>
                  <a:srgbClr val="1C272B"/>
                </a:solidFill>
                <a:latin typeface="Courier New"/>
              </a:rPr>
              <a:t>]</a:t>
            </a:r>
          </a:p>
          <a:p>
            <a:pPr algn="l">
              <a:spcAft>
                <a:spcPts val="0"/>
              </a:spcAft>
              <a:buNone/>
            </a:pPr>
            <a:r>
              <a:rPr sz="1000" b="1">
                <a:solidFill>
                  <a:srgbClr val="007986"/>
                </a:solidFill>
                <a:latin typeface="Courier New"/>
              </a:rPr>
              <a:t>nrow</a:t>
            </a:r>
            <a:r>
              <a:rPr sz="1000">
                <a:solidFill>
                  <a:srgbClr val="1C272B"/>
                </a:solidFill>
                <a:latin typeface="Courier New"/>
              </a:rPr>
              <a:t>(</a:t>
            </a:r>
            <a:r>
              <a:rPr sz="1000" b="1">
                <a:solidFill>
                  <a:srgbClr val="007986"/>
                </a:solidFill>
                <a:latin typeface="Courier New"/>
              </a:rPr>
              <a:t>h</a:t>
            </a:r>
            <a:r>
              <a:rPr sz="1000" b="1">
                <a:solidFill>
                  <a:srgbClr val="007986"/>
                </a:solidFill>
                <a:latin typeface="Courier New"/>
              </a:rPr>
              <a:t>h</a:t>
            </a:r>
            <a:r>
              <a:rPr sz="1000">
                <a:solidFill>
                  <a:srgbClr val="1C272B"/>
                </a:solidFill>
                <a:latin typeface="Courier New"/>
              </a:rPr>
              <a:t>_</a:t>
            </a:r>
            <a:r>
              <a:rPr sz="1000" b="1">
                <a:solidFill>
                  <a:srgbClr val="007986"/>
                </a:solidFill>
                <a:latin typeface="Courier New"/>
              </a:rPr>
              <a:t>t</a:t>
            </a:r>
            <a:r>
              <a:rPr sz="1000" b="1">
                <a:solidFill>
                  <a:srgbClr val="007986"/>
                </a:solidFill>
                <a:latin typeface="Courier New"/>
              </a:rPr>
              <a:t>r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 b="1">
                <a:solidFill>
                  <a:srgbClr val="007986"/>
                </a:solidFill>
                <a:latin typeface="Courier New"/>
              </a:rPr>
              <a:t>a</a:t>
            </a:r>
            <a:r>
              <a:rPr sz="1000" b="1">
                <a:solidFill>
                  <a:srgbClr val="007986"/>
                </a:solidFill>
                <a:latin typeface="Courier New"/>
              </a:rPr>
              <a:t>t</a:t>
            </a:r>
            <a:r>
              <a:rPr sz="100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000" b="1">
                <a:solidFill>
                  <a:srgbClr val="007986"/>
                </a:solidFill>
                <a:latin typeface="Courier New"/>
              </a:rPr>
              <a:t>sum</a:t>
            </a:r>
            <a:r>
              <a:rPr sz="1000">
                <a:solidFill>
                  <a:srgbClr val="1C272B"/>
                </a:solidFill>
                <a:latin typeface="Courier New"/>
              </a:rPr>
              <a:t>(</a:t>
            </a:r>
            <a:r>
              <a:rPr sz="1000" b="1">
                <a:solidFill>
                  <a:srgbClr val="007986"/>
                </a:solidFill>
                <a:latin typeface="Courier New"/>
              </a:rPr>
              <a:t>h</a:t>
            </a:r>
            <a:r>
              <a:rPr sz="1000" b="1">
                <a:solidFill>
                  <a:srgbClr val="007986"/>
                </a:solidFill>
                <a:latin typeface="Courier New"/>
              </a:rPr>
              <a:t>h</a:t>
            </a:r>
            <a:r>
              <a:rPr sz="1000">
                <a:solidFill>
                  <a:srgbClr val="1C272B"/>
                </a:solidFill>
                <a:latin typeface="Courier New"/>
              </a:rPr>
              <a:t>_</a:t>
            </a:r>
            <a:r>
              <a:rPr sz="1000" b="1">
                <a:solidFill>
                  <a:srgbClr val="007986"/>
                </a:solidFill>
                <a:latin typeface="Courier New"/>
              </a:rPr>
              <a:t>t</a:t>
            </a:r>
            <a:r>
              <a:rPr sz="1000" b="1">
                <a:solidFill>
                  <a:srgbClr val="007986"/>
                </a:solidFill>
                <a:latin typeface="Courier New"/>
              </a:rPr>
              <a:t>r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 b="1">
                <a:solidFill>
                  <a:srgbClr val="007986"/>
                </a:solidFill>
                <a:latin typeface="Courier New"/>
              </a:rPr>
              <a:t>a</a:t>
            </a:r>
            <a:r>
              <a:rPr sz="1000" b="1">
                <a:solidFill>
                  <a:srgbClr val="007986"/>
                </a:solidFill>
                <a:latin typeface="Courier New"/>
              </a:rPr>
              <a:t>t</a:t>
            </a:r>
            <a:r>
              <a:rPr sz="1000">
                <a:solidFill>
                  <a:srgbClr val="1C272B"/>
                </a:solidFill>
                <a:latin typeface="Courier New"/>
              </a:rPr>
              <a:t>$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 b="1">
                <a:solidFill>
                  <a:srgbClr val="007986"/>
                </a:solidFill>
                <a:latin typeface="Courier New"/>
              </a:rPr>
              <a:t>l</a:t>
            </a:r>
            <a:r>
              <a:rPr sz="1000" b="1">
                <a:solidFill>
                  <a:srgbClr val="007986"/>
                </a:solidFill>
                <a:latin typeface="Courier New"/>
              </a:rPr>
              <a:t>i</a:t>
            </a:r>
            <a:r>
              <a:rPr sz="1000" b="1">
                <a:solidFill>
                  <a:srgbClr val="007986"/>
                </a:solidFill>
                <a:latin typeface="Courier New"/>
              </a:rPr>
              <a:t>g</a:t>
            </a:r>
            <a:r>
              <a:rPr sz="1000" b="1">
                <a:solidFill>
                  <a:srgbClr val="007986"/>
                </a:solidFill>
                <a:latin typeface="Courier New"/>
              </a:rPr>
              <a:t>i</a:t>
            </a:r>
            <a:r>
              <a:rPr sz="1000" b="1">
                <a:solidFill>
                  <a:srgbClr val="007986"/>
                </a:solidFill>
                <a:latin typeface="Courier New"/>
              </a:rPr>
              <a:t>b</a:t>
            </a:r>
            <a:r>
              <a:rPr sz="1000" b="1">
                <a:solidFill>
                  <a:srgbClr val="007986"/>
                </a:solidFill>
                <a:latin typeface="Courier New"/>
              </a:rPr>
              <a:t>l</a:t>
            </a:r>
            <a:r>
              <a:rPr sz="1000" b="1">
                <a:solidFill>
                  <a:srgbClr val="007986"/>
                </a:solidFill>
                <a:latin typeface="Courier New"/>
              </a:rPr>
              <a:t>e</a:t>
            </a:r>
            <a:r>
              <a:rPr sz="10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55648"/>
            <a:ext cx="45720" cy="81889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720848"/>
            <a:ext cx="4169663" cy="560324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000">
                <a:solidFill>
                  <a:srgbClr val="1C272B"/>
                </a:solidFill>
                <a:latin typeface="Courier New"/>
              </a:rPr>
              <a:t>[1] 131</a:t>
            </a:r>
          </a:p>
          <a:p>
            <a:pPr algn="l">
              <a:spcAft>
                <a:spcPts val="0"/>
              </a:spcAft>
              <a:buNone/>
            </a:pPr>
            <a:r>
              <a:rPr sz="1000">
                <a:solidFill>
                  <a:srgbClr val="1C272B"/>
                </a:solidFill>
                <a:latin typeface="Courier New"/>
              </a:rPr>
              <a:t>[1]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775712"/>
            <a:ext cx="45720" cy="45059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2784856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3785615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1016" y="3785615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60 of the 131 treatment households are eligible.</a:t>
            </a:r>
          </a:p>
        </p:txBody>
      </p:sp>
      <p:sp>
        <p:nvSpPr>
          <p:cNvPr id="20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Q2(b)  What fraction is that?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2. Create a new variable called eligible, equal to one if the household has a poverty index of 750 or below.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Because eligible is 1s and 0s, its mean is the proportion.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Type  mean(hh_treat$eligible)  and run it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That is 60 ÷ 131, done for you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Multiply by 100 if you want it as a percentage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00784"/>
            <a:ext cx="4169663" cy="394588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>
                <a:solidFill>
                  <a:srgbClr val="1C272B"/>
                </a:solidFill>
                <a:latin typeface="Courier New"/>
              </a:rPr>
              <a:t>_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</a:t>
            </a:r>
            <a:r>
              <a:rPr sz="1100" b="1">
                <a:solidFill>
                  <a:srgbClr val="007986"/>
                </a:solidFill>
                <a:latin typeface="Courier New"/>
              </a:rPr>
              <a:t>i</a:t>
            </a:r>
            <a:r>
              <a:rPr sz="1100" b="1">
                <a:solidFill>
                  <a:srgbClr val="007986"/>
                </a:solidFill>
                <a:latin typeface="Courier New"/>
              </a:rPr>
              <a:t>g</a:t>
            </a:r>
            <a:r>
              <a:rPr sz="1100" b="1">
                <a:solidFill>
                  <a:srgbClr val="007986"/>
                </a:solidFill>
                <a:latin typeface="Courier New"/>
              </a:rPr>
              <a:t>i</a:t>
            </a:r>
            <a:r>
              <a:rPr sz="1100" b="1">
                <a:solidFill>
                  <a:srgbClr val="007986"/>
                </a:solidFill>
                <a:latin typeface="Courier New"/>
              </a:rPr>
              <a:t>b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55648"/>
            <a:ext cx="45720" cy="28486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186812"/>
            <a:ext cx="4169663" cy="394588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[1] 0.4580153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241676"/>
            <a:ext cx="45720" cy="28486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2250820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3127248"/>
            <a:ext cx="8522208" cy="566928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 mean of a column of 1s and 0s is the share that are 1 — so it saves you the division every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3127248"/>
            <a:ext cx="50292" cy="566928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" y="3840480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71016" y="3840480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45.8% of treatment-locality households are eligible.</a:t>
            </a:r>
          </a:p>
        </p:txBody>
      </p:sp>
      <p:sp>
        <p:nvSpPr>
          <p:cNvPr id="22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 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Your Turn!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3017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Work out (c) and (d) yourself: of the eligible treatment households, how many took up the programme, and what fraction is that?</a:t>
            </a:r>
          </a:p>
        </p:txBody>
      </p:sp>
      <p:sp>
        <p:nvSpPr>
          <p:cNvPr id="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H A N D S  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Q2(c)–(d)  Take-up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2. Create a new variable called eligible, equal to one if the household has a poverty index of 750 or below.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Filter to the eligible ones, then count and average takeup.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Add a second filter inside the brackets: eligible == 1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sum() gives the count, mean() gives the fraction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Watch the denominator — it is eligible households, not all of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" y="2798064"/>
            <a:ext cx="8522208" cy="597154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sum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>
                <a:solidFill>
                  <a:srgbClr val="1C272B"/>
                </a:solidFill>
                <a:latin typeface="Courier New"/>
              </a:rPr>
              <a:t>_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k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u</a:t>
            </a:r>
            <a:r>
              <a:rPr sz="1100" b="1">
                <a:solidFill>
                  <a:srgbClr val="007986"/>
                </a:solidFill>
                <a:latin typeface="Courier New"/>
              </a:rPr>
              <a:t>p</a:t>
            </a:r>
            <a:r>
              <a:rPr sz="1100">
                <a:solidFill>
                  <a:srgbClr val="1C272B"/>
                </a:solidFill>
                <a:latin typeface="Courier New"/>
              </a:rPr>
              <a:t>[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>
                <a:solidFill>
                  <a:srgbClr val="1C272B"/>
                </a:solidFill>
                <a:latin typeface="Courier New"/>
              </a:rPr>
              <a:t>_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</a:t>
            </a:r>
            <a:r>
              <a:rPr sz="1100" b="1">
                <a:solidFill>
                  <a:srgbClr val="007986"/>
                </a:solidFill>
                <a:latin typeface="Courier New"/>
              </a:rPr>
              <a:t>i</a:t>
            </a:r>
            <a:r>
              <a:rPr sz="1100" b="1">
                <a:solidFill>
                  <a:srgbClr val="007986"/>
                </a:solidFill>
                <a:latin typeface="Courier New"/>
              </a:rPr>
              <a:t>g</a:t>
            </a:r>
            <a:r>
              <a:rPr sz="1100" b="1">
                <a:solidFill>
                  <a:srgbClr val="007986"/>
                </a:solidFill>
                <a:latin typeface="Courier New"/>
              </a:rPr>
              <a:t>i</a:t>
            </a:r>
            <a:r>
              <a:rPr sz="1100" b="1">
                <a:solidFill>
                  <a:srgbClr val="007986"/>
                </a:solidFill>
                <a:latin typeface="Courier New"/>
              </a:rPr>
              <a:t>b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]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>
                <a:solidFill>
                  <a:srgbClr val="1C272B"/>
                </a:solidFill>
                <a:latin typeface="Courier New"/>
              </a:rPr>
              <a:t>_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k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u</a:t>
            </a:r>
            <a:r>
              <a:rPr sz="1100" b="1">
                <a:solidFill>
                  <a:srgbClr val="007986"/>
                </a:solidFill>
                <a:latin typeface="Courier New"/>
              </a:rPr>
              <a:t>p</a:t>
            </a:r>
            <a:r>
              <a:rPr sz="1100">
                <a:solidFill>
                  <a:srgbClr val="1C272B"/>
                </a:solidFill>
                <a:latin typeface="Courier New"/>
              </a:rPr>
              <a:t>[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>
                <a:solidFill>
                  <a:srgbClr val="1C272B"/>
                </a:solidFill>
                <a:latin typeface="Courier New"/>
              </a:rPr>
              <a:t>_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</a:t>
            </a:r>
            <a:r>
              <a:rPr sz="1100" b="1">
                <a:solidFill>
                  <a:srgbClr val="007986"/>
                </a:solidFill>
                <a:latin typeface="Courier New"/>
              </a:rPr>
              <a:t>i</a:t>
            </a:r>
            <a:r>
              <a:rPr sz="1100" b="1">
                <a:solidFill>
                  <a:srgbClr val="007986"/>
                </a:solidFill>
                <a:latin typeface="Courier New"/>
              </a:rPr>
              <a:t>g</a:t>
            </a:r>
            <a:r>
              <a:rPr sz="1100" b="1">
                <a:solidFill>
                  <a:srgbClr val="007986"/>
                </a:solidFill>
                <a:latin typeface="Courier New"/>
              </a:rPr>
              <a:t>i</a:t>
            </a:r>
            <a:r>
              <a:rPr sz="1100" b="1">
                <a:solidFill>
                  <a:srgbClr val="007986"/>
                </a:solidFill>
                <a:latin typeface="Courier New"/>
              </a:rPr>
              <a:t>b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]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852928"/>
            <a:ext cx="45720" cy="487425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286207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" y="3486658"/>
            <a:ext cx="8522208" cy="597154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[1] 59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[1] 0.9833333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3541522"/>
            <a:ext cx="45720" cy="487425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3550666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4059936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1016" y="4059936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59 of the 60 eligible households participated — a take-up rate of 98.3%.</a:t>
            </a:r>
          </a:p>
        </p:txBody>
      </p:sp>
      <p:sp>
        <p:nvSpPr>
          <p:cNvPr id="20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H A N D S   O 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Questions 3 and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Comparing treatment and control at baseline.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5   O F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Question 3  Building the comparison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3. Report the average hhe, educhh, hhsize and pscore at baseline (round = 0) for treatment and control localities separately.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group_by() splits the data; summarise() reports one row per group.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Make the baseline subset and name it base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Pipe it into group_by(treatcom) to split it in two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Pipe that into summarise() and name each average you want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01265"/>
            <a:ext cx="7900416" cy="21755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050" b="0" i="1">
                <a:solidFill>
                  <a:srgbClr val="37474F"/>
                </a:solidFill>
              </a:rPr>
              <a:t>always finish with n = n() so you know the group sizes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" y="2907792"/>
            <a:ext cx="8522208" cy="1356772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b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&lt;</a:t>
            </a:r>
            <a:r>
              <a:rPr sz="1150">
                <a:solidFill>
                  <a:srgbClr val="1C272B"/>
                </a:solidFill>
                <a:latin typeface="Courier New"/>
              </a:rPr>
              <a:t>-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[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</a:t>
            </a:r>
            <a:r>
              <a:rPr sz="1150">
                <a:solidFill>
                  <a:srgbClr val="1C272B"/>
                </a:solidFill>
                <a:latin typeface="Courier New"/>
              </a:rPr>
              <a:t>$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6A4C9C"/>
                </a:solidFill>
                <a:latin typeface="Courier New"/>
              </a:rPr>
              <a:t>0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]</a:t>
            </a:r>
          </a:p>
          <a:p>
            <a:pPr algn="l">
              <a:spcAft>
                <a:spcPts val="0"/>
              </a:spcAft>
              <a:buNone/>
            </a:pPr>
            <a:r>
              <a:rPr sz="575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b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  <a:r>
              <a:rPr sz="1150">
                <a:solidFill>
                  <a:srgbClr val="1C272B"/>
                </a:solidFill>
                <a:latin typeface="Courier New"/>
              </a:rPr>
              <a:t>&gt;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group_by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  <a:r>
              <a:rPr sz="1150">
                <a:solidFill>
                  <a:srgbClr val="1C272B"/>
                </a:solidFill>
                <a:latin typeface="Courier New"/>
              </a:rPr>
              <a:t>&gt;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summarise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z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z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2962656"/>
            <a:ext cx="45720" cy="124704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ZCHIP"/>
          <p:cNvSpPr txBox="1"/>
          <p:nvPr/>
        </p:nvSpPr>
        <p:spPr>
          <a:xfrm>
            <a:off x="8119872" y="2971800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6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3   A N D  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Q3  Results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3. Report the average hhe, educhh, hhsize and pscore at baseline (round = 0) for treatment and control localities separately.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Baseline averages, all households.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682496"/>
            <a:ext cx="8522208" cy="403796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#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737360"/>
            <a:ext cx="45720" cy="29406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CHIP"/>
          <p:cNvSpPr txBox="1"/>
          <p:nvPr/>
        </p:nvSpPr>
        <p:spPr>
          <a:xfrm>
            <a:off x="8119872" y="1746504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2177732"/>
            <a:ext cx="8522208" cy="827341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 treatcom   hhe   educhh  hhsize  pscore   n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1        0 66.49    2.976   5.910   763.3 144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2        1 71.50    3.442   4.931   782.3 131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2232596"/>
            <a:ext cx="45720" cy="717613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ZCHIP"/>
          <p:cNvSpPr txBox="1"/>
          <p:nvPr/>
        </p:nvSpPr>
        <p:spPr>
          <a:xfrm>
            <a:off x="8119872" y="2241740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3529584"/>
            <a:ext cx="8522208" cy="605536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Row 1 is control (treatcom = 0), row 2 is treatment. A mean with no group size beside it cannot be judged.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3529584"/>
            <a:ext cx="50292" cy="60553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3   A N D  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Question 4  Eligible households only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4. The same table as Question 3, restricted to eligible households.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One extra line. Everything else is identical to Question 3.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Copy the Question 3 pipeline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Insert filter(eligible == 1) directly after base %&gt;%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Run it — the rest of the pipeline is unchanged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" y="2907792"/>
            <a:ext cx="8522208" cy="1250886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 b="1">
                <a:solidFill>
                  <a:srgbClr val="007986"/>
                </a:solidFill>
                <a:latin typeface="Courier New"/>
              </a:rPr>
              <a:t>b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  <a:r>
              <a:rPr sz="1150">
                <a:solidFill>
                  <a:srgbClr val="1C272B"/>
                </a:solidFill>
                <a:latin typeface="Courier New"/>
              </a:rPr>
              <a:t>&gt;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filter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g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b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6A4C9C"/>
                </a:solidFill>
                <a:latin typeface="Courier New"/>
              </a:rPr>
              <a:t>1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  <a:r>
              <a:rPr sz="1150">
                <a:solidFill>
                  <a:srgbClr val="1C272B"/>
                </a:solidFill>
                <a:latin typeface="Courier New"/>
              </a:rPr>
              <a:t>&gt;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  <a:r>
              <a:rPr sz="1000" i="1">
                <a:solidFill>
                  <a:srgbClr val="78909C"/>
                </a:solidFill>
                <a:latin typeface="Arial"/>
              </a:rPr>
              <a:t>   # the only new line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group_by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a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  <a:r>
              <a:rPr sz="1150">
                <a:solidFill>
                  <a:srgbClr val="1C272B"/>
                </a:solidFill>
                <a:latin typeface="Courier New"/>
              </a:rPr>
              <a:t>&gt;</a:t>
            </a:r>
            <a:r>
              <a:rPr sz="1150">
                <a:solidFill>
                  <a:srgbClr val="1C272B"/>
                </a:solidFill>
                <a:latin typeface="Courier New"/>
              </a:rPr>
              <a:t>%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summarise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d</a:t>
            </a:r>
            <a:r>
              <a:rPr sz="1150" b="1">
                <a:solidFill>
                  <a:srgbClr val="007986"/>
                </a:solidFill>
                <a:latin typeface="Courier New"/>
              </a:rPr>
              <a:t>u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z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z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mean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p</a:t>
            </a:r>
            <a:r>
              <a:rPr sz="1150" b="1">
                <a:solidFill>
                  <a:srgbClr val="007986"/>
                </a:solidFill>
                <a:latin typeface="Courier New"/>
              </a:rPr>
              <a:t>s</a:t>
            </a:r>
            <a:r>
              <a:rPr sz="1150" b="1">
                <a:solidFill>
                  <a:srgbClr val="007986"/>
                </a:solidFill>
                <a:latin typeface="Courier New"/>
              </a:rPr>
              <a:t>c</a:t>
            </a:r>
            <a:r>
              <a:rPr sz="1150" b="1">
                <a:solidFill>
                  <a:srgbClr val="007986"/>
                </a:solidFill>
                <a:latin typeface="Courier New"/>
              </a:rPr>
              <a:t>o</a:t>
            </a:r>
            <a:r>
              <a:rPr sz="1150" b="1">
                <a:solidFill>
                  <a:srgbClr val="007986"/>
                </a:solidFill>
                <a:latin typeface="Courier New"/>
              </a:rPr>
              <a:t>r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,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n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962656"/>
            <a:ext cx="45720" cy="114115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2971800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3   A N D  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Your Turn!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3017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Build the Question 4 table yourself, then re-run it with the threshold at 700 instead of 750. How much do the counts move?</a:t>
            </a:r>
          </a:p>
        </p:txBody>
      </p:sp>
      <p:sp>
        <p:nvSpPr>
          <p:cNvPr id="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H A N D S  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Q4  Results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4. The same table as Question 3, restricted to eligible households.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Baseline averages, eligible households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682496"/>
            <a:ext cx="8522208" cy="403796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#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w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t</a:t>
            </a:r>
            <a:r>
              <a:rPr sz="1150" b="1">
                <a:solidFill>
                  <a:srgbClr val="007986"/>
                </a:solidFill>
                <a:latin typeface="Courier New"/>
              </a:rPr>
              <a:t>h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 b="1">
                <a:solidFill>
                  <a:srgbClr val="007986"/>
                </a:solidFill>
                <a:latin typeface="Courier New"/>
              </a:rPr>
              <a:t>filter</a:t>
            </a:r>
            <a:r>
              <a:rPr sz="1150">
                <a:solidFill>
                  <a:srgbClr val="1C272B"/>
                </a:solidFill>
                <a:latin typeface="Courier New"/>
              </a:rPr>
              <a:t>(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g</a:t>
            </a:r>
            <a:r>
              <a:rPr sz="1150" b="1">
                <a:solidFill>
                  <a:srgbClr val="007986"/>
                </a:solidFill>
                <a:latin typeface="Courier New"/>
              </a:rPr>
              <a:t>i</a:t>
            </a:r>
            <a:r>
              <a:rPr sz="1150" b="1">
                <a:solidFill>
                  <a:srgbClr val="007986"/>
                </a:solidFill>
                <a:latin typeface="Courier New"/>
              </a:rPr>
              <a:t>b</a:t>
            </a:r>
            <a:r>
              <a:rPr sz="1150" b="1">
                <a:solidFill>
                  <a:srgbClr val="007986"/>
                </a:solidFill>
                <a:latin typeface="Courier New"/>
              </a:rPr>
              <a:t>l</a:t>
            </a:r>
            <a:r>
              <a:rPr sz="1150" b="1">
                <a:solidFill>
                  <a:srgbClr val="007986"/>
                </a:solidFill>
                <a:latin typeface="Courier New"/>
              </a:rPr>
              <a:t>e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=</a:t>
            </a:r>
            <a:r>
              <a:rPr sz="1150">
                <a:solidFill>
                  <a:srgbClr val="1C272B"/>
                </a:solidFill>
                <a:latin typeface="Courier New"/>
              </a:rPr>
              <a:t> </a:t>
            </a:r>
            <a:r>
              <a:rPr sz="1150">
                <a:solidFill>
                  <a:srgbClr val="6A4C9C"/>
                </a:solidFill>
                <a:latin typeface="Courier New"/>
              </a:rPr>
              <a:t>1</a:t>
            </a:r>
            <a:r>
              <a:rPr sz="11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737360"/>
            <a:ext cx="45720" cy="29406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CHIP"/>
          <p:cNvSpPr txBox="1"/>
          <p:nvPr/>
        </p:nvSpPr>
        <p:spPr>
          <a:xfrm>
            <a:off x="8119872" y="1746504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2177732"/>
            <a:ext cx="8522208" cy="827341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  treatcom   hhe   educhh  hhsize  pscore  n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1        0 61.75    3.469   5.857   659.6 70</a:t>
            </a:r>
          </a:p>
          <a:p>
            <a:pPr algn="l">
              <a:spcAft>
                <a:spcPts val="0"/>
              </a:spcAft>
              <a:buNone/>
            </a:pPr>
            <a:r>
              <a:rPr sz="1150">
                <a:solidFill>
                  <a:srgbClr val="1C272B"/>
                </a:solidFill>
                <a:latin typeface="Courier New"/>
              </a:rPr>
              <a:t>2        1 60.13    4.267   5.567   672.1 60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2232596"/>
            <a:ext cx="45720" cy="717613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ZCHIP"/>
          <p:cNvSpPr txBox="1"/>
          <p:nvPr/>
        </p:nvSpPr>
        <p:spPr>
          <a:xfrm>
            <a:off x="8119872" y="2241740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" y="3529584"/>
            <a:ext cx="960120" cy="402336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1016" y="3529584"/>
            <a:ext cx="7562088" cy="402336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212121"/>
                </a:solidFill>
              </a:rPr>
              <a:t>Control education here is 3.47, not the 3.27 in the older key.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4041648"/>
            <a:ext cx="8522208" cy="38506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Restricting to eligible households pulls both poverty indices down by ~100 points.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" y="4041648"/>
            <a:ext cx="50292" cy="38506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H A N D S   O 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Questions 5 and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Seeing a relationship, then measuring it.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6   O F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Question 5  The scatter plot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5. Make a scatter plot of household health expenditure at baseline against the household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ggplot builds a plot in layers, joined with +.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877055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Start with ggplot(base, aes(x = pscore, y = hhe))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877055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Add + geom_point() to draw the dots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877055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Add + labs() to title both axes</a:t>
            </a:r>
          </a:p>
        </p:txBody>
      </p:sp>
      <p:sp>
        <p:nvSpPr>
          <p:cNvPr id="12" name="Oval 11"/>
          <p:cNvSpPr/>
          <p:nvPr/>
        </p:nvSpPr>
        <p:spPr>
          <a:xfrm>
            <a:off x="310896" y="253784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05837"/>
            <a:ext cx="3877055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Run it — the plot appears under the cell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6380"/>
            <a:ext cx="3877055" cy="217551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050" b="0" i="1">
                <a:solidFill>
                  <a:srgbClr val="37474F"/>
                </a:solidFill>
              </a:rPr>
              <a:t>an unlabelled chart is not a finished answer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700784"/>
            <a:ext cx="4169663" cy="1352169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050" b="1">
                <a:solidFill>
                  <a:srgbClr val="007986"/>
                </a:solidFill>
                <a:latin typeface="Courier New"/>
              </a:rPr>
              <a:t>ggplot</a:t>
            </a:r>
            <a:r>
              <a:rPr sz="1050">
                <a:solidFill>
                  <a:srgbClr val="1C272B"/>
                </a:solidFill>
                <a:latin typeface="Courier New"/>
              </a:rPr>
              <a:t>(</a:t>
            </a:r>
            <a:r>
              <a:rPr sz="1050" b="1">
                <a:solidFill>
                  <a:srgbClr val="007986"/>
                </a:solidFill>
                <a:latin typeface="Courier New"/>
              </a:rPr>
              <a:t>b</a:t>
            </a:r>
            <a:r>
              <a:rPr sz="1050" b="1">
                <a:solidFill>
                  <a:srgbClr val="007986"/>
                </a:solidFill>
                <a:latin typeface="Courier New"/>
              </a:rPr>
              <a:t>a</a:t>
            </a:r>
            <a:r>
              <a:rPr sz="1050" b="1">
                <a:solidFill>
                  <a:srgbClr val="007986"/>
                </a:solidFill>
                <a:latin typeface="Courier New"/>
              </a:rPr>
              <a:t>s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,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aes</a:t>
            </a:r>
            <a:r>
              <a:rPr sz="1050">
                <a:solidFill>
                  <a:srgbClr val="1C272B"/>
                </a:solidFill>
                <a:latin typeface="Courier New"/>
              </a:rPr>
              <a:t>(</a:t>
            </a:r>
            <a:r>
              <a:rPr sz="1050" b="1">
                <a:solidFill>
                  <a:srgbClr val="007986"/>
                </a:solidFill>
                <a:latin typeface="Courier New"/>
              </a:rPr>
              <a:t>x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=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p</a:t>
            </a:r>
            <a:r>
              <a:rPr sz="1050" b="1">
                <a:solidFill>
                  <a:srgbClr val="007986"/>
                </a:solidFill>
                <a:latin typeface="Courier New"/>
              </a:rPr>
              <a:t>s</a:t>
            </a:r>
            <a:r>
              <a:rPr sz="1050" b="1">
                <a:solidFill>
                  <a:srgbClr val="007986"/>
                </a:solidFill>
                <a:latin typeface="Courier New"/>
              </a:rPr>
              <a:t>c</a:t>
            </a:r>
            <a:r>
              <a:rPr sz="1050" b="1">
                <a:solidFill>
                  <a:srgbClr val="007986"/>
                </a:solidFill>
                <a:latin typeface="Courier New"/>
              </a:rPr>
              <a:t>o</a:t>
            </a:r>
            <a:r>
              <a:rPr sz="1050" b="1">
                <a:solidFill>
                  <a:srgbClr val="007986"/>
                </a:solidFill>
                <a:latin typeface="Courier New"/>
              </a:rPr>
              <a:t>r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y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=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h</a:t>
            </a:r>
            <a:r>
              <a:rPr sz="1050" b="1">
                <a:solidFill>
                  <a:srgbClr val="007986"/>
                </a:solidFill>
                <a:latin typeface="Courier New"/>
              </a:rPr>
              <a:t>h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)</a:t>
            </a:r>
            <a:r>
              <a:rPr sz="1050">
                <a:solidFill>
                  <a:srgbClr val="1C272B"/>
                </a:solidFill>
                <a:latin typeface="Courier New"/>
              </a:rPr>
              <a:t>)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+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geom_point</a:t>
            </a:r>
            <a:r>
              <a:rPr sz="1050">
                <a:solidFill>
                  <a:srgbClr val="1C272B"/>
                </a:solidFill>
                <a:latin typeface="Courier New"/>
              </a:rPr>
              <a:t>(</a:t>
            </a:r>
            <a:r>
              <a:rPr sz="1050" b="1">
                <a:solidFill>
                  <a:srgbClr val="007986"/>
                </a:solidFill>
                <a:latin typeface="Courier New"/>
              </a:rPr>
              <a:t>c</a:t>
            </a:r>
            <a:r>
              <a:rPr sz="1050" b="1">
                <a:solidFill>
                  <a:srgbClr val="007986"/>
                </a:solidFill>
                <a:latin typeface="Courier New"/>
              </a:rPr>
              <a:t>o</a:t>
            </a:r>
            <a:r>
              <a:rPr sz="1050" b="1">
                <a:solidFill>
                  <a:srgbClr val="007986"/>
                </a:solidFill>
                <a:latin typeface="Courier New"/>
              </a:rPr>
              <a:t>l</a:t>
            </a:r>
            <a:r>
              <a:rPr sz="1050" b="1">
                <a:solidFill>
                  <a:srgbClr val="007986"/>
                </a:solidFill>
                <a:latin typeface="Courier New"/>
              </a:rPr>
              <a:t>o</a:t>
            </a:r>
            <a:r>
              <a:rPr sz="1050" b="1">
                <a:solidFill>
                  <a:srgbClr val="007986"/>
                </a:solidFill>
                <a:latin typeface="Courier New"/>
              </a:rPr>
              <a:t>r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=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B03A14"/>
                </a:solidFill>
                <a:latin typeface="Courier New"/>
              </a:rPr>
              <a:t>"steelblue"</a:t>
            </a:r>
            <a:r>
              <a:rPr sz="1050">
                <a:solidFill>
                  <a:srgbClr val="1C272B"/>
                </a:solidFill>
                <a:latin typeface="Courier New"/>
              </a:rPr>
              <a:t>)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+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labs</a:t>
            </a:r>
            <a:r>
              <a:rPr sz="1050">
                <a:solidFill>
                  <a:srgbClr val="1C272B"/>
                </a:solidFill>
                <a:latin typeface="Courier New"/>
              </a:rPr>
              <a:t>(</a:t>
            </a:r>
            <a:r>
              <a:rPr sz="1050" b="1">
                <a:solidFill>
                  <a:srgbClr val="007986"/>
                </a:solidFill>
                <a:latin typeface="Courier New"/>
              </a:rPr>
              <a:t>x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=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B03A14"/>
                </a:solidFill>
                <a:latin typeface="Courier New"/>
              </a:rPr>
              <a:t>"Poverty index"</a:t>
            </a:r>
            <a:r>
              <a:rPr sz="1050">
                <a:solidFill>
                  <a:srgbClr val="1C27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y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=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B03A14"/>
                </a:solidFill>
                <a:latin typeface="Courier New"/>
              </a:rPr>
              <a:t>"Health expenditure"</a:t>
            </a:r>
            <a:r>
              <a:rPr sz="1050">
                <a:solidFill>
                  <a:srgbClr val="1C272B"/>
                </a:solidFill>
                <a:latin typeface="Courier New"/>
              </a:rPr>
              <a:t>)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+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theme_minimal</a:t>
            </a:r>
            <a:r>
              <a:rPr sz="1050">
                <a:solidFill>
                  <a:srgbClr val="1C272B"/>
                </a:solidFill>
                <a:latin typeface="Courier New"/>
              </a:rPr>
              <a:t>(</a:t>
            </a:r>
            <a:r>
              <a:rPr sz="10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755648"/>
            <a:ext cx="45720" cy="1242441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8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5   A N D  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Q5  Results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5. Make a scatter plot of household health expenditure at baseline against the household poverty index.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5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298448"/>
            <a:ext cx="5029200" cy="30089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1371600"/>
            <a:ext cx="3255264" cy="1073912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0097A7"/>
                </a:solidFill>
              </a:rPr>
              <a:t>What it shows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 cloud slopes upward: households with a higher poverty index spend more on health at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371600"/>
            <a:ext cx="50292" cy="1073912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2542032"/>
            <a:ext cx="3255264" cy="1073912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FF5722"/>
                </a:solidFill>
              </a:rPr>
              <a:t>Read the sign carefully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A higher pscore means a poorer household, so poorer households are spending more, not less.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2542032"/>
            <a:ext cx="50292" cy="1073912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931920"/>
            <a:ext cx="3255264" cy="385064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Save it with ggsave("scatter.png").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3931920"/>
            <a:ext cx="50292" cy="385064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5   A N D  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Question 6  Correlation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6. Calculate the correlation between household health expenditure and education of the household head at baseline.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One line — and the variable names are right there in it.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Type cor(base$hhe, base$educhh) and run it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Run it again with base$pscore for contrast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Say the variable names out loud as you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00784"/>
            <a:ext cx="4169663" cy="578739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050" b="1">
                <a:solidFill>
                  <a:srgbClr val="007986"/>
                </a:solidFill>
                <a:latin typeface="Courier New"/>
              </a:rPr>
              <a:t>cor</a:t>
            </a:r>
            <a:r>
              <a:rPr sz="1050">
                <a:solidFill>
                  <a:srgbClr val="1C272B"/>
                </a:solidFill>
                <a:latin typeface="Courier New"/>
              </a:rPr>
              <a:t>(</a:t>
            </a:r>
            <a:r>
              <a:rPr sz="1050" b="1">
                <a:solidFill>
                  <a:srgbClr val="007986"/>
                </a:solidFill>
                <a:latin typeface="Courier New"/>
              </a:rPr>
              <a:t>b</a:t>
            </a:r>
            <a:r>
              <a:rPr sz="1050" b="1">
                <a:solidFill>
                  <a:srgbClr val="007986"/>
                </a:solidFill>
                <a:latin typeface="Courier New"/>
              </a:rPr>
              <a:t>a</a:t>
            </a:r>
            <a:r>
              <a:rPr sz="1050" b="1">
                <a:solidFill>
                  <a:srgbClr val="007986"/>
                </a:solidFill>
                <a:latin typeface="Courier New"/>
              </a:rPr>
              <a:t>s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$</a:t>
            </a:r>
            <a:r>
              <a:rPr sz="1050" b="1">
                <a:solidFill>
                  <a:srgbClr val="007986"/>
                </a:solidFill>
                <a:latin typeface="Courier New"/>
              </a:rPr>
              <a:t>h</a:t>
            </a:r>
            <a:r>
              <a:rPr sz="1050" b="1">
                <a:solidFill>
                  <a:srgbClr val="007986"/>
                </a:solidFill>
                <a:latin typeface="Courier New"/>
              </a:rPr>
              <a:t>h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,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b</a:t>
            </a:r>
            <a:r>
              <a:rPr sz="1050" b="1">
                <a:solidFill>
                  <a:srgbClr val="007986"/>
                </a:solidFill>
                <a:latin typeface="Courier New"/>
              </a:rPr>
              <a:t>a</a:t>
            </a:r>
            <a:r>
              <a:rPr sz="1050" b="1">
                <a:solidFill>
                  <a:srgbClr val="007986"/>
                </a:solidFill>
                <a:latin typeface="Courier New"/>
              </a:rPr>
              <a:t>s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$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 b="1">
                <a:solidFill>
                  <a:srgbClr val="007986"/>
                </a:solidFill>
                <a:latin typeface="Courier New"/>
              </a:rPr>
              <a:t>d</a:t>
            </a:r>
            <a:r>
              <a:rPr sz="1050" b="1">
                <a:solidFill>
                  <a:srgbClr val="007986"/>
                </a:solidFill>
                <a:latin typeface="Courier New"/>
              </a:rPr>
              <a:t>u</a:t>
            </a:r>
            <a:r>
              <a:rPr sz="1050" b="1">
                <a:solidFill>
                  <a:srgbClr val="007986"/>
                </a:solidFill>
                <a:latin typeface="Courier New"/>
              </a:rPr>
              <a:t>c</a:t>
            </a:r>
            <a:r>
              <a:rPr sz="1050" b="1">
                <a:solidFill>
                  <a:srgbClr val="007986"/>
                </a:solidFill>
                <a:latin typeface="Courier New"/>
              </a:rPr>
              <a:t>h</a:t>
            </a:r>
            <a:r>
              <a:rPr sz="1050" b="1">
                <a:solidFill>
                  <a:srgbClr val="007986"/>
                </a:solidFill>
                <a:latin typeface="Courier New"/>
              </a:rPr>
              <a:t>h</a:t>
            </a:r>
            <a:r>
              <a:rPr sz="105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050" b="1">
                <a:solidFill>
                  <a:srgbClr val="007986"/>
                </a:solidFill>
                <a:latin typeface="Courier New"/>
              </a:rPr>
              <a:t>cor</a:t>
            </a:r>
            <a:r>
              <a:rPr sz="1050">
                <a:solidFill>
                  <a:srgbClr val="1C272B"/>
                </a:solidFill>
                <a:latin typeface="Courier New"/>
              </a:rPr>
              <a:t>(</a:t>
            </a:r>
            <a:r>
              <a:rPr sz="1050" b="1">
                <a:solidFill>
                  <a:srgbClr val="007986"/>
                </a:solidFill>
                <a:latin typeface="Courier New"/>
              </a:rPr>
              <a:t>b</a:t>
            </a:r>
            <a:r>
              <a:rPr sz="1050" b="1">
                <a:solidFill>
                  <a:srgbClr val="007986"/>
                </a:solidFill>
                <a:latin typeface="Courier New"/>
              </a:rPr>
              <a:t>a</a:t>
            </a:r>
            <a:r>
              <a:rPr sz="1050" b="1">
                <a:solidFill>
                  <a:srgbClr val="007986"/>
                </a:solidFill>
                <a:latin typeface="Courier New"/>
              </a:rPr>
              <a:t>s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$</a:t>
            </a:r>
            <a:r>
              <a:rPr sz="1050" b="1">
                <a:solidFill>
                  <a:srgbClr val="007986"/>
                </a:solidFill>
                <a:latin typeface="Courier New"/>
              </a:rPr>
              <a:t>h</a:t>
            </a:r>
            <a:r>
              <a:rPr sz="1050" b="1">
                <a:solidFill>
                  <a:srgbClr val="007986"/>
                </a:solidFill>
                <a:latin typeface="Courier New"/>
              </a:rPr>
              <a:t>h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,</a:t>
            </a:r>
            <a:r>
              <a:rPr sz="1050">
                <a:solidFill>
                  <a:srgbClr val="1C272B"/>
                </a:solidFill>
                <a:latin typeface="Courier New"/>
              </a:rPr>
              <a:t> </a:t>
            </a:r>
            <a:r>
              <a:rPr sz="1050" b="1">
                <a:solidFill>
                  <a:srgbClr val="007986"/>
                </a:solidFill>
                <a:latin typeface="Courier New"/>
              </a:rPr>
              <a:t>b</a:t>
            </a:r>
            <a:r>
              <a:rPr sz="1050" b="1">
                <a:solidFill>
                  <a:srgbClr val="007986"/>
                </a:solidFill>
                <a:latin typeface="Courier New"/>
              </a:rPr>
              <a:t>a</a:t>
            </a:r>
            <a:r>
              <a:rPr sz="1050" b="1">
                <a:solidFill>
                  <a:srgbClr val="007986"/>
                </a:solidFill>
                <a:latin typeface="Courier New"/>
              </a:rPr>
              <a:t>s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$</a:t>
            </a:r>
            <a:r>
              <a:rPr sz="1050" b="1">
                <a:solidFill>
                  <a:srgbClr val="007986"/>
                </a:solidFill>
                <a:latin typeface="Courier New"/>
              </a:rPr>
              <a:t>p</a:t>
            </a:r>
            <a:r>
              <a:rPr sz="1050" b="1">
                <a:solidFill>
                  <a:srgbClr val="007986"/>
                </a:solidFill>
                <a:latin typeface="Courier New"/>
              </a:rPr>
              <a:t>s</a:t>
            </a:r>
            <a:r>
              <a:rPr sz="1050" b="1">
                <a:solidFill>
                  <a:srgbClr val="007986"/>
                </a:solidFill>
                <a:latin typeface="Courier New"/>
              </a:rPr>
              <a:t>c</a:t>
            </a:r>
            <a:r>
              <a:rPr sz="1050" b="1">
                <a:solidFill>
                  <a:srgbClr val="007986"/>
                </a:solidFill>
                <a:latin typeface="Courier New"/>
              </a:rPr>
              <a:t>o</a:t>
            </a:r>
            <a:r>
              <a:rPr sz="1050" b="1">
                <a:solidFill>
                  <a:srgbClr val="007986"/>
                </a:solidFill>
                <a:latin typeface="Courier New"/>
              </a:rPr>
              <a:t>r</a:t>
            </a:r>
            <a:r>
              <a:rPr sz="1050" b="1">
                <a:solidFill>
                  <a:srgbClr val="007986"/>
                </a:solidFill>
                <a:latin typeface="Courier New"/>
              </a:rPr>
              <a:t>e</a:t>
            </a:r>
            <a:r>
              <a:rPr sz="10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55648"/>
            <a:ext cx="45720" cy="469011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370963"/>
            <a:ext cx="4169663" cy="578739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[1] -0.09865188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[1] 0.469121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425827"/>
            <a:ext cx="45720" cy="469011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CHIP"/>
          <p:cNvSpPr txBox="1"/>
          <p:nvPr/>
        </p:nvSpPr>
        <p:spPr>
          <a:xfrm>
            <a:off x="8119872" y="2434970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3401568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71016" y="3401568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−0.099. The correlation is negative, and very weak.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3895344"/>
            <a:ext cx="8522208" cy="632968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FF5722"/>
                </a:solidFill>
              </a:rPr>
              <a:t>Why the old answer was wrong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 older key gives 0.4691 — that is the pscore correlation, printed second above.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3895344"/>
            <a:ext cx="50292" cy="63296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5   A N D  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Questions 7 and 8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Estimating the programme's impact with regression.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7   O F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Question 7  What regression does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7. Estimate the programme's impact by regressing hhe on treatcom using data from round = 1.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Fit a straight line through the data by least squares.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700784"/>
            <a:ext cx="8522208" cy="1458055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007986"/>
                </a:solidFill>
                <a:latin typeface="Courier New"/>
              </a:rPr>
              <a:t>y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=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+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b</a:t>
            </a:r>
            <a:r>
              <a:rPr sz="1250">
                <a:solidFill>
                  <a:srgbClr val="1C272B"/>
                </a:solidFill>
                <a:latin typeface="Courier New"/>
              </a:rPr>
              <a:t>·</a:t>
            </a:r>
            <a:r>
              <a:rPr sz="1250" b="1">
                <a:solidFill>
                  <a:srgbClr val="007986"/>
                </a:solidFill>
                <a:latin typeface="Courier New"/>
              </a:rPr>
              <a:t>x</a:t>
            </a:r>
          </a:p>
          <a:p>
            <a:pPr algn="l">
              <a:spcAft>
                <a:spcPts val="0"/>
              </a:spcAft>
              <a:buNone/>
            </a:pPr>
            <a:r>
              <a:rPr sz="625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007986"/>
                </a:solidFill>
                <a:latin typeface="Courier New"/>
              </a:rPr>
              <a:t>y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u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m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y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u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x</a:t>
            </a:r>
            <a:r>
              <a:rPr sz="1250" b="1">
                <a:solidFill>
                  <a:srgbClr val="007986"/>
                </a:solidFill>
                <a:latin typeface="Courier New"/>
              </a:rPr>
              <a:t>p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g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: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</a:p>
          <a:p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007986"/>
                </a:solidFill>
                <a:latin typeface="Courier New"/>
              </a:rPr>
              <a:t>x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v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b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d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g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x</a:t>
            </a:r>
            <a:r>
              <a:rPr sz="1250" b="1">
                <a:solidFill>
                  <a:srgbClr val="007986"/>
                </a:solidFill>
                <a:latin typeface="Courier New"/>
              </a:rPr>
              <a:t>p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g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: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m</a:t>
            </a:r>
          </a:p>
          <a:p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p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>
                <a:solidFill>
                  <a:srgbClr val="1C272B"/>
                </a:solidFill>
                <a:latin typeface="Courier New"/>
              </a:rPr>
              <a:t>: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y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w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x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s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z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>
                <a:solidFill>
                  <a:srgbClr val="1C272B"/>
                </a:solidFill>
                <a:latin typeface="Courier New"/>
              </a:rPr>
              <a:t>-</a:t>
            </a:r>
            <a:r>
              <a:rPr sz="1250" b="1">
                <a:solidFill>
                  <a:srgbClr val="007986"/>
                </a:solidFill>
                <a:latin typeface="Courier New"/>
              </a:rPr>
              <a:t>g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u</a:t>
            </a:r>
            <a:r>
              <a:rPr sz="1250" b="1">
                <a:solidFill>
                  <a:srgbClr val="007986"/>
                </a:solidFill>
                <a:latin typeface="Courier New"/>
              </a:rPr>
              <a:t>p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v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g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</a:p>
          <a:p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007986"/>
                </a:solidFill>
                <a:latin typeface="Courier New"/>
              </a:rPr>
              <a:t>b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s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p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: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w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m</a:t>
            </a:r>
            <a:r>
              <a:rPr sz="1250" b="1">
                <a:solidFill>
                  <a:srgbClr val="007986"/>
                </a:solidFill>
                <a:latin typeface="Courier New"/>
              </a:rPr>
              <a:t>u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y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g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s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w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x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s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s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b</a:t>
            </a:r>
            <a:r>
              <a:rPr sz="1250" b="1">
                <a:solidFill>
                  <a:srgbClr val="007986"/>
                </a:solidFill>
                <a:latin typeface="Courier New"/>
              </a:rPr>
              <a:t>y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755648"/>
            <a:ext cx="45720" cy="1348327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3346704"/>
            <a:ext cx="8522208" cy="853440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0097A7"/>
                </a:solidFill>
              </a:rPr>
              <a:t>Why a dummy makes this easy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Because treatcom is 0 or 1, the slope b is simply the difference in average health expenditure between the treatment and control localities.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3346704"/>
            <a:ext cx="50292" cy="85344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7   A N D  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Q7  Fitting the model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7. Estimate the programme's impact by regressing hhe on treatcom using data from round = 1.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lm() means linear model. Read the formula as: hhe explained by treatcom.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Make the round = 1 subset and name it r1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Fit the model with lm() and store it in m1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396849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Ask for the report with summary(m1)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00784"/>
            <a:ext cx="4169663" cy="1204849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&lt;</a:t>
            </a:r>
            <a:r>
              <a:rPr sz="1100">
                <a:solidFill>
                  <a:srgbClr val="1C272B"/>
                </a:solidFill>
                <a:latin typeface="Courier New"/>
              </a:rPr>
              <a:t>-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f</a:t>
            </a:r>
            <a:r>
              <a:rPr sz="1100">
                <a:solidFill>
                  <a:srgbClr val="1C272B"/>
                </a:solidFill>
                <a:latin typeface="Courier New"/>
              </a:rPr>
              <a:t>[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f</a:t>
            </a:r>
            <a:r>
              <a:rPr sz="1100">
                <a:solidFill>
                  <a:srgbClr val="1C272B"/>
                </a:solidFill>
                <a:latin typeface="Courier New"/>
              </a:rPr>
              <a:t>$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o</a:t>
            </a:r>
            <a:r>
              <a:rPr sz="1100" b="1">
                <a:solidFill>
                  <a:srgbClr val="007986"/>
                </a:solidFill>
                <a:latin typeface="Courier New"/>
              </a:rPr>
              <a:t>u</a:t>
            </a:r>
            <a:r>
              <a:rPr sz="1100" b="1">
                <a:solidFill>
                  <a:srgbClr val="007986"/>
                </a:solidFill>
                <a:latin typeface="Courier New"/>
              </a:rPr>
              <a:t>n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,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]</a:t>
            </a:r>
          </a:p>
          <a:p>
            <a:pPr algn="l">
              <a:spcAft>
                <a:spcPts val="0"/>
              </a:spcAft>
              <a:buNone/>
            </a:pPr>
            <a:r>
              <a:rPr sz="550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m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&lt;</a:t>
            </a:r>
            <a:r>
              <a:rPr sz="1100">
                <a:solidFill>
                  <a:srgbClr val="1C272B"/>
                </a:solidFill>
                <a:latin typeface="Courier New"/>
              </a:rPr>
              <a:t>-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 b="1">
                <a:solidFill>
                  <a:srgbClr val="007986"/>
                </a:solidFill>
                <a:latin typeface="Courier New"/>
              </a:rPr>
              <a:t>lm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h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~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 b="1">
                <a:solidFill>
                  <a:srgbClr val="007986"/>
                </a:solidFill>
                <a:latin typeface="Courier New"/>
              </a:rPr>
              <a:t>e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c</a:t>
            </a:r>
            <a:r>
              <a:rPr sz="1100" b="1">
                <a:solidFill>
                  <a:srgbClr val="007986"/>
                </a:solidFill>
                <a:latin typeface="Courier New"/>
              </a:rPr>
              <a:t>o</a:t>
            </a:r>
            <a:r>
              <a:rPr sz="1100" b="1">
                <a:solidFill>
                  <a:srgbClr val="007986"/>
                </a:solidFill>
                <a:latin typeface="Courier New"/>
              </a:rPr>
              <a:t>m</a:t>
            </a:r>
            <a:r>
              <a:rPr sz="1100">
                <a:solidFill>
                  <a:srgbClr val="1C272B"/>
                </a:solidFill>
                <a:latin typeface="Courier New"/>
              </a:rPr>
              <a:t>,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 b="1">
                <a:solidFill>
                  <a:srgbClr val="007986"/>
                </a:solidFill>
                <a:latin typeface="Courier New"/>
              </a:rPr>
              <a:t>d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 b="1">
                <a:solidFill>
                  <a:srgbClr val="007986"/>
                </a:solidFill>
                <a:latin typeface="Courier New"/>
              </a:rPr>
              <a:t>t</a:t>
            </a:r>
            <a:r>
              <a:rPr sz="1100" b="1">
                <a:solidFill>
                  <a:srgbClr val="007986"/>
                </a:solidFill>
                <a:latin typeface="Courier New"/>
              </a:rPr>
              <a:t>a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>
                <a:solidFill>
                  <a:srgbClr val="1C272B"/>
                </a:solidFill>
                <a:latin typeface="Courier New"/>
              </a:rPr>
              <a:t>=</a:t>
            </a:r>
            <a:r>
              <a:rPr sz="1100">
                <a:solidFill>
                  <a:srgbClr val="1C272B"/>
                </a:solidFill>
                <a:latin typeface="Courier New"/>
              </a:rPr>
              <a:t> </a:t>
            </a:r>
            <a:r>
              <a:rPr sz="1100" b="1">
                <a:solidFill>
                  <a:srgbClr val="007986"/>
                </a:solidFill>
                <a:latin typeface="Courier New"/>
              </a:rPr>
              <a:t>r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550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summary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m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755648"/>
            <a:ext cx="45720" cy="109512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310128"/>
            <a:ext cx="8522208" cy="853440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455A64"/>
                </a:solidFill>
              </a:rPr>
              <a:t>Why store it?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Storing the model rather than printing it means you can ask it other questions later — coef(m1), confint(m1) — without refitting.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3310128"/>
            <a:ext cx="50292" cy="85344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7   A N D  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Q7  The output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7. Estimate the programme's impact by regressing hhe on treatcom using data from round = 1.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Named rows, in the order you wrote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682496"/>
            <a:ext cx="8522208" cy="394588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 b="1">
                <a:solidFill>
                  <a:srgbClr val="007986"/>
                </a:solidFill>
                <a:latin typeface="Courier New"/>
              </a:rPr>
              <a:t>summary</a:t>
            </a:r>
            <a:r>
              <a:rPr sz="1100">
                <a:solidFill>
                  <a:srgbClr val="1C272B"/>
                </a:solidFill>
                <a:latin typeface="Courier New"/>
              </a:rPr>
              <a:t>(</a:t>
            </a:r>
            <a:r>
              <a:rPr sz="1100" b="1">
                <a:solidFill>
                  <a:srgbClr val="007986"/>
                </a:solidFill>
                <a:latin typeface="Courier New"/>
              </a:rPr>
              <a:t>m</a:t>
            </a:r>
            <a:r>
              <a:rPr sz="1100">
                <a:solidFill>
                  <a:srgbClr val="6A4C9C"/>
                </a:solidFill>
                <a:latin typeface="Courier New"/>
              </a:rPr>
              <a:t>1</a:t>
            </a:r>
            <a:r>
              <a:rPr sz="11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737360"/>
            <a:ext cx="45720" cy="284860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CHIP"/>
          <p:cNvSpPr txBox="1"/>
          <p:nvPr/>
        </p:nvSpPr>
        <p:spPr>
          <a:xfrm>
            <a:off x="8119872" y="1746504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" y="2168524"/>
            <a:ext cx="8522208" cy="1508696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Coefficients: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            Estimate Std. Error t value Pr(&gt;|t|)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(Intercept)   78.437      3.145  24.942  &lt; 2e-16 ***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treatcom     -15.119      4.556  -3.318  0.00103 ** </a:t>
            </a:r>
          </a:p>
          <a:p>
            <a:pPr algn="l">
              <a:spcAft>
                <a:spcPts val="0"/>
              </a:spcAft>
              <a:buNone/>
            </a:pPr>
            <a:r>
              <a:rPr sz="550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Residual standard error: 37.74 on 273 degrees of freedom</a:t>
            </a:r>
          </a:p>
          <a:p>
            <a:pPr algn="l">
              <a:spcAft>
                <a:spcPts val="0"/>
              </a:spcAft>
              <a:buNone/>
            </a:pPr>
            <a:r>
              <a:rPr sz="1100">
                <a:solidFill>
                  <a:srgbClr val="1C272B"/>
                </a:solidFill>
                <a:latin typeface="Courier New"/>
              </a:rPr>
              <a:t>Multiple R-squared:  0.03877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2223388"/>
            <a:ext cx="45720" cy="1398968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ZCHIP"/>
          <p:cNvSpPr txBox="1"/>
          <p:nvPr/>
        </p:nvSpPr>
        <p:spPr>
          <a:xfrm>
            <a:off x="8119872" y="223253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" y="3950208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1016" y="3950208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The treatment coefficient is −15.12, with a standard error of 4.56.</a:t>
            </a:r>
          </a:p>
        </p:txBody>
      </p:sp>
      <p:sp>
        <p:nvSpPr>
          <p:cNvPr id="1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7   A N D  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Q7  Reading the output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7. Estimate the programme's impact by regressing hhe on treatcom using data from round = 1.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Four columns, one row per variable, and the stars are just shorthand.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0896" y="1700784"/>
          <a:ext cx="852220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059168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What it tells you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Estimate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the coefficient — the size of the effect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Std. Error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how precisely it is measured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t value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Estimate ÷ Std. Error. Beyond about ±2 is significant at 5%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C272B"/>
                          </a:solidFill>
                          <a:latin typeface="Courier New"/>
                        </a:rPr>
                        <a:t>Pr(&gt;|t|)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C272B"/>
                          </a:solidFill>
                        </a:rPr>
                        <a:t>the p-value. 0.00103 is about a 1-in-1000 chance under the null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0896" y="3584448"/>
            <a:ext cx="8522208" cy="853440"/>
          </a:xfrm>
          <a:prstGeom prst="rect">
            <a:avLst/>
          </a:prstGeom>
          <a:solidFill>
            <a:srgbClr val="ECF4F0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0097A7"/>
                </a:solidFill>
              </a:rPr>
              <a:t>Why this is easy to read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Everything is labelled and in the order you wrote the formula, so there is no counting across a grid to work out which number belongs to which variable.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3584448"/>
            <a:ext cx="50292" cy="85344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7   A N D  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Q7(a)  Interpreting the result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7. Estimate the programme's impact by regressing hhe on treatcom using data from round = 1.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Turn the coefficient into a sentence about households.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700784"/>
            <a:ext cx="8522208" cy="99768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m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-</a:t>
            </a:r>
            <a:r>
              <a:rPr sz="1250">
                <a:solidFill>
                  <a:srgbClr val="6A4C9C"/>
                </a:solidFill>
                <a:latin typeface="Courier New"/>
              </a:rPr>
              <a:t>15.12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d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f</a:t>
            </a:r>
            <a:r>
              <a:rPr sz="1250" b="1">
                <a:solidFill>
                  <a:srgbClr val="007986"/>
                </a:solidFill>
                <a:latin typeface="Courier New"/>
              </a:rPr>
              <a:t>f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b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w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s</a:t>
            </a:r>
          </a:p>
          <a:p>
            <a:pPr algn="l">
              <a:spcAft>
                <a:spcPts val="0"/>
              </a:spcAft>
              <a:buNone/>
            </a:pP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p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6A4C9C"/>
                </a:solidFill>
                <a:latin typeface="Courier New"/>
              </a:rPr>
              <a:t>78.44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>
                <a:solidFill>
                  <a:srgbClr val="1C272B"/>
                </a:solidFill>
                <a:latin typeface="Courier New"/>
              </a:rPr>
              <a:t>-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y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v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g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</a:p>
          <a:p>
            <a:pPr algn="l">
              <a:spcAft>
                <a:spcPts val="0"/>
              </a:spcAft>
              <a:buNone/>
            </a:pPr>
            <a:r>
              <a:rPr sz="625"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  <a:buNone/>
            </a:pPr>
            <a:r>
              <a:rPr sz="1250">
                <a:solidFill>
                  <a:srgbClr val="6A4C9C"/>
                </a:solidFill>
                <a:latin typeface="Courier New"/>
              </a:rPr>
              <a:t>78.44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-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6A4C9C"/>
                </a:solidFill>
                <a:latin typeface="Courier New"/>
              </a:rPr>
              <a:t>15.12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=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6A4C9C"/>
                </a:solidFill>
                <a:latin typeface="Courier New"/>
              </a:rPr>
              <a:t>63.32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h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m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n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>
                <a:solidFill>
                  <a:srgbClr val="1C272B"/>
                </a:solidFill>
                <a:latin typeface="Courier New"/>
              </a:rPr>
              <a:t>-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o</a:t>
            </a:r>
            <a:r>
              <a:rPr sz="1250" b="1">
                <a:solidFill>
                  <a:srgbClr val="007986"/>
                </a:solidFill>
                <a:latin typeface="Courier New"/>
              </a:rPr>
              <a:t>c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l</a:t>
            </a:r>
            <a:r>
              <a:rPr sz="1250" b="1">
                <a:solidFill>
                  <a:srgbClr val="007986"/>
                </a:solidFill>
                <a:latin typeface="Courier New"/>
              </a:rPr>
              <a:t>i</a:t>
            </a:r>
            <a:r>
              <a:rPr sz="1250" b="1">
                <a:solidFill>
                  <a:srgbClr val="007986"/>
                </a:solidFill>
                <a:latin typeface="Courier New"/>
              </a:rPr>
              <a:t>t</a:t>
            </a:r>
            <a:r>
              <a:rPr sz="1250" b="1">
                <a:solidFill>
                  <a:srgbClr val="007986"/>
                </a:solidFill>
                <a:latin typeface="Courier New"/>
              </a:rPr>
              <a:t>y</a:t>
            </a:r>
            <a:r>
              <a:rPr sz="1250">
                <a:solidFill>
                  <a:srgbClr val="1C272B"/>
                </a:solidFill>
                <a:latin typeface="Courier New"/>
              </a:rPr>
              <a:t> 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v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  <a:r>
              <a:rPr sz="1250" b="1">
                <a:solidFill>
                  <a:srgbClr val="007986"/>
                </a:solidFill>
                <a:latin typeface="Courier New"/>
              </a:rPr>
              <a:t>r</a:t>
            </a:r>
            <a:r>
              <a:rPr sz="1250" b="1">
                <a:solidFill>
                  <a:srgbClr val="007986"/>
                </a:solidFill>
                <a:latin typeface="Courier New"/>
              </a:rPr>
              <a:t>a</a:t>
            </a:r>
            <a:r>
              <a:rPr sz="1250" b="1">
                <a:solidFill>
                  <a:srgbClr val="007986"/>
                </a:solidFill>
                <a:latin typeface="Courier New"/>
              </a:rPr>
              <a:t>g</a:t>
            </a:r>
            <a:r>
              <a:rPr sz="1250" b="1">
                <a:solidFill>
                  <a:srgbClr val="007986"/>
                </a:solidFill>
                <a:latin typeface="Courier New"/>
              </a:rPr>
              <a:t>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1755648"/>
            <a:ext cx="45720" cy="887952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CHIP"/>
          <p:cNvSpPr txBox="1"/>
          <p:nvPr/>
        </p:nvSpPr>
        <p:spPr>
          <a:xfrm>
            <a:off x="8119872" y="1764792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3017520"/>
            <a:ext cx="960120" cy="66293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1016" y="3017520"/>
            <a:ext cx="7562088" cy="66293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A year after the programme began, households in the treatment locality spend about 15 dollars less on health than households in the control locality.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3694176"/>
            <a:ext cx="8522208" cy="853440"/>
          </a:xfrm>
          <a:prstGeom prst="rect">
            <a:avLst/>
          </a:prstGeom>
          <a:solidFill>
            <a:srgbClr val="FDF0EB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FF5722"/>
                </a:solidFill>
              </a:rPr>
              <a:t>Significant is not causal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A gap this large is unlikely if the programme did nothing — but that alone does not prove it caused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" y="3694176"/>
            <a:ext cx="50292" cy="85344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7   A N D  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Question 8  Adding controls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8. Repeat Question 7, controlling for educhh, hhsize and pscore.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Add regressors with +. No rearranging of columns required.</a:t>
            </a:r>
          </a:p>
        </p:txBody>
      </p:sp>
      <p:sp>
        <p:nvSpPr>
          <p:cNvPr id="6" name="Oval 5"/>
          <p:cNvSpPr/>
          <p:nvPr/>
        </p:nvSpPr>
        <p:spPr>
          <a:xfrm>
            <a:off x="310896" y="168249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5049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Copy the lm() line from Question 7</a:t>
            </a:r>
          </a:p>
        </p:txBody>
      </p:sp>
      <p:sp>
        <p:nvSpPr>
          <p:cNvPr id="8" name="Oval 7"/>
          <p:cNvSpPr/>
          <p:nvPr/>
        </p:nvSpPr>
        <p:spPr>
          <a:xfrm>
            <a:off x="310896" y="1967611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7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Add + educhh + hhsize + pscore inside the formula</a:t>
            </a:r>
          </a:p>
        </p:txBody>
      </p:sp>
      <p:sp>
        <p:nvSpPr>
          <p:cNvPr id="10" name="Oval 9"/>
          <p:cNvSpPr/>
          <p:nvPr/>
        </p:nvSpPr>
        <p:spPr>
          <a:xfrm>
            <a:off x="310896" y="2252726"/>
            <a:ext cx="237744" cy="237744"/>
          </a:xfrm>
          <a:prstGeom prst="ellipse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0722"/>
            <a:ext cx="7900416" cy="24853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212121"/>
                </a:solidFill>
              </a:rPr>
              <a:t>Store it as m2 and run summary(m2)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" y="2834640"/>
            <a:ext cx="8522208" cy="633983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007986"/>
                </a:solidFill>
                <a:latin typeface="Courier New"/>
              </a:rPr>
              <a:t>m</a:t>
            </a:r>
            <a:r>
              <a:rPr sz="1200">
                <a:solidFill>
                  <a:srgbClr val="6A4C9C"/>
                </a:solidFill>
                <a:latin typeface="Courier New"/>
              </a:rPr>
              <a:t>2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&lt;</a:t>
            </a:r>
            <a:r>
              <a:rPr sz="1200">
                <a:solidFill>
                  <a:srgbClr val="1C272B"/>
                </a:solidFill>
                <a:latin typeface="Courier New"/>
              </a:rPr>
              <a:t>-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lm</a:t>
            </a:r>
            <a:r>
              <a:rPr sz="1200">
                <a:solidFill>
                  <a:srgbClr val="1C272B"/>
                </a:solidFill>
                <a:latin typeface="Courier New"/>
              </a:rPr>
              <a:t>(</a:t>
            </a:r>
            <a:r>
              <a:rPr sz="1200" b="1">
                <a:solidFill>
                  <a:srgbClr val="007986"/>
                </a:solidFill>
                <a:latin typeface="Courier New"/>
              </a:rPr>
              <a:t>h</a:t>
            </a:r>
            <a:r>
              <a:rPr sz="1200" b="1">
                <a:solidFill>
                  <a:srgbClr val="007986"/>
                </a:solidFill>
                <a:latin typeface="Courier New"/>
              </a:rPr>
              <a:t>h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~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t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a</a:t>
            </a:r>
            <a:r>
              <a:rPr sz="1200" b="1">
                <a:solidFill>
                  <a:srgbClr val="007986"/>
                </a:solidFill>
                <a:latin typeface="Courier New"/>
              </a:rPr>
              <a:t>t</a:t>
            </a:r>
            <a:r>
              <a:rPr sz="1200" b="1">
                <a:solidFill>
                  <a:srgbClr val="007986"/>
                </a:solidFill>
                <a:latin typeface="Courier New"/>
              </a:rPr>
              <a:t>c</a:t>
            </a:r>
            <a:r>
              <a:rPr sz="1200" b="1">
                <a:solidFill>
                  <a:srgbClr val="007986"/>
                </a:solidFill>
                <a:latin typeface="Courier New"/>
              </a:rPr>
              <a:t>o</a:t>
            </a:r>
            <a:r>
              <a:rPr sz="1200" b="1">
                <a:solidFill>
                  <a:srgbClr val="007986"/>
                </a:solidFill>
                <a:latin typeface="Courier New"/>
              </a:rPr>
              <a:t>m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+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 b="1">
                <a:solidFill>
                  <a:srgbClr val="007986"/>
                </a:solidFill>
                <a:latin typeface="Courier New"/>
              </a:rPr>
              <a:t>d</a:t>
            </a:r>
            <a:r>
              <a:rPr sz="1200" b="1">
                <a:solidFill>
                  <a:srgbClr val="007986"/>
                </a:solidFill>
                <a:latin typeface="Courier New"/>
              </a:rPr>
              <a:t>u</a:t>
            </a:r>
            <a:r>
              <a:rPr sz="1200" b="1">
                <a:solidFill>
                  <a:srgbClr val="007986"/>
                </a:solidFill>
                <a:latin typeface="Courier New"/>
              </a:rPr>
              <a:t>c</a:t>
            </a:r>
            <a:r>
              <a:rPr sz="1200" b="1">
                <a:solidFill>
                  <a:srgbClr val="007986"/>
                </a:solidFill>
                <a:latin typeface="Courier New"/>
              </a:rPr>
              <a:t>h</a:t>
            </a:r>
            <a:r>
              <a:rPr sz="1200" b="1">
                <a:solidFill>
                  <a:srgbClr val="007986"/>
                </a:solidFill>
                <a:latin typeface="Courier New"/>
              </a:rPr>
              <a:t>h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+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h</a:t>
            </a:r>
            <a:r>
              <a:rPr sz="1200" b="1">
                <a:solidFill>
                  <a:srgbClr val="007986"/>
                </a:solidFill>
                <a:latin typeface="Courier New"/>
              </a:rPr>
              <a:t>h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 b="1">
                <a:solidFill>
                  <a:srgbClr val="007986"/>
                </a:solidFill>
                <a:latin typeface="Courier New"/>
              </a:rPr>
              <a:t>i</a:t>
            </a:r>
            <a:r>
              <a:rPr sz="1200" b="1">
                <a:solidFill>
                  <a:srgbClr val="007986"/>
                </a:solidFill>
                <a:latin typeface="Courier New"/>
              </a:rPr>
              <a:t>z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+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p</a:t>
            </a:r>
            <a:r>
              <a:rPr sz="1200" b="1">
                <a:solidFill>
                  <a:srgbClr val="007986"/>
                </a:solidFill>
                <a:latin typeface="Courier New"/>
              </a:rPr>
              <a:t>s</a:t>
            </a:r>
            <a:r>
              <a:rPr sz="1200" b="1">
                <a:solidFill>
                  <a:srgbClr val="007986"/>
                </a:solidFill>
                <a:latin typeface="Courier New"/>
              </a:rPr>
              <a:t>c</a:t>
            </a:r>
            <a:r>
              <a:rPr sz="1200" b="1">
                <a:solidFill>
                  <a:srgbClr val="007986"/>
                </a:solidFill>
                <a:latin typeface="Courier New"/>
              </a:rPr>
              <a:t>o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 b="1">
                <a:solidFill>
                  <a:srgbClr val="007986"/>
                </a:solidFill>
                <a:latin typeface="Courier New"/>
              </a:rPr>
              <a:t>e</a:t>
            </a:r>
            <a:r>
              <a:rPr sz="1200">
                <a:solidFill>
                  <a:srgbClr val="1C272B"/>
                </a:solidFill>
                <a:latin typeface="Courier New"/>
              </a:rPr>
              <a:t>,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d</a:t>
            </a:r>
            <a:r>
              <a:rPr sz="1200" b="1">
                <a:solidFill>
                  <a:srgbClr val="007986"/>
                </a:solidFill>
                <a:latin typeface="Courier New"/>
              </a:rPr>
              <a:t>a</a:t>
            </a:r>
            <a:r>
              <a:rPr sz="1200" b="1">
                <a:solidFill>
                  <a:srgbClr val="007986"/>
                </a:solidFill>
                <a:latin typeface="Courier New"/>
              </a:rPr>
              <a:t>t</a:t>
            </a:r>
            <a:r>
              <a:rPr sz="1200" b="1">
                <a:solidFill>
                  <a:srgbClr val="007986"/>
                </a:solidFill>
                <a:latin typeface="Courier New"/>
              </a:rPr>
              <a:t>a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>
                <a:solidFill>
                  <a:srgbClr val="1C272B"/>
                </a:solidFill>
                <a:latin typeface="Courier New"/>
              </a:rPr>
              <a:t>=</a:t>
            </a:r>
            <a:r>
              <a:rPr sz="1200">
                <a:solidFill>
                  <a:srgbClr val="1C272B"/>
                </a:solidFill>
                <a:latin typeface="Courier New"/>
              </a:rPr>
              <a:t> </a:t>
            </a:r>
            <a:r>
              <a:rPr sz="1200" b="1">
                <a:solidFill>
                  <a:srgbClr val="007986"/>
                </a:solidFill>
                <a:latin typeface="Courier New"/>
              </a:rPr>
              <a:t>r</a:t>
            </a:r>
            <a:r>
              <a:rPr sz="1200">
                <a:solidFill>
                  <a:srgbClr val="6A4C9C"/>
                </a:solidFill>
                <a:latin typeface="Courier New"/>
              </a:rPr>
              <a:t>1</a:t>
            </a:r>
            <a:r>
              <a:rPr sz="1200">
                <a:solidFill>
                  <a:srgbClr val="1C272B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  <a:buNone/>
            </a:pPr>
            <a:r>
              <a:rPr sz="1200" b="1">
                <a:solidFill>
                  <a:srgbClr val="007986"/>
                </a:solidFill>
                <a:latin typeface="Courier New"/>
              </a:rPr>
              <a:t>summary</a:t>
            </a:r>
            <a:r>
              <a:rPr sz="1200">
                <a:solidFill>
                  <a:srgbClr val="1C272B"/>
                </a:solidFill>
                <a:latin typeface="Courier New"/>
              </a:rPr>
              <a:t>(</a:t>
            </a:r>
            <a:r>
              <a:rPr sz="1200" b="1">
                <a:solidFill>
                  <a:srgbClr val="007986"/>
                </a:solidFill>
                <a:latin typeface="Courier New"/>
              </a:rPr>
              <a:t>m</a:t>
            </a:r>
            <a:r>
              <a:rPr sz="1200">
                <a:solidFill>
                  <a:srgbClr val="6A4C9C"/>
                </a:solidFill>
                <a:latin typeface="Courier New"/>
              </a:rPr>
              <a:t>2</a:t>
            </a:r>
            <a:r>
              <a:rPr sz="120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889504"/>
            <a:ext cx="45720" cy="524255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ZCHIP"/>
          <p:cNvSpPr txBox="1"/>
          <p:nvPr/>
        </p:nvSpPr>
        <p:spPr>
          <a:xfrm>
            <a:off x="8119872" y="2898648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3767328"/>
            <a:ext cx="8522208" cy="605536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 formula names the variables, so they can sit anywhere in the data and go in any order. Nothing needs rearranging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3767328"/>
            <a:ext cx="50292" cy="60553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7   A N D  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Q8  Results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8. Repeat Question 7, controlling for educhh, hhsize and pscore.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" y="1316736"/>
            <a:ext cx="8522208" cy="385381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050" b="1">
                <a:solidFill>
                  <a:srgbClr val="007986"/>
                </a:solidFill>
                <a:latin typeface="Courier New"/>
              </a:rPr>
              <a:t>summary</a:t>
            </a:r>
            <a:r>
              <a:rPr sz="1050">
                <a:solidFill>
                  <a:srgbClr val="1C272B"/>
                </a:solidFill>
                <a:latin typeface="Courier New"/>
              </a:rPr>
              <a:t>(</a:t>
            </a:r>
            <a:r>
              <a:rPr sz="1050" b="1">
                <a:solidFill>
                  <a:srgbClr val="007986"/>
                </a:solidFill>
                <a:latin typeface="Courier New"/>
              </a:rPr>
              <a:t>m</a:t>
            </a:r>
            <a:r>
              <a:rPr sz="1050">
                <a:solidFill>
                  <a:srgbClr val="6A4C9C"/>
                </a:solidFill>
                <a:latin typeface="Courier New"/>
              </a:rPr>
              <a:t>2</a:t>
            </a:r>
            <a:r>
              <a:rPr sz="1050">
                <a:solidFill>
                  <a:srgbClr val="1C272B"/>
                </a:solidFill>
                <a:latin typeface="Courier New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" y="1371600"/>
            <a:ext cx="45720" cy="275653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CHIP"/>
          <p:cNvSpPr txBox="1"/>
          <p:nvPr/>
        </p:nvSpPr>
        <p:spPr>
          <a:xfrm>
            <a:off x="8119872" y="1380744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793556"/>
            <a:ext cx="8522208" cy="1352169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9525">
            <a:solidFill>
              <a:srgbClr val="E1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658368" tIns="100584" bIns="73152"/>
          <a:lstStyle/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            Estimate Std. Error t value Pr(&gt;|t|)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(Intercept) 63.72961   14.47047   4.404 1.53e-05 ***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treatcom   -20.37540    4.14544  -4.915 1.54e-06 ***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educhh      -2.62528    0.79906  -3.285  0.00115 ** 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hhsize      -5.25988    0.91935  -5.721 2.80e-08 ***</a:t>
            </a:r>
          </a:p>
          <a:p>
            <a:pPr algn="l">
              <a:spcAft>
                <a:spcPts val="0"/>
              </a:spcAft>
              <a:buNone/>
            </a:pPr>
            <a:r>
              <a:rPr sz="1050">
                <a:solidFill>
                  <a:srgbClr val="1C272B"/>
                </a:solidFill>
                <a:latin typeface="Courier New"/>
              </a:rPr>
              <a:t>pscore       0.07023    0.01535   4.576 7.24e-06 ***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1848421"/>
            <a:ext cx="45720" cy="1242441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ZCHIP"/>
          <p:cNvSpPr txBox="1"/>
          <p:nvPr/>
        </p:nvSpPr>
        <p:spPr>
          <a:xfrm>
            <a:off x="8119872" y="1857564"/>
            <a:ext cx="60350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455A64"/>
                </a:solidFill>
              </a:rPr>
              <a:t>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3602736"/>
            <a:ext cx="960120" cy="42290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bIns="0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1016" y="3602736"/>
            <a:ext cx="7562088" cy="422909"/>
          </a:xfrm>
          <a:prstGeom prst="rect">
            <a:avLst/>
          </a:prstGeom>
          <a:solidFill>
            <a:srgbClr val="E8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64008"/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212121"/>
                </a:solidFill>
              </a:rPr>
              <a:t>With controls, the estimated impact grows from −15.12 to −20.38 dollars.</a:t>
            </a:r>
          </a:p>
        </p:txBody>
      </p:sp>
      <p:sp>
        <p:nvSpPr>
          <p:cNvPr id="13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7   A N D  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Q8  What the controls tell you</a:t>
            </a:r>
          </a:p>
        </p:txBody>
      </p:sp>
      <p:sp>
        <p:nvSpPr>
          <p:cNvPr id="3" name="ZQBANNER"/>
          <p:cNvSpPr txBox="1"/>
          <p:nvPr/>
        </p:nvSpPr>
        <p:spPr>
          <a:xfrm>
            <a:off x="310896" y="905256"/>
            <a:ext cx="8522208" cy="269621"/>
          </a:xfrm>
          <a:prstGeom prst="rect">
            <a:avLst/>
          </a:prstGeom>
          <a:noFill/>
        </p:spPr>
        <p:txBody>
          <a:bodyPr wrap="square" tIns="27432" bIns="0" rIns="73152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>
                <a:solidFill>
                  <a:srgbClr val="37474F"/>
                </a:solidFill>
              </a:rPr>
              <a:t>8. Repeat Question 7, controlling for educhh, hhsize and pscore.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905256"/>
            <a:ext cx="32004" cy="233045"/>
          </a:xfrm>
          <a:prstGeom prst="rect">
            <a:avLst/>
          </a:prstGeom>
          <a:solidFill>
            <a:srgbClr val="C5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1248029"/>
            <a:ext cx="8522208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212121"/>
                </a:solidFill>
              </a:rPr>
              <a:t>Each coefficient is the effect of that variable, holding the others fixed.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0896" y="1700784"/>
          <a:ext cx="852220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4681728"/>
              </a:tblGrid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Coefficient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Reading it</a:t>
                      </a:r>
                    </a:p>
                  </a:txBody>
                  <a:tcPr marL="73152" marR="54864" marT="27432" marB="27432" anchor="ctr">
                    <a:solidFill>
                      <a:srgbClr val="455A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Treatment locality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−20.38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the programme's estimated impact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Household head education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−2.63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each extra year of schooling, ~$2.63 less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Household size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−5.26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each extra member, ~$5.26 less per capita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Poverty index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0.07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C272B"/>
                          </a:solidFill>
                        </a:rPr>
                        <a:t>poorer households spend slightly more</a:t>
                      </a:r>
                    </a:p>
                  </a:txBody>
                  <a:tcPr marL="73152" marR="54864" marT="27432" marB="27432" anchor="ctr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0896" y="3584448"/>
            <a:ext cx="8522208" cy="605536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wrap="square" lIns="146304" tIns="73152" rIns="109728" bIns="54864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212121"/>
                </a:solidFill>
              </a:rPr>
              <a:t>The impact grows because the treatment locality differs from the control at baseline. Controlling for those differences separates the programme's effect from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3584448"/>
            <a:ext cx="50292" cy="605536"/>
          </a:xfrm>
          <a:prstGeom prst="rect">
            <a:avLst/>
          </a:prstGeom>
          <a:solidFill>
            <a:srgbClr val="455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Q U E S T I O N S   7   A N D  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481328"/>
            <a:ext cx="7589520" cy="13716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300" b="1" i="0">
                <a:solidFill>
                  <a:srgbClr val="212121"/>
                </a:solidFill>
              </a:rPr>
              <a:t>Wrapping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68096" y="1170432"/>
            <a:ext cx="1051560" cy="685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889504"/>
            <a:ext cx="722376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37474F"/>
                </a:solidFill>
              </a:rPr>
              <a:t>What you did, and what to carry forward.</a:t>
            </a:r>
          </a:p>
        </p:txBody>
      </p:sp>
      <p:sp>
        <p:nvSpPr>
          <p:cNvPr id="5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P A R T   8   O F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384048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You're done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28575"/>
            <a:ext cx="8520600" cy="34164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Does anyone have questions about a step?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Which parts of the syntax felt natural, and which felt fiddly?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Where did you have to stop and think about households versus observations?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What would you want to look up again next time?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12121"/>
                </a:solidFill>
              </a:rPr>
              <a:t>Keep the notebook — it is the fastest way to remember the syntax later.</a:t>
            </a:r>
          </a:p>
        </p:txBody>
      </p:sp>
      <p:sp>
        <p:nvSpPr>
          <p:cNvPr id="4" name="ZKICKER"/>
          <p:cNvSpPr txBox="1"/>
          <p:nvPr/>
        </p:nvSpPr>
        <p:spPr>
          <a:xfrm>
            <a:off x="310896" y="118872"/>
            <a:ext cx="7726679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 i="0">
                <a:solidFill>
                  <a:srgbClr val="FF5722"/>
                </a:solidFill>
              </a:rPr>
              <a:t>W R A P P I N G   U P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850392"/>
            <a:ext cx="786384" cy="41148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867765"/>
            <a:ext cx="7735824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6448" y="137160"/>
            <a:ext cx="676656" cy="237744"/>
          </a:xfrm>
          <a:prstGeom prst="rect">
            <a:avLst/>
          </a:prstGeom>
          <a:noFill/>
        </p:spPr>
        <p:txBody>
          <a:bodyPr wrap="none" lIns="0" rIns="0" t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07D8B"/>
                </a:solidFill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37744"/>
            <a:ext cx="7726679" cy="53035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212121"/>
                </a:solidFill>
              </a:rPr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Developed by DITI Research and Teaching Fellows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All materials: https://github.com/NULabNortheastern/digitalassignmentshowcase/tree/main/coding_quantitative/fa26-prina-econ3291-excel_r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Please fill out this survey to give us feedback: https://bit.ly/diti-feedback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For more information on DITI, please see: https://bit.ly/diti-about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Schedule an appointment with us! https://bit.ly/diti-meeting</a:t>
            </a:r>
          </a:p>
          <a:p>
            <a:pPr>
              <a:spcAft>
                <a:spcPts val="500"/>
              </a:spcAft>
            </a:pPr>
            <a:r>
              <a:rPr sz="1500" b="0" i="0">
                <a:solidFill>
                  <a:srgbClr val="212121"/>
                </a:solidFill>
              </a:rPr>
              <a:t>If you have any questions, contact us at: nulab.info@gmail.com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TI Slides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TI Slides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