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</p:sldIdLst>
  <p:sldSz cy="5143500" cx="9144000"/>
  <p:notesSz cx="6858000" cy="9144000"/>
  <p:embeddedFontLst>
    <p:embeddedFont>
      <p:font typeface="Proxima Nova"/>
      <p:regular r:id="rId54"/>
      <p:bold r:id="rId55"/>
      <p:italic r:id="rId56"/>
      <p:boldItalic r:id="rId57"/>
    </p:embeddedFont>
    <p:embeddedFont>
      <p:font typeface="Roboto"/>
      <p:regular r:id="rId58"/>
      <p:bold r:id="rId59"/>
      <p:italic r:id="rId60"/>
      <p:boldItalic r:id="rId61"/>
    </p:embeddedFont>
    <p:embeddedFont>
      <p:font typeface="Alfa Slab One"/>
      <p:regular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Sarah Connell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54" Type="http://schemas.openxmlformats.org/officeDocument/2006/relationships/font" Target="fonts/ProximaNova-regular.fntdata"/><Relationship Id="rId55" Type="http://schemas.openxmlformats.org/officeDocument/2006/relationships/font" Target="fonts/ProximaNova-bold.fntdata"/><Relationship Id="rId56" Type="http://schemas.openxmlformats.org/officeDocument/2006/relationships/font" Target="fonts/ProximaNova-italic.fntdata"/><Relationship Id="rId57" Type="http://schemas.openxmlformats.org/officeDocument/2006/relationships/font" Target="fonts/ProximaNova-boldItalic.fntdata"/><Relationship Id="rId58" Type="http://schemas.openxmlformats.org/officeDocument/2006/relationships/font" Target="fonts/Roboto-regular.fntdata"/><Relationship Id="rId59" Type="http://schemas.openxmlformats.org/officeDocument/2006/relationships/font" Target="fonts/Roboto-bold.fntdata"/><Relationship Id="rId60" Type="http://schemas.openxmlformats.org/officeDocument/2006/relationships/font" Target="fonts/Roboto-italic.fntdata"/><Relationship Id="rId61" Type="http://schemas.openxmlformats.org/officeDocument/2006/relationships/font" Target="fonts/Roboto-boldItalic.fntdata"/><Relationship Id="rId62" Type="http://schemas.openxmlformats.org/officeDocument/2006/relationships/font" Target="fonts/AlfaSlabOne-regular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14"/>
          <p:cNvCxnSpPr/>
          <p:nvPr/>
        </p:nvCxnSpPr>
        <p:spPr>
          <a:xfrm>
            <a:off x="4278300" y="2350188"/>
            <a:ext cx="587400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0" y="2226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b="1"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028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1" name="Google Shape;81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" name="Google Shape;82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21"/>
          <p:cNvSpPr txBox="1"/>
          <p:nvPr/>
        </p:nvSpPr>
        <p:spPr>
          <a:xfrm>
            <a:off x="6187300" y="4661700"/>
            <a:ext cx="2956500" cy="4818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Cambria"/>
                <a:ea typeface="Cambria"/>
                <a:cs typeface="Cambria"/>
                <a:sym typeface="Cambria"/>
              </a:rPr>
              <a:t>Feel free to ask questions at any point during the presentation!</a:t>
            </a:r>
            <a:endParaRPr i="1"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pic>
        <p:nvPicPr>
          <p:cNvPr descr="Logo for the NULab for Digital Humanities and Computational Social Science" id="87" name="Google Shape;87;p22"/>
          <p:cNvPicPr preferRelativeResize="0"/>
          <p:nvPr/>
        </p:nvPicPr>
        <p:blipFill rotWithShape="1">
          <a:blip r:embed="rId2">
            <a:alphaModFix/>
          </a:blip>
          <a:srcRect b="27753" l="5347" r="9095" t="29603"/>
          <a:stretch/>
        </p:blipFill>
        <p:spPr>
          <a:xfrm>
            <a:off x="0" y="4444975"/>
            <a:ext cx="2550528" cy="70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55600" lvl="1" marL="914400" rtl="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42900" lvl="2" marL="1371600" rtl="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ogo for the NULab for Digital Humanities and Computational Social Science" id="92" name="Google Shape;92;p23"/>
          <p:cNvPicPr preferRelativeResize="0"/>
          <p:nvPr/>
        </p:nvPicPr>
        <p:blipFill rotWithShape="1">
          <a:blip r:embed="rId2">
            <a:alphaModFix/>
          </a:blip>
          <a:srcRect b="27753" l="5347" r="9095" t="29603"/>
          <a:stretch/>
        </p:blipFill>
        <p:spPr>
          <a:xfrm>
            <a:off x="0" y="4444975"/>
            <a:ext cx="2550528" cy="70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ogo for the NULab for Digital Humanities and Computational Social Science" id="95" name="Google Shape;95;p24"/>
          <p:cNvPicPr preferRelativeResize="0"/>
          <p:nvPr/>
        </p:nvPicPr>
        <p:blipFill rotWithShape="1">
          <a:blip r:embed="rId2">
            <a:alphaModFix/>
          </a:blip>
          <a:srcRect b="27753" l="5347" r="9095" t="29603"/>
          <a:stretch/>
        </p:blipFill>
        <p:spPr>
          <a:xfrm>
            <a:off x="0" y="4444975"/>
            <a:ext cx="2550528" cy="70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26"/>
          <p:cNvCxnSpPr/>
          <p:nvPr/>
        </p:nvCxnSpPr>
        <p:spPr>
          <a:xfrm>
            <a:off x="4278300" y="2350188"/>
            <a:ext cx="587400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26"/>
          <p:cNvSpPr txBox="1"/>
          <p:nvPr>
            <p:ph type="ctrTitle"/>
          </p:nvPr>
        </p:nvSpPr>
        <p:spPr>
          <a:xfrm>
            <a:off x="311700" y="2226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b="1"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03" name="Google Shape;103;p26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" type="body"/>
          </p:nvPr>
        </p:nvSpPr>
        <p:spPr>
          <a:xfrm>
            <a:off x="311700" y="1028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ogo for the NULab for Digital Humanities and Computational Social Science" id="112" name="Google Shape;112;p28"/>
          <p:cNvPicPr preferRelativeResize="0"/>
          <p:nvPr/>
        </p:nvPicPr>
        <p:blipFill rotWithShape="1">
          <a:blip r:embed="rId2">
            <a:alphaModFix/>
          </a:blip>
          <a:srcRect b="27753" l="5347" r="9095" t="29603"/>
          <a:stretch/>
        </p:blipFill>
        <p:spPr>
          <a:xfrm>
            <a:off x="0" y="4573675"/>
            <a:ext cx="2082540" cy="57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9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7" name="Google Shape;1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31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" name="Google Shape;130;p3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33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32" name="Google Shape;132;p33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3" name="Google Shape;133;p3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137" name="Google Shape;13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55600" lvl="1" marL="9144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D0E0E"/>
              </a:buClr>
              <a:buSzPts val="3600"/>
              <a:buFont typeface="Cambria"/>
              <a:buNone/>
              <a:defRPr b="1" sz="3600">
                <a:solidFill>
                  <a:srgbClr val="ED0E0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Char char="●"/>
              <a:defRPr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556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mbria"/>
              <a:buChar char="○"/>
              <a:defRPr sz="20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429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Char char="■"/>
              <a:defRPr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●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○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■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●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○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ambria"/>
              <a:buChar char="■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6187300" y="4661700"/>
            <a:ext cx="2956500" cy="4818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Cambria"/>
                <a:ea typeface="Cambria"/>
                <a:cs typeface="Cambria"/>
                <a:sym typeface="Cambria"/>
              </a:rPr>
              <a:t>Feel free to ask questions at any point during the presentation!</a:t>
            </a:r>
            <a:endParaRPr i="1"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8595108" y="4762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‹#›</a:t>
            </a:fld>
            <a:endParaRPr sz="20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6" name="Google Shape;56;p13" title="NULab for Digital Humanities_RGB_Monogram_Red+B (3)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333175"/>
            <a:ext cx="2186034" cy="810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D0E0E"/>
              </a:buClr>
              <a:buSzPts val="3600"/>
              <a:buFont typeface="Cambria"/>
              <a:buNone/>
              <a:defRPr b="1" sz="3600">
                <a:solidFill>
                  <a:srgbClr val="ED0E0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Char char="●"/>
              <a:defRPr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556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mbria"/>
              <a:buChar char="○"/>
              <a:defRPr sz="20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Char char="■"/>
              <a:defRPr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●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○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■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●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○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ambria"/>
              <a:buChar char="■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896" y="475488"/>
            <a:ext cx="8229600" cy="96012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400" b="1" i="0">
                <a:solidFill>
                  <a:srgbClr val="212121"/>
                </a:solidFill>
              </a:rPr>
              <a:t>Excel or R: which tool for which job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0" y="3165823"/>
            <a:ext cx="8520600" cy="841248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sz="1450" b="0" i="0">
                <a:solidFill>
                  <a:srgbClr val="37474F"/>
                </a:solidFill>
              </a:rPr>
              <a:t>ECON 3291: Development Economics  •  Professor Silvia Prina</a:t>
            </a:r>
          </a:p>
          <a:p>
            <a:pPr>
              <a:spcAft>
                <a:spcPts val="200"/>
              </a:spcAft>
            </a:pPr>
            <a:r>
              <a:rPr sz="1450" b="0" i="0">
                <a:solidFill>
                  <a:srgbClr val="37474F"/>
                </a:solidFill>
              </a:rPr>
              <a:t>Taught by Sean Rogers  ·  DITI Research and Teaching Fellows</a:t>
            </a:r>
          </a:p>
          <a:p>
            <a:pPr>
              <a:spcAft>
                <a:spcPts val="200"/>
              </a:spcAft>
            </a:pPr>
            <a:r>
              <a:rPr sz="1450" b="0" i="0">
                <a:solidFill>
                  <a:srgbClr val="37474F"/>
                </a:solidFill>
              </a:rPr>
              <a:t>Fall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883664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2103120"/>
            <a:ext cx="694944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37474F"/>
                </a:solidFill>
              </a:rPr>
              <a:t>A practical guide to picking the right tool for a task — and to using the two together, which is what most real projects actually 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What this module is for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You can already do the work in both. This is about deciding which one to open.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1572768"/>
            <a:ext cx="2743200" cy="1115568"/>
          </a:xfrm>
          <a:prstGeom prst="rect">
            <a:avLst/>
          </a:prstGeom>
          <a:solidFill>
            <a:srgbClr val="F7F9FA"/>
          </a:solidFill>
          <a:ln w="9525">
            <a:solidFill>
              <a:srgbClr val="D9D9D9"/>
            </a:solidFill>
          </a:ln>
        </p:spPr>
        <p:txBody>
          <a:bodyPr wrap="square" lIns="109728" tIns="73152" rIns="82296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455A64"/>
                </a:solidFill>
              </a:rPr>
              <a:t>Choose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12121"/>
                </a:solidFill>
              </a:rPr>
              <a:t>match the tool to the job, and say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72768"/>
            <a:ext cx="2743200" cy="1115568"/>
          </a:xfrm>
          <a:prstGeom prst="rect">
            <a:avLst/>
          </a:prstGeom>
          <a:solidFill>
            <a:srgbClr val="F7F9FA"/>
          </a:solidFill>
          <a:ln w="9525">
            <a:solidFill>
              <a:srgbClr val="D9D9D9"/>
            </a:solidFill>
          </a:ln>
        </p:spPr>
        <p:txBody>
          <a:bodyPr wrap="square" lIns="109728" tIns="73152" rIns="82296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455A64"/>
                </a:solidFill>
              </a:rPr>
              <a:t>Combine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12121"/>
                </a:solidFill>
              </a:rPr>
              <a:t>use them together in 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9904" y="1572768"/>
            <a:ext cx="2743200" cy="1115568"/>
          </a:xfrm>
          <a:prstGeom prst="rect">
            <a:avLst/>
          </a:prstGeom>
          <a:solidFill>
            <a:srgbClr val="F7F9FA"/>
          </a:solidFill>
          <a:ln w="9525">
            <a:solidFill>
              <a:srgbClr val="D9D9D9"/>
            </a:solidFill>
          </a:ln>
        </p:spPr>
        <p:txBody>
          <a:bodyPr wrap="square" lIns="109728" tIns="73152" rIns="82296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455A64"/>
                </a:solidFill>
              </a:rPr>
              <a:t>Translate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12121"/>
                </a:solidFill>
              </a:rPr>
              <a:t>look up how to do a task in either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" y="2962656"/>
            <a:ext cx="8522208" cy="713232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The honest answer is rarely “always use R”. It is “use the one that fits this job”, and quite often the answer is to use both, in a particular order.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2962656"/>
            <a:ext cx="50292" cy="713232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O V E R V I E 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The short version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If you remember one slide, make it the next one.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1   O F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Which tool, when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Match the job to the tool. Most decisions are already covered here.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554480"/>
          <a:ext cx="8522208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1234440"/>
                <a:gridCol w="3950208"/>
              </a:tblGrid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If the job is…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Reach for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Because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A styled deliverable — a formatted sheet</a:t>
                      </a:r>
                    </a:p>
                    <a:p>
                      <a:r>
                        <a:t>someone will read — and simple analysis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Excel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The formatting is the product, and</a:t>
                      </a:r>
                    </a:p>
                    <a:p>
                      <a:r>
                        <a:t>the stats are not the hard part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Statistical testing over thousands of rows</a:t>
                      </a:r>
                    </a:p>
                    <a:p>
                      <a:r>
                        <a:t>of CSV, with no styling needed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Scale, real test output, and a record</a:t>
                      </a:r>
                    </a:p>
                    <a:p>
                      <a:r>
                        <a:t>of what you ran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Getting to know a dataset you have</a:t>
                      </a:r>
                    </a:p>
                    <a:p>
                      <a:r>
                        <a:t>never opened before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Excel first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Look at it before you trust it —</a:t>
                      </a:r>
                    </a:p>
                    <a:p>
                      <a:r>
                        <a:t>names, types, blanks, quirks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Cleaning messy data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Both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Eyeball and fix oddities in Excel,</a:t>
                      </a:r>
                    </a:p>
                    <a:p>
                      <a:r>
                        <a:t>automate rules in R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Anything you will re-run, or hand to</a:t>
                      </a:r>
                    </a:p>
                    <a:p>
                      <a:r>
                        <a:t>someone who must check it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1C272B"/>
                          </a:solidFill>
                        </a:rPr>
                        <a:t>The script is the record of what</a:t>
                      </a:r>
                    </a:p>
                    <a:p>
                      <a:r>
                        <a:t>you actually did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T H E   S H O R T   V E R S I O N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Five situations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Concrete cases, with a recommendation and the reasoning.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2   O F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You need to hand over a polished spreadsheet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0784" y="896112"/>
            <a:ext cx="7132320" cy="603504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91440" rIns="128016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212121"/>
                </a:solidFill>
              </a:rPr>
              <a:t>The deliverable is a formatted sheet, and the analysis is straightforward.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896112"/>
            <a:ext cx="1353312" cy="60350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wrap="square" lIns="0" rIns="0" tIns="11887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1645920"/>
            <a:ext cx="8522208" cy="214884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The formatting is not decoration — it is the product. Conditional colours, frozen headers, column widths and a print layout are the job.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The statistics are means, counts, shares, maybe a simple regression. Nothing Excel struggles with.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Whoever receives it will open it, click into cells, and change numbers themselves.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Producing this from R means writing styling code to recreate what you can do by hand in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3749039"/>
            <a:ext cx="8522208" cy="605536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Doing it in R and exporting to .xlsx is possible — but only worth it if you will remake the same sheet repeatedly.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3749039"/>
            <a:ext cx="50292" cy="60553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F I V E   S I T U A T I O N 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Statistical testing over thousands of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0784" y="896112"/>
            <a:ext cx="7132320" cy="603504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wrap="square" lIns="146304" tIns="91440" rIns="128016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212121"/>
                </a:solidFill>
              </a:rPr>
              <a:t>Large CSV, real tests, and nobody needs it to look like a spreadsheet.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896112"/>
            <a:ext cx="1353312" cy="603504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wrap="square" lIns="0" rIns="0" tIns="11887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1645920"/>
            <a:ext cx="8522208" cy="214884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Excel slows down, and its row limit is a real ceiling. R does not care about the size.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You get proper test output — coefficients, standard errors, t, p and intervals — without computing anything by hand.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Anything past simple OLS is either awkward or absent in Excel.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Re-running on a new extract is one command, not an afternoon of re-pointing formulas.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3749039"/>
            <a:ext cx="8522208" cy="605536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This is the case where the gap is largest. If the output is a number in a paper rather than a cell in a sheet, use 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3749039"/>
            <a:ext cx="50292" cy="60553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F I V E   S I T U A T I O N 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You have never opened this dataset 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0784" y="896112"/>
            <a:ext cx="7132320" cy="603504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91440" rIns="128016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212121"/>
                </a:solidFill>
              </a:rPr>
              <a:t>Look at the raw file before you point any code at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896112"/>
            <a:ext cx="1353312" cy="60350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wrap="square" lIns="0" rIns="0" tIns="11887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</a:rPr>
              <a:t>EXCEL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1645920"/>
            <a:ext cx="8522208" cy="214884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Read the actual column names. They are often abbreviated, inconsistent, or not what the documentation claims.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Check what one row represents, and whether an ID repeats.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Scan for the quirks that break an import: merged cells, a title row above the headers, blank rows, text in a numeric column, trailing spaces.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Then load it into R knowing what you are getting, instead of debugging a silent failure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3749039"/>
            <a:ext cx="8522208" cy="605536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A column that reads as text because three cells contain “n/a” will produce wrong answers in either tool. Excel shows you that in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3749039"/>
            <a:ext cx="50292" cy="60553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F I V E   S I T U A T I O N 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The data is messy and needs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0784" y="896112"/>
            <a:ext cx="7132320" cy="603504"/>
          </a:xfrm>
          <a:prstGeom prst="rect">
            <a:avLst/>
          </a:prstGeom>
          <a:solidFill>
            <a:srgbClr val="FDF0EB"/>
          </a:solidFill>
          <a:ln>
            <a:noFill/>
          </a:ln>
        </p:spPr>
        <p:txBody>
          <a:bodyPr wrap="square" lIns="146304" tIns="91440" rIns="128016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212121"/>
                </a:solidFill>
              </a:rPr>
              <a:t>Split the work: eyeball and fix in Excel, automate the rules in 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896112"/>
            <a:ext cx="1353312" cy="60350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0" rIns="0" tIns="11887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1645920"/>
            <a:ext cx="8522208" cy="214884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Excel is better for the irregular things — a handful of typos, one stray value, a column that needs looking at to understand.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R is better for anything with a rule: recode every value matching a pattern, fix all the dates, drop every row failing a condition.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The test is whether you can state the fix as a rule. If you can, write it down in R. If it is genuinely one-off, fix it by hand.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Record the hand-fixes somewhere, or your cleaned file becomes impossible to reproduce.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3749039"/>
            <a:ext cx="8522208" cy="42062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Keep the raw file untouched. Clean into a copy, always.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3749039"/>
            <a:ext cx="50292" cy="420624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F I V E   S I T U A T I O N 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You will run this again, or someone must check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0784" y="896112"/>
            <a:ext cx="7132320" cy="603504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wrap="square" lIns="146304" tIns="91440" rIns="128016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212121"/>
                </a:solidFill>
              </a:rPr>
              <a:t>Repetition and scrutiny are what scripts are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896112"/>
            <a:ext cx="1353312" cy="603504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wrap="square" lIns="0" rIns="0" tIns="118872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1645920"/>
            <a:ext cx="8522208" cy="214884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A problem set repeats similar operations on the same data all semester. Write it once.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When the data is corrected in week 9, you change one line and re-run everything.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A grader, co-author or reviewer can read exactly what you did, in order.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212121"/>
                </a:solidFill>
              </a:rPr>
              <a:t>•   In six weeks you will not remember whether you filtered to the baseline round. The script will.</a:t>
            </a:r>
          </a:p>
        </p:txBody>
      </p:sp>
      <p:sp>
        <p:nvSpPr>
          <p:cNvPr id="6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F I V E   S I T U A T I O N 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Using them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The order matters more than the choice.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3   O F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A workflow that uses both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This is what most real projects look like — not one tool, but a sequence.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444752"/>
            <a:ext cx="8138160" cy="2609181"/>
          </a:xfrm>
          <a:prstGeom prst="rect">
            <a:avLst/>
          </a:prstGeom>
        </p:spPr>
      </p:pic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U S I N G   T H E M   T O G E T H E R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Handing data between them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Moving in either direction is a single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1536192"/>
            <a:ext cx="8522208" cy="1849374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200">
                <a:solidFill>
                  <a:srgbClr val="1C272B"/>
                </a:solidFill>
                <a:latin typeface="Courier New"/>
              </a:rPr>
              <a:t>#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x</a:t>
            </a:r>
            <a:r>
              <a:rPr sz="1200" b="1">
                <a:solidFill>
                  <a:srgbClr val="007986"/>
                </a:solidFill>
                <a:latin typeface="Courier New"/>
              </a:rPr>
              <a:t>c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l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→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</a:t>
            </a:r>
          </a:p>
          <a:p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007986"/>
                </a:solidFill>
                <a:latin typeface="Courier New"/>
              </a:rPr>
              <a:t>library</a:t>
            </a:r>
            <a:r>
              <a:rPr sz="1200">
                <a:solidFill>
                  <a:srgbClr val="1C272B"/>
                </a:solidFill>
                <a:latin typeface="Courier New"/>
              </a:rPr>
              <a:t>(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a</a:t>
            </a:r>
            <a:r>
              <a:rPr sz="1200" b="1">
                <a:solidFill>
                  <a:srgbClr val="007986"/>
                </a:solidFill>
                <a:latin typeface="Courier New"/>
              </a:rPr>
              <a:t>d</a:t>
            </a:r>
            <a:r>
              <a:rPr sz="1200" b="1">
                <a:solidFill>
                  <a:srgbClr val="007986"/>
                </a:solidFill>
                <a:latin typeface="Courier New"/>
              </a:rPr>
              <a:t>x</a:t>
            </a:r>
            <a:r>
              <a:rPr sz="1200" b="1">
                <a:solidFill>
                  <a:srgbClr val="007986"/>
                </a:solidFill>
                <a:latin typeface="Courier New"/>
              </a:rPr>
              <a:t>l</a:t>
            </a:r>
            <a:r>
              <a:rPr sz="120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007986"/>
                </a:solidFill>
                <a:latin typeface="Courier New"/>
              </a:rPr>
              <a:t>d</a:t>
            </a:r>
            <a:r>
              <a:rPr sz="1200" b="1">
                <a:solidFill>
                  <a:srgbClr val="007986"/>
                </a:solidFill>
                <a:latin typeface="Courier New"/>
              </a:rPr>
              <a:t>f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&lt;</a:t>
            </a:r>
            <a:r>
              <a:rPr sz="1200">
                <a:solidFill>
                  <a:srgbClr val="1C272B"/>
                </a:solidFill>
                <a:latin typeface="Courier New"/>
              </a:rPr>
              <a:t>-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read_excel</a:t>
            </a:r>
            <a:r>
              <a:rPr sz="1200">
                <a:solidFill>
                  <a:srgbClr val="1C272B"/>
                </a:solidFill>
                <a:latin typeface="Courier New"/>
              </a:rPr>
              <a:t>(</a:t>
            </a:r>
            <a:r>
              <a:rPr sz="1200">
                <a:solidFill>
                  <a:srgbClr val="B03A14"/>
                </a:solidFill>
                <a:latin typeface="Courier New"/>
              </a:rPr>
              <a:t>"data.xlsx"</a:t>
            </a:r>
            <a:r>
              <a:rPr sz="1200">
                <a:solidFill>
                  <a:srgbClr val="1C272B"/>
                </a:solidFill>
                <a:latin typeface="Courier New"/>
              </a:rPr>
              <a:t>,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s</a:t>
            </a:r>
            <a:r>
              <a:rPr sz="1200" b="1">
                <a:solidFill>
                  <a:srgbClr val="007986"/>
                </a:solidFill>
                <a:latin typeface="Courier New"/>
              </a:rPr>
              <a:t>h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t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=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6A4C9C"/>
                </a:solidFill>
                <a:latin typeface="Courier New"/>
              </a:rPr>
              <a:t>1</a:t>
            </a:r>
            <a:r>
              <a:rPr sz="1200">
                <a:solidFill>
                  <a:srgbClr val="1C272B"/>
                </a:solidFill>
                <a:latin typeface="Courier New"/>
              </a:rPr>
              <a:t>)</a:t>
            </a:r>
            <a:r>
              <a:rPr sz="1050" i="1">
                <a:solidFill>
                  <a:srgbClr val="78909C"/>
                </a:solidFill>
                <a:latin typeface="Arial"/>
              </a:rPr>
              <a:t>   # straight from .xlsx</a:t>
            </a:r>
          </a:p>
          <a:p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007986"/>
                </a:solidFill>
                <a:latin typeface="Courier New"/>
              </a:rPr>
              <a:t>d</a:t>
            </a:r>
            <a:r>
              <a:rPr sz="1200" b="1">
                <a:solidFill>
                  <a:srgbClr val="007986"/>
                </a:solidFill>
                <a:latin typeface="Courier New"/>
              </a:rPr>
              <a:t>f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&lt;</a:t>
            </a:r>
            <a:r>
              <a:rPr sz="1200">
                <a:solidFill>
                  <a:srgbClr val="1C272B"/>
                </a:solidFill>
                <a:latin typeface="Courier New"/>
              </a:rPr>
              <a:t>-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read.csv</a:t>
            </a:r>
            <a:r>
              <a:rPr sz="1200">
                <a:solidFill>
                  <a:srgbClr val="1C272B"/>
                </a:solidFill>
                <a:latin typeface="Courier New"/>
              </a:rPr>
              <a:t>(</a:t>
            </a:r>
            <a:r>
              <a:rPr sz="1200">
                <a:solidFill>
                  <a:srgbClr val="B03A14"/>
                </a:solidFill>
                <a:latin typeface="Courier New"/>
              </a:rPr>
              <a:t>"data.csv"</a:t>
            </a:r>
            <a:r>
              <a:rPr sz="1200">
                <a:solidFill>
                  <a:srgbClr val="1C272B"/>
                </a:solidFill>
                <a:latin typeface="Courier New"/>
              </a:rPr>
              <a:t>)</a:t>
            </a:r>
            <a:r>
              <a:rPr sz="1050" i="1">
                <a:solidFill>
                  <a:srgbClr val="78909C"/>
                </a:solidFill>
                <a:latin typeface="Arial"/>
              </a:rPr>
              <a:t>   # or save as CSV first</a:t>
            </a:r>
          </a:p>
          <a:p>
            <a:pPr algn="l">
              <a:spcAft>
                <a:spcPts val="0"/>
              </a:spcAft>
              <a:buNone/>
            </a:pPr>
            <a:r>
              <a:rPr sz="600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200">
                <a:solidFill>
                  <a:srgbClr val="1C272B"/>
                </a:solidFill>
                <a:latin typeface="Courier New"/>
              </a:rPr>
              <a:t>#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→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x</a:t>
            </a:r>
            <a:r>
              <a:rPr sz="1200" b="1">
                <a:solidFill>
                  <a:srgbClr val="007986"/>
                </a:solidFill>
                <a:latin typeface="Courier New"/>
              </a:rPr>
              <a:t>c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l</a:t>
            </a:r>
          </a:p>
          <a:p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007986"/>
                </a:solidFill>
                <a:latin typeface="Courier New"/>
              </a:rPr>
              <a:t>write.csv</a:t>
            </a:r>
            <a:r>
              <a:rPr sz="1200">
                <a:solidFill>
                  <a:srgbClr val="1C272B"/>
                </a:solidFill>
                <a:latin typeface="Courier New"/>
              </a:rPr>
              <a:t>(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s</a:t>
            </a:r>
            <a:r>
              <a:rPr sz="1200" b="1">
                <a:solidFill>
                  <a:srgbClr val="007986"/>
                </a:solidFill>
                <a:latin typeface="Courier New"/>
              </a:rPr>
              <a:t>u</a:t>
            </a:r>
            <a:r>
              <a:rPr sz="1200" b="1">
                <a:solidFill>
                  <a:srgbClr val="007986"/>
                </a:solidFill>
                <a:latin typeface="Courier New"/>
              </a:rPr>
              <a:t>l</a:t>
            </a:r>
            <a:r>
              <a:rPr sz="1200" b="1">
                <a:solidFill>
                  <a:srgbClr val="007986"/>
                </a:solidFill>
                <a:latin typeface="Courier New"/>
              </a:rPr>
              <a:t>t</a:t>
            </a:r>
            <a:r>
              <a:rPr sz="1200" b="1">
                <a:solidFill>
                  <a:srgbClr val="007986"/>
                </a:solidFill>
                <a:latin typeface="Courier New"/>
              </a:rPr>
              <a:t>s</a:t>
            </a:r>
            <a:r>
              <a:rPr sz="1200">
                <a:solidFill>
                  <a:srgbClr val="1C272B"/>
                </a:solidFill>
                <a:latin typeface="Courier New"/>
              </a:rPr>
              <a:t>,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B03A14"/>
                </a:solidFill>
                <a:latin typeface="Courier New"/>
              </a:rPr>
              <a:t>"results.csv"</a:t>
            </a:r>
            <a:r>
              <a:rPr sz="1200">
                <a:solidFill>
                  <a:srgbClr val="1C272B"/>
                </a:solidFill>
                <a:latin typeface="Courier New"/>
              </a:rPr>
              <a:t>,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</a:t>
            </a:r>
            <a:r>
              <a:rPr sz="1200" b="1">
                <a:solidFill>
                  <a:srgbClr val="007986"/>
                </a:solidFill>
                <a:latin typeface="Courier New"/>
              </a:rPr>
              <a:t>o</a:t>
            </a:r>
            <a:r>
              <a:rPr sz="1200" b="1">
                <a:solidFill>
                  <a:srgbClr val="007986"/>
                </a:solidFill>
                <a:latin typeface="Courier New"/>
              </a:rPr>
              <a:t>w</a:t>
            </a:r>
            <a:r>
              <a:rPr sz="1200" b="1">
                <a:solidFill>
                  <a:srgbClr val="007986"/>
                </a:solidFill>
                <a:latin typeface="Courier New"/>
              </a:rPr>
              <a:t>.</a:t>
            </a:r>
            <a:r>
              <a:rPr sz="1200" b="1">
                <a:solidFill>
                  <a:srgbClr val="007986"/>
                </a:solidFill>
                <a:latin typeface="Courier New"/>
              </a:rPr>
              <a:t>n</a:t>
            </a:r>
            <a:r>
              <a:rPr sz="1200" b="1">
                <a:solidFill>
                  <a:srgbClr val="007986"/>
                </a:solidFill>
                <a:latin typeface="Courier New"/>
              </a:rPr>
              <a:t>a</a:t>
            </a:r>
            <a:r>
              <a:rPr sz="1200" b="1">
                <a:solidFill>
                  <a:srgbClr val="007986"/>
                </a:solidFill>
                <a:latin typeface="Courier New"/>
              </a:rPr>
              <a:t>m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s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=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F</a:t>
            </a:r>
            <a:r>
              <a:rPr sz="1200" b="1">
                <a:solidFill>
                  <a:srgbClr val="007986"/>
                </a:solidFill>
                <a:latin typeface="Courier New"/>
              </a:rPr>
              <a:t>A</a:t>
            </a:r>
            <a:r>
              <a:rPr sz="1200" b="1">
                <a:solidFill>
                  <a:srgbClr val="007986"/>
                </a:solidFill>
                <a:latin typeface="Courier New"/>
              </a:rPr>
              <a:t>L</a:t>
            </a:r>
            <a:r>
              <a:rPr sz="1200" b="1">
                <a:solidFill>
                  <a:srgbClr val="007986"/>
                </a:solidFill>
                <a:latin typeface="Courier New"/>
              </a:rPr>
              <a:t>S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007986"/>
                </a:solidFill>
                <a:latin typeface="Courier New"/>
              </a:rPr>
              <a:t>w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</a:t>
            </a:r>
            <a:r>
              <a:rPr sz="1200" b="1">
                <a:solidFill>
                  <a:srgbClr val="007986"/>
                </a:solidFill>
                <a:latin typeface="Courier New"/>
              </a:rPr>
              <a:t>i</a:t>
            </a:r>
            <a:r>
              <a:rPr sz="1200" b="1">
                <a:solidFill>
                  <a:srgbClr val="007986"/>
                </a:solidFill>
                <a:latin typeface="Courier New"/>
              </a:rPr>
              <a:t>t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x</a:t>
            </a:r>
            <a:r>
              <a:rPr sz="1200" b="1">
                <a:solidFill>
                  <a:srgbClr val="007986"/>
                </a:solidFill>
                <a:latin typeface="Courier New"/>
              </a:rPr>
              <a:t>l</a:t>
            </a:r>
            <a:r>
              <a:rPr sz="1200">
                <a:solidFill>
                  <a:srgbClr val="1C272B"/>
                </a:solidFill>
                <a:latin typeface="Courier New"/>
              </a:rPr>
              <a:t>:</a:t>
            </a:r>
            <a:r>
              <a:rPr sz="1200">
                <a:solidFill>
                  <a:srgbClr val="1C272B"/>
                </a:solidFill>
                <a:latin typeface="Courier New"/>
              </a:rPr>
              <a:t>:</a:t>
            </a:r>
            <a:r>
              <a:rPr sz="1200" b="1">
                <a:solidFill>
                  <a:srgbClr val="007986"/>
                </a:solidFill>
                <a:latin typeface="Courier New"/>
              </a:rPr>
              <a:t>write_xlsx</a:t>
            </a:r>
            <a:r>
              <a:rPr sz="1200">
                <a:solidFill>
                  <a:srgbClr val="1C272B"/>
                </a:solidFill>
                <a:latin typeface="Courier New"/>
              </a:rPr>
              <a:t>(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s</a:t>
            </a:r>
            <a:r>
              <a:rPr sz="1200" b="1">
                <a:solidFill>
                  <a:srgbClr val="007986"/>
                </a:solidFill>
                <a:latin typeface="Courier New"/>
              </a:rPr>
              <a:t>u</a:t>
            </a:r>
            <a:r>
              <a:rPr sz="1200" b="1">
                <a:solidFill>
                  <a:srgbClr val="007986"/>
                </a:solidFill>
                <a:latin typeface="Courier New"/>
              </a:rPr>
              <a:t>l</a:t>
            </a:r>
            <a:r>
              <a:rPr sz="1200" b="1">
                <a:solidFill>
                  <a:srgbClr val="007986"/>
                </a:solidFill>
                <a:latin typeface="Courier New"/>
              </a:rPr>
              <a:t>t</a:t>
            </a:r>
            <a:r>
              <a:rPr sz="1200" b="1">
                <a:solidFill>
                  <a:srgbClr val="007986"/>
                </a:solidFill>
                <a:latin typeface="Courier New"/>
              </a:rPr>
              <a:t>s</a:t>
            </a:r>
            <a:r>
              <a:rPr sz="1200">
                <a:solidFill>
                  <a:srgbClr val="1C272B"/>
                </a:solidFill>
                <a:latin typeface="Courier New"/>
              </a:rPr>
              <a:t>,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B03A14"/>
                </a:solidFill>
                <a:latin typeface="Courier New"/>
              </a:rPr>
              <a:t>"results.xlsx"</a:t>
            </a:r>
            <a:r>
              <a:rPr sz="1200">
                <a:solidFill>
                  <a:srgbClr val="1C272B"/>
                </a:solidFill>
                <a:latin typeface="Courier New"/>
              </a:rPr>
              <a:t>)</a:t>
            </a:r>
            <a:r>
              <a:rPr sz="1050" i="1">
                <a:solidFill>
                  <a:srgbClr val="78909C"/>
                </a:solidFill>
                <a:latin typeface="Arial"/>
              </a:rPr>
              <a:t>   # keeps it as a real workbook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1591056"/>
            <a:ext cx="45720" cy="1739645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CHIP"/>
          <p:cNvSpPr txBox="1"/>
          <p:nvPr/>
        </p:nvSpPr>
        <p:spPr>
          <a:xfrm>
            <a:off x="8119872" y="1600200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" y="3529584"/>
            <a:ext cx="8522208" cy="853440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0097A7"/>
                </a:solidFill>
              </a:rPr>
              <a:t>Prefer CSV in between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CSV is the safe interchange format: no formulas, no formatting, no surprises. Save as CSV whenever a file has to cross between tools.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3529584"/>
            <a:ext cx="50292" cy="85344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U S I N G   T H E M   T O G E T H E 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Things that break on the way across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Five failures that account for most bad imports. All five are visible in Excel.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481328"/>
          <a:ext cx="852220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657600"/>
                <a:gridCol w="2807208"/>
              </a:tblGrid>
              <a:tr h="381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breaks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How it shows up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to do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Dates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numbers where you expected dates,</a:t>
                      </a:r>
                    </a:p>
                    <a:p>
                      <a:r>
                        <a:t>or the wrong century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check every date column</a:t>
                      </a:r>
                    </a:p>
                    <a:p>
                      <a:r>
                        <a:t>immediately after import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Leading zeros in IDs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00123 arrives as 123, and</a:t>
                      </a:r>
                    </a:p>
                    <a:p>
                      <a:r>
                        <a:t>your merge silently loses rows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read the ID column as text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Merged cells, title rows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the header ends up as data,</a:t>
                      </a:r>
                    </a:p>
                    <a:p>
                      <a:r>
                        <a:t>column names become X1, X2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delete them before exporting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Text in a numeric column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the whole column imports as text,</a:t>
                      </a:r>
                    </a:p>
                    <a:p>
                      <a:r>
                        <a:t>so mean() fails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find the stray “n/a” or space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Unquoted commas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fields split across columns,</a:t>
                      </a:r>
                    </a:p>
                    <a:p>
                      <a:r>
                        <a:t>row lengths differ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export CSV with quoting 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0896" y="3858768"/>
            <a:ext cx="8522208" cy="402336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Every one of these is obvious in thirty seconds of looking, and invisible if you go straight to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3858768"/>
            <a:ext cx="50292" cy="40233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U S I N G   T H E M   T O G E T H E 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Reference: how you do it in 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Keep these five slides. They are the fastest way to translate when you are stuck.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4   O F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Loading and looking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The first three things you do with any dataset.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627632"/>
          <a:ext cx="852220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310128"/>
                <a:gridCol w="3154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Excel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Open the data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File → Open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df &lt;- read.csv(path)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How many rows?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=COUNTA(A2:A551)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nrow(df)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What are the columns?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read row 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names(df)  /  str(df)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Look at the top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scroll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head(df)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Describe everything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a grid of formulas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summary(df)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R E F E R E N C E :   H O W   Y O U   D O   I T   I N   E A C H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Describing a variable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Excel does one statistic per formula; R can do the whole table in one call.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627632"/>
          <a:ext cx="8522208" cy="1536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310128"/>
                <a:gridCol w="3154680"/>
              </a:tblGrid>
              <a:tr h="30723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Excel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Mean / median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=AVERAGE(r)  /  =MEDIAN(r)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mean(x)  /  median(x)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Std. deviation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=STDEV.S(r)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sd(x)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Minimum / maximum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=MIN(r)  /  =MAX(r)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min(x)  /  max(x)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Several variables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fill the formulas across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sapply(df[vars], ...)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R E F E R E N C E :   H O W   Y O U   D O   I T   I N   E A C H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Counting and subsetting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Both tools make you be explicit about rows versus entities.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627632"/>
          <a:ext cx="852220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310128"/>
                <a:gridCol w="3154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Excel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Count rows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=COUNTA(A2:A551)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nrow(df)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Count distinct entities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=SUMPRODUCT(1/COUNTIF(r,r))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length(unique(df$id))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Rows meeting a rule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=COUNTIFS($E:$E,1)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sum(df$g == 1)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Proportion meeting it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=COUNTIFS(...)/COUNTA(...)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mean(df$g == 1)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Keep a subset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Filter, then copy visible rows</a:t>
                      </a:r>
                    </a:p>
                    <a:p>
                      <a:r>
                        <a:t>to a new tab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base &lt;- df[df$round == 0, ]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R E F E R E N C E :   H O W   Y O U   D O   I T   I N   E A C H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Creating and comparing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One formula filled down, versus one statement applied to a whole column.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627632"/>
          <a:ext cx="852220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310128"/>
                <a:gridCol w="3154680"/>
              </a:tblGrid>
              <a:tr h="3383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Excel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New indicator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=IF(I2&lt;=750,1,0)  then fill down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df$e &lt;- ifelse(df$p &lt;= 750, 1, 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Conditional mean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=AVERAGEIFS(D:D,$B:$B,0)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mean(base$hhe)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Means by group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one AVERAGEIFS per cell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group_by(g) %&gt;% summarise(mean(x))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Cross-tabulate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PivotTable, or a COUNTIFS grid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table(df$a, df$b)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R E F E R E N C E :   H O W   Y O U   D O   I T   I N   E A C H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Relationships and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The gap widens as the task gets more statistical.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627632"/>
          <a:ext cx="8522208" cy="228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310128"/>
                <a:gridCol w="3154680"/>
              </a:tblGrid>
              <a:tr h="3265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Excel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Scatter plot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select → Insert → Scatter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ggplot(d, aes(x, y)) + geom_point()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Correlation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=CORREL(r1, r2)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cor(x, y)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Correlation on a subset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filter, copy visible rows to a</a:t>
                      </a:r>
                    </a:p>
                    <a:p>
                      <a:r>
                        <a:t>new sheet, then CORREL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cor(base$x, base$y)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Regression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=LINEST(y, X, TRUE, TRUE)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lm(y ~ x, data = d)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Add a control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rearrange into adjacent columns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lm(y ~ x + z, data = d)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</a:rPr>
                        <a:t>Read the result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count across a grid, backwards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>
                          <a:solidFill>
                            <a:srgbClr val="1C272B"/>
                          </a:solidFill>
                          <a:latin typeface="Courier New"/>
                        </a:rPr>
                        <a:t>summary(m)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R E F E R E N C E :   H O W   Y O U   D O   I T   I N   E A C H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Why the regression output is not equally readable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60120"/>
            <a:ext cx="3999900" cy="2724912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455A64"/>
                </a:solidFill>
              </a:rPr>
              <a:t>LINEST returns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An unlabelled block of numbers.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Coefficients in reverse column order.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The intercept last, not first.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No t-statistics and no p-values.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#N/A padding in the unused cells.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960120"/>
            <a:ext cx="3999900" cy="2724912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455A64"/>
                </a:solidFill>
              </a:rPr>
              <a:t>summary() returns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A labelled table, one row per variable.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In the order you wrote the formula.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The intercept clearly named.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t and p computed for you.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Fit statistics underneath.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3803904"/>
            <a:ext cx="8522208" cy="38506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Same model, same coefficients. The difference is how easy each is to misread.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3803904"/>
            <a:ext cx="50292" cy="385064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R E F E R E N C E :   H O W   Y O U   D O   I T   I N   E A C H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One argument worth making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Choose on fit, not on loyalty — but know what each one hides.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5   O F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Three errors a spreadsheet will not catch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These are the characteristic failure modes. All three produce a plausible-looking number.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499616"/>
          <a:ext cx="852220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  <a:gridCol w="3127248"/>
              </a:tblGrid>
              <a:tr h="5257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The error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it looks like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Why nothing warns you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Off-by-one column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You point at the column beside the one you meant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The formula is valid and returns a real number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Rows counted as entities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A panel counted once per period, not once per unit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COUNTIF is doing exactly what you asked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Hand transcription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A number retyped into a write-up or a table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Nothing links the copy back to the source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0896" y="3712463"/>
            <a:ext cx="8522208" cy="632968"/>
          </a:xfrm>
          <a:prstGeom prst="rect">
            <a:avLst/>
          </a:prstGeom>
          <a:solidFill>
            <a:srgbClr val="FDF0EB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FF5722"/>
                </a:solidFill>
              </a:rPr>
              <a:t>This is not hypothetical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All three have appeared in published materials for this exercise, including this course's.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3712463"/>
            <a:ext cx="50292" cy="63296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O N E   A R G U M E N T   W O R T H   M A K I N G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State versus recipe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This is the real difference, and it is what should tip a borderline decision.</a:t>
            </a:r>
          </a:p>
        </p:txBody>
      </p:sp>
      <p:pic>
        <p:nvPicPr>
          <p:cNvPr id="4" name="Picture 3" descr="state_vs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08176"/>
            <a:ext cx="6949440" cy="23912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0896" y="3840480"/>
            <a:ext cx="8522208" cy="385064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When a number looks wrong, a spreadsheet leaves you guessing and a script tells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3840480"/>
            <a:ext cx="50292" cy="385064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O N E   A R G U M E N T   W O R T H   M A K I N G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The honest costs of 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60120"/>
            <a:ext cx="3999900" cy="2724912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455A64"/>
                </a:solidFill>
              </a:rPr>
              <a:t>Excel costs you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No record of what you did, only what you have.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Errors that look identical to correct work.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Rework whenever the data changes.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A hard ceiling on size and on method.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960120"/>
            <a:ext cx="3999900" cy="2724912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455A64"/>
                </a:solidFill>
              </a:rPr>
              <a:t>R costs you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A slower first hour, and unhelpful error messages.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You cannot see your data unless you ask to.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Styling output takes real effort.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</a:rPr>
              <a:t>Colab times out; packages shift under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3803904"/>
            <a:ext cx="8522208" cy="38506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Neither list is a reason to avoid a tool. Both are reasons to pick deliberately.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3803904"/>
            <a:ext cx="50292" cy="385064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O N E   A R G U M E N T   W O R T H   M A K I N G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When it is a close call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Four questions. A yes to any one of them tips it towards writing a script.</a:t>
            </a:r>
          </a:p>
        </p:txBody>
      </p:sp>
      <p:pic>
        <p:nvPicPr>
          <p:cNvPr id="4" name="Picture 3" descr="decision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89888"/>
            <a:ext cx="7315200" cy="2819891"/>
          </a:xfrm>
          <a:prstGeom prst="rect">
            <a:avLst/>
          </a:prstGeom>
        </p:spPr>
      </p:pic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O N E   A R G U M E N T   W O R T H   M A K I N G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Where to go from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32688"/>
            <a:ext cx="8520600" cy="566928"/>
          </a:xfrm>
        </p:spPr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Four habits worth carrying out of this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1499616"/>
            <a:ext cx="4187952" cy="1207008"/>
          </a:xfrm>
          <a:prstGeom prst="rect">
            <a:avLst/>
          </a:prstGeom>
          <a:solidFill>
            <a:srgbClr val="F7F9FA"/>
          </a:solidFill>
          <a:ln w="9525">
            <a:solidFill>
              <a:srgbClr val="D9D9D9"/>
            </a:solidFill>
          </a:ln>
        </p:spPr>
        <p:txBody>
          <a:bodyPr wrap="square" lIns="109728" tIns="73152" rIns="82296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455A64"/>
                </a:solidFill>
              </a:rPr>
              <a:t>Look first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12121"/>
                </a:solidFill>
              </a:rPr>
              <a:t>open any new dataset in Excel before you analyse it, whatever you plan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5152" y="1499616"/>
            <a:ext cx="4187952" cy="1207008"/>
          </a:xfrm>
          <a:prstGeom prst="rect">
            <a:avLst/>
          </a:prstGeom>
          <a:solidFill>
            <a:srgbClr val="F7F9FA"/>
          </a:solidFill>
          <a:ln w="9525">
            <a:solidFill>
              <a:srgbClr val="D9D9D9"/>
            </a:solidFill>
          </a:ln>
        </p:spPr>
        <p:txBody>
          <a:bodyPr wrap="square" lIns="109728" tIns="73152" rIns="82296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455A64"/>
                </a:solidFill>
              </a:rPr>
              <a:t>Script the repeat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12121"/>
                </a:solidFill>
              </a:rPr>
              <a:t>if you will run it twice, write it down the first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2761488"/>
            <a:ext cx="4187952" cy="1170432"/>
          </a:xfrm>
          <a:prstGeom prst="rect">
            <a:avLst/>
          </a:prstGeom>
          <a:solidFill>
            <a:srgbClr val="F7F9FA"/>
          </a:solidFill>
          <a:ln w="9525">
            <a:solidFill>
              <a:srgbClr val="D9D9D9"/>
            </a:solidFill>
          </a:ln>
        </p:spPr>
        <p:txBody>
          <a:bodyPr wrap="square" lIns="109728" tIns="73152" rIns="82296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455A64"/>
                </a:solidFill>
              </a:rPr>
              <a:t>Cross-check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12121"/>
                </a:solidFill>
              </a:rPr>
              <a:t>do the work in R, verify a number or two in Excel — disagreement is informative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2" y="2761488"/>
            <a:ext cx="4187952" cy="1170432"/>
          </a:xfrm>
          <a:prstGeom prst="rect">
            <a:avLst/>
          </a:prstGeom>
          <a:solidFill>
            <a:srgbClr val="F7F9FA"/>
          </a:solidFill>
          <a:ln w="9525">
            <a:solidFill>
              <a:srgbClr val="D9D9D9"/>
            </a:solidFill>
          </a:ln>
        </p:spPr>
        <p:txBody>
          <a:bodyPr wrap="square" lIns="109728" tIns="73152" rIns="82296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455A64"/>
                </a:solidFill>
              </a:rPr>
              <a:t>Keep the tables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12121"/>
                </a:solidFill>
              </a:rPr>
              <a:t>the which-tool-when slide and the five reference slides are the usable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4023360"/>
            <a:ext cx="8522208" cy="38506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When the two disagree, find out which is wrong before assuming it is 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4023360"/>
            <a:ext cx="50292" cy="385064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O N E   A R G U M E N T   W O R T H   M A K I N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Developed by Sean Rogers, DITI Research and Teaching Fellows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All materials: https://github.com/NULabNortheastern/digitalassignmentshowcase/tree/main/coding_quantitative/fa26-prina-econ3291-excel_r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Please fill out this survey to give us feedback: https://bit.ly/diti-feedback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For more information on DITI, please see: https://bit.ly/diti-about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Schedule an appointment with us! https://bit.ly/diti-meeting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If you have any questions, contact us at: nulab.info@gmail.com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TI Slides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TI Slides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