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  <p:sldMasterId id="2147483683" r:id="rId7"/>
  </p:sldMasterIdLst>
  <p:notesMasterIdLst>
    <p:notesMasterId r:id="rId8"/>
  </p:notes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  <p:sldId id="271" r:id="rId33"/>
    <p:sldId id="272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81" r:id="rId43"/>
    <p:sldId id="282" r:id="rId44"/>
    <p:sldId id="283" r:id="rId45"/>
  </p:sldIdLst>
  <p:sldSz cy="5143500" cx="9144000"/>
  <p:notesSz cx="6858000" cy="9144000"/>
  <p:embeddedFontLst>
    <p:embeddedFont>
      <p:font typeface="Proxima Nova"/>
      <p:regular r:id="rId54"/>
      <p:bold r:id="rId55"/>
      <p:italic r:id="rId56"/>
      <p:boldItalic r:id="rId57"/>
    </p:embeddedFont>
    <p:embeddedFont>
      <p:font typeface="Roboto"/>
      <p:regular r:id="rId58"/>
      <p:bold r:id="rId59"/>
      <p:italic r:id="rId60"/>
      <p:boldItalic r:id="rId61"/>
    </p:embeddedFont>
    <p:embeddedFont>
      <p:font typeface="Alfa Slab One"/>
      <p:regular r:id="rId6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5" name="Sarah Connell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54" Type="http://schemas.openxmlformats.org/officeDocument/2006/relationships/font" Target="fonts/ProximaNova-regular.fntdata"/><Relationship Id="rId55" Type="http://schemas.openxmlformats.org/officeDocument/2006/relationships/font" Target="fonts/ProximaNova-bold.fntdata"/><Relationship Id="rId56" Type="http://schemas.openxmlformats.org/officeDocument/2006/relationships/font" Target="fonts/ProximaNova-italic.fntdata"/><Relationship Id="rId57" Type="http://schemas.openxmlformats.org/officeDocument/2006/relationships/font" Target="fonts/ProximaNova-boldItalic.fntdata"/><Relationship Id="rId58" Type="http://schemas.openxmlformats.org/officeDocument/2006/relationships/font" Target="fonts/Roboto-regular.fntdata"/><Relationship Id="rId59" Type="http://schemas.openxmlformats.org/officeDocument/2006/relationships/font" Target="fonts/Roboto-bold.fntdata"/><Relationship Id="rId60" Type="http://schemas.openxmlformats.org/officeDocument/2006/relationships/font" Target="fonts/Roboto-italic.fntdata"/><Relationship Id="rId61" Type="http://schemas.openxmlformats.org/officeDocument/2006/relationships/font" Target="fonts/Roboto-boldItalic.fntdata"/><Relationship Id="rId62" Type="http://schemas.openxmlformats.org/officeDocument/2006/relationships/font" Target="fonts/AlfaSlabOne-regular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Google Shape;58;p14"/>
          <p:cNvCxnSpPr/>
          <p:nvPr/>
        </p:nvCxnSpPr>
        <p:spPr>
          <a:xfrm>
            <a:off x="4278300" y="2350188"/>
            <a:ext cx="587400" cy="0"/>
          </a:xfrm>
          <a:prstGeom prst="straightConnector1">
            <a:avLst/>
          </a:prstGeom>
          <a:noFill/>
          <a:ln cap="flat" cmpd="sng" w="7620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" name="Google Shape;59;p14"/>
          <p:cNvSpPr txBox="1"/>
          <p:nvPr>
            <p:ph type="ctrTitle"/>
          </p:nvPr>
        </p:nvSpPr>
        <p:spPr>
          <a:xfrm>
            <a:off x="311700" y="2226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b="1" sz="5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60" name="Google Shape;60;p14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" type="body"/>
          </p:nvPr>
        </p:nvSpPr>
        <p:spPr>
          <a:xfrm>
            <a:off x="311700" y="10285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rtl="0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rtl="0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4" name="Google Shape;74;p19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1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79" name="Google Shape;79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21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81" name="Google Shape;81;p21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2" name="Google Shape;82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556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2pPr>
            <a:lvl3pPr indent="-3429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" name="Google Shape;84;p21"/>
          <p:cNvSpPr txBox="1"/>
          <p:nvPr/>
        </p:nvSpPr>
        <p:spPr>
          <a:xfrm>
            <a:off x="6187300" y="4661700"/>
            <a:ext cx="2956500" cy="4818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latin typeface="Cambria"/>
                <a:ea typeface="Cambria"/>
                <a:cs typeface="Cambria"/>
                <a:sym typeface="Cambria"/>
              </a:rPr>
              <a:t>Feel free to ask questions at any point during the presentation!</a:t>
            </a:r>
            <a:endParaRPr i="1" sz="12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pic>
        <p:nvPicPr>
          <p:cNvPr descr="Logo for the NULab for Digital Humanities and Computational Social Science" id="87" name="Google Shape;87;p22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0" name="Google Shape;90;p23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rtl="0" algn="ctr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rtl="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1" name="Google Shape;91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92" name="Google Shape;92;p23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95" name="Google Shape;95;p24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444975"/>
            <a:ext cx="2550528" cy="701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Google Shape;101;p26"/>
          <p:cNvCxnSpPr/>
          <p:nvPr/>
        </p:nvCxnSpPr>
        <p:spPr>
          <a:xfrm>
            <a:off x="4278300" y="2350188"/>
            <a:ext cx="587400" cy="0"/>
          </a:xfrm>
          <a:prstGeom prst="straightConnector1">
            <a:avLst/>
          </a:prstGeom>
          <a:noFill/>
          <a:ln cap="flat" cmpd="sng" w="76200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26"/>
          <p:cNvSpPr txBox="1"/>
          <p:nvPr>
            <p:ph type="ctrTitle"/>
          </p:nvPr>
        </p:nvSpPr>
        <p:spPr>
          <a:xfrm>
            <a:off x="311700" y="2226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b="1"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03" name="Google Shape;103;p26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04" name="Google Shape;104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7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7" name="Google Shape;107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8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28"/>
          <p:cNvSpPr txBox="1"/>
          <p:nvPr>
            <p:ph idx="1" type="body"/>
          </p:nvPr>
        </p:nvSpPr>
        <p:spPr>
          <a:xfrm>
            <a:off x="311700" y="10285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1" name="Google Shape;111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Logo for the NULab for Digital Humanities and Computational Social Science" id="112" name="Google Shape;112;p28"/>
          <p:cNvPicPr preferRelativeResize="0"/>
          <p:nvPr/>
        </p:nvPicPr>
        <p:blipFill rotWithShape="1">
          <a:blip r:embed="rId2">
            <a:alphaModFix/>
          </a:blip>
          <a:srcRect b="27753" l="5347" r="9095" t="29603"/>
          <a:stretch/>
        </p:blipFill>
        <p:spPr>
          <a:xfrm>
            <a:off x="0" y="4573675"/>
            <a:ext cx="2082540" cy="572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9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6" name="Google Shape;116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7" name="Google Shape;117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0" name="Google Shape;120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1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23" name="Google Shape;123;p31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4" name="Google Shape;124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2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7" name="Google Shape;127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3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0" name="Google Shape;130;p33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33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32" name="Google Shape;132;p33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33" name="Google Shape;133;p3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4" name="Google Shape;134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sp>
        <p:nvSpPr>
          <p:cNvPr id="137" name="Google Shape;137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55600" lvl="1" marL="914400" algn="ctr">
              <a:spcBef>
                <a:spcPts val="1600"/>
              </a:spcBef>
              <a:spcAft>
                <a:spcPts val="0"/>
              </a:spcAft>
              <a:buSzPts val="2000"/>
              <a:buChar char="○"/>
              <a:defRPr/>
            </a:lvl2pPr>
            <a:lvl3pPr indent="-342900" lvl="2" marL="137160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1" name="Google Shape;141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ED0E0E"/>
              </a:buClr>
              <a:buSzPts val="3600"/>
              <a:buFont typeface="Cambria"/>
              <a:buNone/>
              <a:defRPr b="1" sz="3600">
                <a:solidFill>
                  <a:srgbClr val="ED0E0E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Cambria"/>
              <a:buChar char="●"/>
              <a:defRPr sz="24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-3556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"/>
              <a:buChar char="○"/>
              <a:defRPr sz="20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-3429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mbria"/>
              <a:buChar char="■"/>
              <a:defRPr sz="18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13"/>
          <p:cNvSpPr txBox="1"/>
          <p:nvPr/>
        </p:nvSpPr>
        <p:spPr>
          <a:xfrm>
            <a:off x="6187300" y="4661700"/>
            <a:ext cx="2956500" cy="4818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latin typeface="Cambria"/>
                <a:ea typeface="Cambria"/>
                <a:cs typeface="Cambria"/>
                <a:sym typeface="Cambria"/>
              </a:rPr>
              <a:t>Feel free to ask questions at any point during the presentation!</a:t>
            </a:r>
            <a:endParaRPr i="1"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8595108" y="47624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2000">
                <a:solidFill>
                  <a:srgbClr val="666666"/>
                </a:solidFill>
                <a:latin typeface="Cambria"/>
                <a:ea typeface="Cambria"/>
                <a:cs typeface="Cambria"/>
                <a:sym typeface="Cambria"/>
              </a:rPr>
              <a:t>‹#›</a:t>
            </a:fld>
            <a:endParaRPr sz="2000">
              <a:solidFill>
                <a:srgbClr val="666666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56" name="Google Shape;56;p13" title="NULab for Digital Humanities_RGB_Monogram_Red+B (3).png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4333175"/>
            <a:ext cx="2186034" cy="81032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/>
          <p:nvPr>
            <p:ph type="title"/>
          </p:nvPr>
        </p:nvSpPr>
        <p:spPr>
          <a:xfrm>
            <a:off x="311700" y="237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ED0E0E"/>
              </a:buClr>
              <a:buSzPts val="3600"/>
              <a:buFont typeface="Cambria"/>
              <a:buNone/>
              <a:defRPr b="1" sz="3600">
                <a:solidFill>
                  <a:srgbClr val="ED0E0E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Cambria"/>
              <a:buChar char="●"/>
              <a:defRPr sz="24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indent="-3556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"/>
              <a:buChar char="○"/>
              <a:defRPr sz="20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indent="-3429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mbria"/>
              <a:buChar char="■"/>
              <a:defRPr sz="180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●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mbria"/>
              <a:buChar char="○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ambria"/>
              <a:buChar char="■"/>
              <a:defRPr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/>
        </p:txBody>
      </p:sp>
      <p:sp>
        <p:nvSpPr>
          <p:cNvPr id="99" name="Google Shape;99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896" y="475488"/>
            <a:ext cx="8229600" cy="96012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400" b="1" i="0">
                <a:solidFill>
                  <a:srgbClr val="212121"/>
                </a:solidFill>
              </a:rPr>
              <a:t>Excel or R: which tool for which job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700" y="3165823"/>
            <a:ext cx="8520600" cy="841248"/>
          </a:xfrm>
        </p:spPr>
        <p:txBody>
          <a:bodyPr/>
          <a:lstStyle/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ECON 3291: Development Economics  •  Professor Silvia Prina</a:t>
            </a:r>
          </a:p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Taught by Sean P. Rogers  ·  DITI Research and Teaching Fellows</a:t>
            </a:r>
          </a:p>
          <a:p>
            <a:pPr>
              <a:spcAft>
                <a:spcPts val="200"/>
              </a:spcAft>
            </a:pPr>
            <a:r>
              <a:rPr sz="1450" b="0" i="0">
                <a:solidFill>
                  <a:srgbClr val="37474F"/>
                </a:solidFill>
              </a:rPr>
              <a:t>Fall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" y="1883664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2103120"/>
            <a:ext cx="6949440" cy="8229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600" b="0" i="0">
                <a:solidFill>
                  <a:srgbClr val="37474F"/>
                </a:solidFill>
              </a:rPr>
              <a:t>A practical guide to picking the right tool for a task — and to using the two together, which is what most real projects actually 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What this module is for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You can already do the work in both. This is about deciding which one to open.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572768"/>
            <a:ext cx="2743200" cy="111556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Choose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match the tool to the job, and say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572768"/>
            <a:ext cx="2743200" cy="111556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Combine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use them together in one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9904" y="1572768"/>
            <a:ext cx="2743200" cy="111556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Translate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look up how to do a task in either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" y="2962656"/>
            <a:ext cx="8522208" cy="713232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The honest answer is rarely “always use R”. It is “use the one that fits this job”, and quite often the answer is to use both, in a particular order.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2962656"/>
            <a:ext cx="50292" cy="713232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V E R V I E W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The short version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If you remember one slide, make it the next one.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1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Which tool, when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Match the job to the tool. Most decisions are already covered here.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554480"/>
          <a:ext cx="8522208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7560"/>
                <a:gridCol w="1234440"/>
                <a:gridCol w="3950208"/>
              </a:tblGrid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If the job is…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Reach for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Because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A styled deliverable — a formatted sheet</a:t>
                      </a:r>
                    </a:p>
                    <a:p>
                      <a:r>
                        <a:t>someone will read — and simple analysis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The formatting is the product, and</a:t>
                      </a:r>
                    </a:p>
                    <a:p>
                      <a:r>
                        <a:t>the stats are not the hard part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Statistical testing over thousands of rows</a:t>
                      </a:r>
                    </a:p>
                    <a:p>
                      <a:r>
                        <a:t>of CSV, with no styling needed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Scale, real test output, and a record</a:t>
                      </a:r>
                    </a:p>
                    <a:p>
                      <a:r>
                        <a:t>of what you ran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Getting to know a dataset you have</a:t>
                      </a:r>
                    </a:p>
                    <a:p>
                      <a:r>
                        <a:t>never opened before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Excel first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Look at it before you trust it —</a:t>
                      </a:r>
                    </a:p>
                    <a:p>
                      <a:r>
                        <a:t>names, types, blanks, quirks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Cleaning messy data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Both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Eyeball and fix oddities in Excel,</a:t>
                      </a:r>
                    </a:p>
                    <a:p>
                      <a:r>
                        <a:t>automate rules in R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Anything you will re-run, or hand to</a:t>
                      </a:r>
                    </a:p>
                    <a:p>
                      <a:r>
                        <a:t>someone who must check it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>
                          <a:solidFill>
                            <a:srgbClr val="1C272B"/>
                          </a:solidFill>
                        </a:rPr>
                        <a:t>The script is the record of what</a:t>
                      </a:r>
                    </a:p>
                    <a:p>
                      <a:r>
                        <a:t>you actually did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T H E   S H O R T   V E R S I O N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Five situations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Concrete cases, with a recommendation and the reasoning.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2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You need to hand over a polished spreadsheet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The deliverable is a formatted sheet, and the analysis is straightforward.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The formatting is not decoration — it is the product. Conditional colours, frozen headers, column widths and a print layout are the job.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The statistics are means, counts, shares, maybe a simple regression. Nothing Excel struggles with.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Whoever receives it will open it, click into cells, and change numbers themselves.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Producing this from R means writing styling code to recreate what you can do by hand in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3749039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Doing it in R and exporting to .xlsx is possible — but only worth it if you will remake the same sheet repeatedly.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3749039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Statistical testing over thousands of 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EEF2F4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Large CSV, real tests, and nobody needs it to look like a spreadsheet.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455A64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Excel slows down, and its row limit is a real ceiling. R does not care about the size.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You get proper test output — coefficients, standard errors, t, p and intervals — without computing anything by hand.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Anything past simple OLS is either awkward or absent in Excel.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Re-running on a new extract is one command, not an afternoon of re-pointing formulas.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3749039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This is the case where the gap is largest. If the output is a number in a paper rather than a cell in a sheet, use R.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3749039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You have never opened this dataset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Look at the raw file before you point any code at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EXCEL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Read the actual column names. They are often abbreviated, inconsistent, or not what the documentation claims.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Check what one row represents, and whether an ID repeats.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Scan for the quirks that break an import: merged cells, a title row above the headers, blank rows, text in a numeric column, trailing spaces.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Then load it into R knowing what you are getting, instead of debugging a silent failure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3749039"/>
            <a:ext cx="8522208" cy="605536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A column that reads as text because three cells contain “n/a” will produce wrong answers in either tool. Excel shows you that in seconds.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3749039"/>
            <a:ext cx="50292" cy="605536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The data is messy and needs cleaning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Split the work: eyeball and fix in Excel, automate the rules in 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Excel is better for the irregular things — a handful of typos, one stray value, a column that needs looking at to understand.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R is better for anything with a rule: recode every value matching a pattern, fix all the dates, drop every row failing a condition.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The test is whether you can state the fix as a rule. If you can, write it down in R. If it is genuinely one-off, fix it by hand.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Record the hand-fixes somewhere, or your cleaned file becomes impossible to reproduce.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3749039"/>
            <a:ext cx="8522208" cy="42062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Keep the raw file untouched. Clean into a copy, always.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3749039"/>
            <a:ext cx="50292" cy="42062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You will run this again, or someone must check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00784" y="896112"/>
            <a:ext cx="7132320" cy="603504"/>
          </a:xfrm>
          <a:prstGeom prst="rect">
            <a:avLst/>
          </a:prstGeom>
          <a:solidFill>
            <a:srgbClr val="EEF2F4"/>
          </a:solidFill>
          <a:ln>
            <a:noFill/>
          </a:ln>
        </p:spPr>
        <p:txBody>
          <a:bodyPr wrap="square" lIns="146304" tIns="91440" rIns="128016">
            <a:spAutoFit/>
          </a:bodyPr>
          <a:lstStyle/>
          <a:p>
            <a:pPr>
              <a:spcAft>
                <a:spcPts val="0"/>
              </a:spcAft>
            </a:pPr>
            <a:r>
              <a:rPr sz="1450" b="0" i="0">
                <a:solidFill>
                  <a:srgbClr val="212121"/>
                </a:solidFill>
              </a:rPr>
              <a:t>Repetition and scrutiny are what scripts are for.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896112"/>
            <a:ext cx="1353312" cy="603504"/>
          </a:xfrm>
          <a:prstGeom prst="rect">
            <a:avLst/>
          </a:prstGeom>
          <a:solidFill>
            <a:srgbClr val="455A64"/>
          </a:solidFill>
          <a:ln>
            <a:noFill/>
          </a:ln>
        </p:spPr>
        <p:txBody>
          <a:bodyPr wrap="square" lIns="0" rIns="0" tIns="11887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45920"/>
            <a:ext cx="8522208" cy="2148840"/>
          </a:xfrm>
          <a:prstGeom prst="rect">
            <a:avLst/>
          </a:prstGeom>
          <a:noFill/>
        </p:spPr>
        <p:txBody>
          <a:bodyPr wrap="square" lIns="54864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A problem set repeats similar operations on the same data all semester. Write it once.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When the data is corrected in week 9, you change one line and re-run everything.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A grader, co-author or reviewer can read exactly what you did, in order.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212121"/>
                </a:solidFill>
              </a:rPr>
              <a:t>•   In six weeks you will not remember whether you filtered to the baseline round. The script will.</a:t>
            </a:r>
          </a:p>
        </p:txBody>
      </p:sp>
      <p:sp>
        <p:nvSpPr>
          <p:cNvPr id="6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F I V E   S I T U A T I O N S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Using them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The order matters more than the choice.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3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A workflow that uses both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This is what most real projects look like — not one tool, but a sequence.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444752"/>
            <a:ext cx="8138160" cy="2609181"/>
          </a:xfrm>
          <a:prstGeom prst="rect">
            <a:avLst/>
          </a:prstGeom>
        </p:spPr>
      </p:pic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U S I N G   T H E M   T O G E T H E R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Handing data between them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Moving in either direction is a single line.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536192"/>
            <a:ext cx="8522208" cy="1849374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9525">
            <a:solidFill>
              <a:srgbClr val="E1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658368" tIns="100584" bIns="73152"/>
          <a:lstStyle/>
          <a:p>
            <a:pPr algn="l">
              <a:spcAft>
                <a:spcPts val="0"/>
              </a:spcAft>
              <a:buNone/>
            </a:pPr>
            <a:r>
              <a:rPr sz="1200">
                <a:solidFill>
                  <a:srgbClr val="1C272B"/>
                </a:solidFill>
                <a:latin typeface="Courier New"/>
              </a:rPr>
              <a:t>#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x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→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library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x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f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&lt;</a:t>
            </a:r>
            <a:r>
              <a:rPr sz="1200">
                <a:solidFill>
                  <a:srgbClr val="1C272B"/>
                </a:solidFill>
                <a:latin typeface="Courier New"/>
              </a:rPr>
              <a:t>-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read_excel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>
                <a:solidFill>
                  <a:srgbClr val="B03A14"/>
                </a:solidFill>
                <a:latin typeface="Courier New"/>
              </a:rPr>
              <a:t>"data.xlsx"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h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=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6A4C9C"/>
                </a:solidFill>
                <a:latin typeface="Courier New"/>
              </a:rPr>
              <a:t>1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  <a:r>
              <a:rPr sz="1050" i="1">
                <a:solidFill>
                  <a:srgbClr val="78909C"/>
                </a:solidFill>
                <a:latin typeface="Arial"/>
              </a:rPr>
              <a:t>   # straight from .xlsx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d</a:t>
            </a:r>
            <a:r>
              <a:rPr sz="1200" b="1">
                <a:solidFill>
                  <a:srgbClr val="007986"/>
                </a:solidFill>
                <a:latin typeface="Courier New"/>
              </a:rPr>
              <a:t>f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&lt;</a:t>
            </a:r>
            <a:r>
              <a:rPr sz="1200">
                <a:solidFill>
                  <a:srgbClr val="1C272B"/>
                </a:solidFill>
                <a:latin typeface="Courier New"/>
              </a:rPr>
              <a:t>-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read.csv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>
                <a:solidFill>
                  <a:srgbClr val="B03A14"/>
                </a:solidFill>
                <a:latin typeface="Courier New"/>
              </a:rPr>
              <a:t>"data.csv"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  <a:r>
              <a:rPr sz="1050" i="1">
                <a:solidFill>
                  <a:srgbClr val="78909C"/>
                </a:solidFill>
                <a:latin typeface="Arial"/>
              </a:rPr>
              <a:t>   # or save as CSV first</a:t>
            </a:r>
          </a:p>
          <a:p>
            <a:pPr algn="l">
              <a:spcAft>
                <a:spcPts val="0"/>
              </a:spcAft>
              <a:buNone/>
            </a:pPr>
            <a:r>
              <a:rPr sz="600">
                <a:latin typeface="Courier New"/>
              </a:rPr>
              <a:t> </a:t>
            </a:r>
          </a:p>
          <a:p>
            <a:pPr algn="l">
              <a:spcAft>
                <a:spcPts val="0"/>
              </a:spcAft>
              <a:buNone/>
            </a:pPr>
            <a:r>
              <a:rPr sz="1200">
                <a:solidFill>
                  <a:srgbClr val="1C272B"/>
                </a:solidFill>
                <a:latin typeface="Courier New"/>
              </a:rPr>
              <a:t>#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→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x</a:t>
            </a:r>
            <a:r>
              <a:rPr sz="1200" b="1">
                <a:solidFill>
                  <a:srgbClr val="007986"/>
                </a:solidFill>
                <a:latin typeface="Courier New"/>
              </a:rPr>
              <a:t>c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write.csv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u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B03A14"/>
                </a:solidFill>
                <a:latin typeface="Courier New"/>
              </a:rPr>
              <a:t>"results.csv"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o</a:t>
            </a:r>
            <a:r>
              <a:rPr sz="1200" b="1">
                <a:solidFill>
                  <a:srgbClr val="007986"/>
                </a:solidFill>
                <a:latin typeface="Courier New"/>
              </a:rPr>
              <a:t>w</a:t>
            </a:r>
            <a:r>
              <a:rPr sz="1200" b="1">
                <a:solidFill>
                  <a:srgbClr val="007986"/>
                </a:solidFill>
                <a:latin typeface="Courier New"/>
              </a:rPr>
              <a:t>.</a:t>
            </a:r>
            <a:r>
              <a:rPr sz="1200" b="1">
                <a:solidFill>
                  <a:srgbClr val="007986"/>
                </a:solidFill>
                <a:latin typeface="Courier New"/>
              </a:rPr>
              <a:t>n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m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1C272B"/>
                </a:solidFill>
                <a:latin typeface="Courier New"/>
              </a:rPr>
              <a:t>=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 b="1">
                <a:solidFill>
                  <a:srgbClr val="007986"/>
                </a:solidFill>
                <a:latin typeface="Courier New"/>
              </a:rPr>
              <a:t>F</a:t>
            </a:r>
            <a:r>
              <a:rPr sz="1200" b="1">
                <a:solidFill>
                  <a:srgbClr val="007986"/>
                </a:solidFill>
                <a:latin typeface="Courier New"/>
              </a:rPr>
              <a:t>A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</a:p>
          <a:p>
            <a:pPr algn="l">
              <a:spcAft>
                <a:spcPts val="0"/>
              </a:spcAft>
              <a:buNone/>
            </a:pPr>
            <a:r>
              <a:rPr sz="1200" b="1">
                <a:solidFill>
                  <a:srgbClr val="007986"/>
                </a:solidFill>
                <a:latin typeface="Courier New"/>
              </a:rPr>
              <a:t>w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i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x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>
                <a:solidFill>
                  <a:srgbClr val="1C272B"/>
                </a:solidFill>
                <a:latin typeface="Courier New"/>
              </a:rPr>
              <a:t>:</a:t>
            </a:r>
            <a:r>
              <a:rPr sz="1200">
                <a:solidFill>
                  <a:srgbClr val="1C272B"/>
                </a:solidFill>
                <a:latin typeface="Courier New"/>
              </a:rPr>
              <a:t>:</a:t>
            </a:r>
            <a:r>
              <a:rPr sz="1200" b="1">
                <a:solidFill>
                  <a:srgbClr val="007986"/>
                </a:solidFill>
                <a:latin typeface="Courier New"/>
              </a:rPr>
              <a:t>write_xlsx</a:t>
            </a:r>
            <a:r>
              <a:rPr sz="1200">
                <a:solidFill>
                  <a:srgbClr val="1C272B"/>
                </a:solidFill>
                <a:latin typeface="Courier New"/>
              </a:rPr>
              <a:t>(</a:t>
            </a:r>
            <a:r>
              <a:rPr sz="1200" b="1">
                <a:solidFill>
                  <a:srgbClr val="007986"/>
                </a:solidFill>
                <a:latin typeface="Courier New"/>
              </a:rPr>
              <a:t>r</a:t>
            </a:r>
            <a:r>
              <a:rPr sz="1200" b="1">
                <a:solidFill>
                  <a:srgbClr val="007986"/>
                </a:solidFill>
                <a:latin typeface="Courier New"/>
              </a:rPr>
              <a:t>e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 b="1">
                <a:solidFill>
                  <a:srgbClr val="007986"/>
                </a:solidFill>
                <a:latin typeface="Courier New"/>
              </a:rPr>
              <a:t>u</a:t>
            </a:r>
            <a:r>
              <a:rPr sz="1200" b="1">
                <a:solidFill>
                  <a:srgbClr val="007986"/>
                </a:solidFill>
                <a:latin typeface="Courier New"/>
              </a:rPr>
              <a:t>l</a:t>
            </a:r>
            <a:r>
              <a:rPr sz="1200" b="1">
                <a:solidFill>
                  <a:srgbClr val="007986"/>
                </a:solidFill>
                <a:latin typeface="Courier New"/>
              </a:rPr>
              <a:t>t</a:t>
            </a:r>
            <a:r>
              <a:rPr sz="1200" b="1">
                <a:solidFill>
                  <a:srgbClr val="007986"/>
                </a:solidFill>
                <a:latin typeface="Courier New"/>
              </a:rPr>
              <a:t>s</a:t>
            </a:r>
            <a:r>
              <a:rPr sz="1200">
                <a:solidFill>
                  <a:srgbClr val="1C272B"/>
                </a:solidFill>
                <a:latin typeface="Courier New"/>
              </a:rPr>
              <a:t>,</a:t>
            </a:r>
            <a:r>
              <a:rPr sz="1200">
                <a:solidFill>
                  <a:srgbClr val="1C272B"/>
                </a:solidFill>
                <a:latin typeface="Courier New"/>
              </a:rPr>
              <a:t> </a:t>
            </a:r>
            <a:r>
              <a:rPr sz="1200">
                <a:solidFill>
                  <a:srgbClr val="B03A14"/>
                </a:solidFill>
                <a:latin typeface="Courier New"/>
              </a:rPr>
              <a:t>"results.xlsx"</a:t>
            </a:r>
            <a:r>
              <a:rPr sz="1200">
                <a:solidFill>
                  <a:srgbClr val="1C272B"/>
                </a:solidFill>
                <a:latin typeface="Courier New"/>
              </a:rPr>
              <a:t>)</a:t>
            </a:r>
            <a:r>
              <a:rPr sz="1050" i="1">
                <a:solidFill>
                  <a:srgbClr val="78909C"/>
                </a:solidFill>
                <a:latin typeface="Arial"/>
              </a:rPr>
              <a:t>   # keeps it as a real workbook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1591056"/>
            <a:ext cx="45720" cy="1739645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ZCHIP"/>
          <p:cNvSpPr txBox="1"/>
          <p:nvPr/>
        </p:nvSpPr>
        <p:spPr>
          <a:xfrm>
            <a:off x="8119872" y="1600200"/>
            <a:ext cx="603504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455A64"/>
                </a:solidFill>
              </a:rPr>
              <a:t>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" y="3529584"/>
            <a:ext cx="8522208" cy="853440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0097A7"/>
                </a:solidFill>
              </a:rPr>
              <a:t>Prefer CSV in between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CSV is the safe interchange format: no formulas, no formatting, no surprises. Save as CSV whenever a file has to cross between tools.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3529584"/>
            <a:ext cx="50292" cy="853440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U S I N G   T H E M   T O G E T H E 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Things that break on the way across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Five failures that account for most bad imports. All five are visible in Excel.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481328"/>
          <a:ext cx="852220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657600"/>
                <a:gridCol w="2807208"/>
              </a:tblGrid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breaks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How it shows up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to do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Dates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numbers where you expected dates,</a:t>
                      </a:r>
                    </a:p>
                    <a:p>
                      <a:r>
                        <a:t>or the wrong century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check every date column</a:t>
                      </a:r>
                    </a:p>
                    <a:p>
                      <a:r>
                        <a:t>immediately after import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Leading zeros in IDs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00123 arrives as 123, and</a:t>
                      </a:r>
                    </a:p>
                    <a:p>
                      <a:r>
                        <a:t>your merge silently loses rows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read the ID column as text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Merged cells, title rows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the header ends up as data,</a:t>
                      </a:r>
                    </a:p>
                    <a:p>
                      <a:r>
                        <a:t>column names become X1, X2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delete them before exporting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Text in a numeric column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the whole column imports as text,</a:t>
                      </a:r>
                    </a:p>
                    <a:p>
                      <a:r>
                        <a:t>so mean() fails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find the stray “n/a” or space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Unquoted commas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fields split across columns,</a:t>
                      </a:r>
                    </a:p>
                    <a:p>
                      <a:r>
                        <a:t>row lengths differ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export CSV with quoting 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10896" y="3858768"/>
            <a:ext cx="8522208" cy="402336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Every one of these is obvious in thirty seconds of looking, and invisible if you go straight to code.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858768"/>
            <a:ext cx="50292" cy="402336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U S I N G   T H E M   T O G E T H E R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Reference: how you do it in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Keep these five slides. They are the fastest way to translate when you are stuck.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4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Loading and looking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The first three things you do with any dataset.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Open the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File → Open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df &lt;- read.csv(path)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How many rows?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=COUNTA(A2:A551)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nrow(df)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What are the columns?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read row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names(df)  /  str(df)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Look at the top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scroll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head(df)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Describe everything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a grid of formulas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summary(df)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Describing a variable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Excel does one statistic per formula; R can do the whole table in one call.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1536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Mean / median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=AVERAGE(r)  /  =MEDIAN(r)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mean(x)  /  median(x)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Std. deviation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=STDEV.S(r)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sd(x)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Minimum / maximum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=MIN(r)  /  =MAX(r)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min(x)  /  max(x)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0723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Several variables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fill the formulas across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  <a:latin typeface="Courier New"/>
                        </a:rPr>
                        <a:t>sapply(df[vars], ...)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Counting and subsetting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Both tools make you be explicit about rows versus entities.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Count rows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=COUNTA(A2:A551)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nrow(df)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Count distinct entities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=SUMPRODUCT(1/COUNTIF(r,r))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length(unique(df$id))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Rows meeting a rule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=COUNTIFS($E:$E,1)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sum(df$g == 1)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Proportion meeting it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=COUNTIFS(...)/COUNTA(...)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mean(df$g == 1)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Keep a subset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Filter, then copy visible rows</a:t>
                      </a:r>
                    </a:p>
                    <a:p>
                      <a:r>
                        <a:t>to a new tab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base &lt;- df[df$round == 0, ]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Creating and comparing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One formula filled down, versus one statement applied to a whole column.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New indicator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=IF(I2&lt;=750,1,0)  then fill down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df$e &lt;- ifelse(df$p &lt;= 750, 1, 0)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Conditional mean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=AVERAGEIFS(D:D,$B:$B,0)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mean(base$hhe)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Means by group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one AVERAGEIFS per cell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group_by(g) %&gt;% summarise(mean(x))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Cross-tabulate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PivotTable, or a COUNTIFS grid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table(df$a, df$b)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Relationships and models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The gap widens as the task gets more statistical.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627632"/>
          <a:ext cx="8522208" cy="228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310128"/>
                <a:gridCol w="3154680"/>
              </a:tblGrid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Excel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Scatter plot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select → Insert → Scatter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ggplot(d, aes(x, y)) + geom_point()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Correlation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=CORREL(r1, r2)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cor(x, y)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Correlation on a subset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filter, copy visible rows to a</a:t>
                      </a:r>
                    </a:p>
                    <a:p>
                      <a:r>
                        <a:t>new sheet, then CORREL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cor(base$x, base$y)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Regression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=LINEST(y, X, TRUE, TRUE)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lm(y ~ x, data = d)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Add a control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rearrange into adjacent columns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lm(y ~ x + z, data = d)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>
                          <a:solidFill>
                            <a:srgbClr val="1C272B"/>
                          </a:solidFill>
                        </a:rPr>
                        <a:t>Read the result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count across a grid, backwards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>
                          <a:solidFill>
                            <a:srgbClr val="1C272B"/>
                          </a:solidFill>
                          <a:latin typeface="Courier New"/>
                        </a:rPr>
                        <a:t>summary(m)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Why the regression output is not equally readable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60120"/>
            <a:ext cx="3999900" cy="2724912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455A64"/>
                </a:solidFill>
              </a:rPr>
              <a:t>LINEST returns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An unlabelled block of numbers.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Coefficients in reverse column order.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The intercept last, not first.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No t-statistics and no p-values.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#N/A padding in the unused cells.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4832400" y="960120"/>
            <a:ext cx="3999900" cy="2724912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455A64"/>
                </a:solidFill>
              </a:rPr>
              <a:t>summary() returns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A labelled table, one row per variable.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In the order you wrote the formula.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The intercept clearly named.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t and p computed for you.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Fit statistics underneath.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3803904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Same model, same coefficients. The difference is how easy each is to misread.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803904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R E F E R E N C E :   H O W   Y O U   D O   I T   I N   E A C H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1481328"/>
            <a:ext cx="7589520" cy="1371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3300" b="1" i="0">
                <a:solidFill>
                  <a:srgbClr val="212121"/>
                </a:solidFill>
              </a:rPr>
              <a:t>One argument worth making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68096" y="1170432"/>
            <a:ext cx="1051560" cy="6858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889504"/>
            <a:ext cx="72237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0"/>
              </a:spcAft>
            </a:pPr>
            <a:r>
              <a:rPr sz="1700" b="0" i="0">
                <a:solidFill>
                  <a:srgbClr val="37474F"/>
                </a:solidFill>
              </a:rPr>
              <a:t>Choose on fit, not on loyalty — but know what each one hides.</a:t>
            </a:r>
          </a:p>
        </p:txBody>
      </p:sp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P A R T   5   O F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Three errors a spreadsheet will not catch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00" b="0" i="0">
                <a:solidFill>
                  <a:srgbClr val="212121"/>
                </a:solidFill>
              </a:rPr>
              <a:t>These are the characteristic failure modes. All three produce a plausible-looking number.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0896" y="1499616"/>
          <a:ext cx="852220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291840"/>
                <a:gridCol w="3127248"/>
              </a:tblGrid>
              <a:tr h="5257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The error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it looks like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Why nothing warns you</a:t>
                      </a:r>
                    </a:p>
                  </a:txBody>
                  <a:tcPr marL="73152" marR="54864" marT="27432" marB="27432" anchor="ctr">
                    <a:solidFill>
                      <a:srgbClr val="455A6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Off-by-one column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You point at the column beside the one you meant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The formula is valid and returns a real number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Rows counted as entities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A panel counted once per period, not once per unit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COUNTIF is doing exactly what you asked</a:t>
                      </a:r>
                    </a:p>
                  </a:txBody>
                  <a:tcPr marL="73152" marR="54864" marT="27432" marB="27432" anchor="ctr">
                    <a:solidFill>
                      <a:srgbClr val="F7F9F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Hand transcription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A number retyped into a write-up or a table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>
                          <a:solidFill>
                            <a:srgbClr val="1C272B"/>
                          </a:solidFill>
                        </a:rPr>
                        <a:t>Nothing links the copy back to the source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10896" y="3712463"/>
            <a:ext cx="8522208" cy="632968"/>
          </a:xfrm>
          <a:prstGeom prst="rect">
            <a:avLst/>
          </a:prstGeom>
          <a:solidFill>
            <a:srgbClr val="FDF0EB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FF5722"/>
                </a:solidFill>
              </a:rPr>
              <a:t>This is not hypothetical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All three have appeared in published materials for this exercise, including this course's.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712463"/>
            <a:ext cx="50292" cy="63296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State versus recipe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This is the real difference, and it is what should tip a borderline decision.</a:t>
            </a:r>
          </a:p>
        </p:txBody>
      </p:sp>
      <p:pic>
        <p:nvPicPr>
          <p:cNvPr id="4" name="Picture 3" descr="state_vs_rec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08176"/>
            <a:ext cx="6949440" cy="23912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0896" y="3840480"/>
            <a:ext cx="8522208" cy="385064"/>
          </a:xfrm>
          <a:prstGeom prst="rect">
            <a:avLst/>
          </a:prstGeom>
          <a:solidFill>
            <a:srgbClr val="ECF4F0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When a number looks wrong, a spreadsheet leaves you guessing and a script tells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840480"/>
            <a:ext cx="50292" cy="385064"/>
          </a:xfrm>
          <a:prstGeom prst="rect">
            <a:avLst/>
          </a:prstGeom>
          <a:solidFill>
            <a:srgbClr val="0097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The honest costs of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60120"/>
            <a:ext cx="3999900" cy="2724912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455A64"/>
                </a:solidFill>
              </a:rPr>
              <a:t>Excel costs you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No record of what you did, only what you have.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Errors that look identical to correct work.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Rework whenever the data changes.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A hard ceiling on size and on method.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4832400" y="960120"/>
            <a:ext cx="3999900" cy="2724912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455A64"/>
                </a:solidFill>
              </a:rPr>
              <a:t>R costs you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A slower first hour, and unhelpful error messages.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You cannot see your data unless you ask to.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Styling output takes real effort.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</a:rPr>
              <a:t>Colab times out; packages shift under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3803904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Neither list is a reason to avoid a tool. Both are reasons to pick deliberately.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3803904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When it is a close call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550" b="0" i="0">
                <a:solidFill>
                  <a:srgbClr val="212121"/>
                </a:solidFill>
              </a:rPr>
              <a:t>Four questions. A yes to any one of them tips it towards writing a script.</a:t>
            </a:r>
          </a:p>
        </p:txBody>
      </p:sp>
      <p:pic>
        <p:nvPicPr>
          <p:cNvPr id="4" name="Picture 3" descr="decision_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89888"/>
            <a:ext cx="7315200" cy="2819891"/>
          </a:xfrm>
          <a:prstGeom prst="rect">
            <a:avLst/>
          </a:prstGeom>
        </p:spPr>
      </p:pic>
      <p:sp>
        <p:nvSpPr>
          <p:cNvPr id="5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384048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Where to go from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932688"/>
            <a:ext cx="8520600" cy="566928"/>
          </a:xfrm>
        </p:spPr>
        <p:txBody>
          <a:bodyPr wrap="square"/>
          <a:lstStyle/>
          <a:p>
            <a:pPr>
              <a:spcAft>
                <a:spcPts val="0"/>
              </a:spcAft>
              <a:buNone/>
            </a:pPr>
            <a:r>
              <a:rPr sz="1600" b="0" i="0">
                <a:solidFill>
                  <a:srgbClr val="212121"/>
                </a:solidFill>
              </a:rPr>
              <a:t>Four habits worth carrying out of this session.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499616"/>
            <a:ext cx="4187952" cy="120700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Look first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open any new dataset in Excel before you analyse it, whatever you plan to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45152" y="1499616"/>
            <a:ext cx="4187952" cy="1207008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Script the repeat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if you will run it twice, write it down the first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2761488"/>
            <a:ext cx="4187952" cy="1170432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Cross-check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do the work in R, verify a number or two in Excel — disagreement is informative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5152" y="2761488"/>
            <a:ext cx="4187952" cy="1170432"/>
          </a:xfrm>
          <a:prstGeom prst="rect">
            <a:avLst/>
          </a:prstGeom>
          <a:solidFill>
            <a:srgbClr val="F7F9FA"/>
          </a:solidFill>
          <a:ln w="9525">
            <a:solidFill>
              <a:srgbClr val="D9D9D9"/>
            </a:solidFill>
          </a:ln>
        </p:spPr>
        <p:txBody>
          <a:bodyPr wrap="square" lIns="109728" tIns="73152" rIns="82296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455A64"/>
                </a:solidFill>
              </a:rPr>
              <a:t>Keep the tables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212121"/>
                </a:solidFill>
              </a:rPr>
              <a:t>the which-tool-when slide and the five reference slides are the usable 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" y="4023360"/>
            <a:ext cx="8522208" cy="385064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wrap="square" lIns="146304" tIns="73152" rIns="109728" bIns="54864">
            <a:spAutoFit/>
          </a:bodyPr>
          <a:lstStyle/>
          <a:p>
            <a:pPr>
              <a:spcAft>
                <a:spcPts val="0"/>
              </a:spcAft>
            </a:pPr>
            <a:r>
              <a:rPr sz="1400" b="0" i="0">
                <a:solidFill>
                  <a:srgbClr val="212121"/>
                </a:solidFill>
              </a:rPr>
              <a:t>When the two disagree, find out which is wrong before assuming it is 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" y="4023360"/>
            <a:ext cx="50292" cy="385064"/>
          </a:xfrm>
          <a:prstGeom prst="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ZKICKER"/>
          <p:cNvSpPr txBox="1"/>
          <p:nvPr/>
        </p:nvSpPr>
        <p:spPr>
          <a:xfrm>
            <a:off x="310896" y="118872"/>
            <a:ext cx="7726679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1" i="0">
                <a:solidFill>
                  <a:srgbClr val="FF5722"/>
                </a:solidFill>
              </a:rPr>
              <a:t>O N E   A R G U M E N T   W O R T H   M A K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" y="850392"/>
            <a:ext cx="786384" cy="4114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867765"/>
            <a:ext cx="7735824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137160"/>
            <a:ext cx="676656" cy="237744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607D8B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896" y="237744"/>
            <a:ext cx="7726679" cy="53035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2500" b="1" i="0">
                <a:solidFill>
                  <a:srgbClr val="212121"/>
                </a:solidFill>
              </a:rPr>
              <a:t>Thank you!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Developed by Sean P. Rogers, DITI Research and Teaching Fellows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All materials: https://github.com/NULabNortheastern/digitalassignmentshowcase/tree/main/coding_quantitative/fa26-prina-econ3291-excel_r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Please fill out this survey to give us feedback: https://bit.ly/diti-feedback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For more information on DITI, please see: https://bit.ly/diti-about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Schedule an appointment with us! https://bit.ly/diti-meeting</a:t>
            </a:r>
          </a:p>
          <a:p>
            <a:pPr>
              <a:spcAft>
                <a:spcPts val="500"/>
              </a:spcAft>
            </a:pPr>
            <a:r>
              <a:rPr sz="1500" b="0" i="0">
                <a:solidFill>
                  <a:srgbClr val="212121"/>
                </a:solidFill>
              </a:rPr>
              <a:t>If you have any questions, contact us at: nulab.info@gmail.com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TI Slides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TI Slides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