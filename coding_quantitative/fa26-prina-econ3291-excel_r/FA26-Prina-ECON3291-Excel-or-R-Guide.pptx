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Excel or R: which tool for which job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the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A practical guide to picking the right tool for a task — and to using the two together, which is what most real projects actually 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this module is for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You can already do the work in both. This is about deciding which one to open.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Choose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match the tool to the job, and say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Combine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use them together in one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9904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Translate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look up how to do a task in either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2962656"/>
            <a:ext cx="8522208" cy="71323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honest answer is rarely “always use R”. It is “use the one that fits this job”, and quite often the answer is to use both, in a particular order.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2962656"/>
            <a:ext cx="50292" cy="71323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V E R V I E 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short 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If you remember one slide, make it the next one.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Which tool, when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Match the job to the tool. Most decisions are already covered here.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554480"/>
          <a:ext cx="852220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1234440"/>
                <a:gridCol w="3950208"/>
              </a:tblGrid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If the job is…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Reach for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Because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 styled deliverable — a formatted sheet</a:t>
                      </a:r>
                    </a:p>
                    <a:p>
                      <a:r>
                        <a:t>someone will read — and simple analysis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formatting is the product, and</a:t>
                      </a:r>
                    </a:p>
                    <a:p>
                      <a:r>
                        <a:t>the stats are not the hard part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Statistical testing over thousands of rows</a:t>
                      </a:r>
                    </a:p>
                    <a:p>
                      <a:r>
                        <a:t>of CSV, with no styling needed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Scale, real test output, and a record</a:t>
                      </a:r>
                    </a:p>
                    <a:p>
                      <a:r>
                        <a:t>of what you ran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Getting to know a dataset you have</a:t>
                      </a:r>
                    </a:p>
                    <a:p>
                      <a:r>
                        <a:t>never opened before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 first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Look at it before you trust it —</a:t>
                      </a:r>
                    </a:p>
                    <a:p>
                      <a:r>
                        <a:t>names, types, blanks, quirks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Cleaning messy data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Both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Eyeball and fix oddities in Excel,</a:t>
                      </a:r>
                    </a:p>
                    <a:p>
                      <a:r>
                        <a:t>automate rules in 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Anything you will re-run, or hand to</a:t>
                      </a:r>
                    </a:p>
                    <a:p>
                      <a:r>
                        <a:t>someone who must check 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script is the record of what</a:t>
                      </a:r>
                    </a:p>
                    <a:p>
                      <a:r>
                        <a:t>you actually did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S H O R T   V E R S I O 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Five situations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Concrete cases, with a recommendation and the reasoning.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need to hand over a polished spreadsheet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The deliverable is a formatted sheet, and the analysis is straightforward.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formatting is not decoration — it is the product. Conditional colours, frozen headers, column widths and a print layout are the job.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statistics are means, counts, shares, maybe a simple regression. Nothing Excel struggles with.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Whoever receives it will open it, click into cells, and change numbers themselves.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Producing this from R means writing styling code to recreate what you can do by hand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Doing it in R and exporting to .xlsx is possible — but only worth it if you will remake the same sheet repeatedly.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Statistical testing over thousands of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Large CSV, real tests, and nobody needs it to look like a spreadsheet.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slows down, and its row limit is a real ceiling. R does not care about the size.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You get proper test output — coefficients, standard errors, t, p and intervals — without computing anything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Anything past simple OLS is either awkward or absent in Excel.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Re-running on a new extract is one command, not an afternoon of re-pointing formulas.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This is the case where the gap is largest. If the output is a number in a paper rather than a cell in a sheet, use 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have never opened this dataset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Look at the raw file before you point any code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EXCEL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Read the actual column names. They are often abbreviated, inconsistent, or not what the documentation claims.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Check what one row represents, and whether an ID repeats.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Scan for the quirks that break an import: merged cells, a title row above the headers, blank rows, text in a numeric column, trailing spaces.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Then load it into R knowing what you are getting, instead of debugging a silent failure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column that reads as text because three cells contain “n/a” will produce wrong answers in either tool. Excel shows you that in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 is messy and needs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Split the work: eyeball and fix in Excel, automate the rules in 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is better for the irregular things — a handful of typos, one stray value, a column that needs looking at to understand.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 is better for anything with a rule: recode every value matching a pattern, fix all the dates, drop every row failing a condition.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test is whether you can state the fix as a rule. If you can, write it down in R. If it is genuinely one-off, fix it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Record the hand-fixes somewhere, or your cleaned file becomes impossible to reproduce.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42062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Keep the raw file untouched. Clean into a copy, always.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42062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will run this again, or someone must check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Repetition and scrutiny are what scripts are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problem set repeats similar operations on the same data all semester. Write it once.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When the data is corrected in week 9, you change one line and re-run everything.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grader, co-author or reviewer can read exactly what you did, in order.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In six weeks you will not remember whether you filtered to the baseline round. The script will.</a:t>
            </a:r>
          </a:p>
        </p:txBody>
      </p:sp>
      <p:sp>
        <p:nvSpPr>
          <p:cNvPr id="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Using them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The order matters more than the choice.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A workflow that uses both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what most real projects look like — not one tool, but a sequence.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44752"/>
            <a:ext cx="8138160" cy="260918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Handing data between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Moving in either direction is a single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536192"/>
            <a:ext cx="8522208" cy="184937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read_excel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"data.xlsx"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straight from .xlsx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"data.csv"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or save as CSV first</a:t>
            </a:r>
          </a:p>
          <a:p>
            <a:pPr algn="l">
              <a:spcAft>
                <a:spcPts val="0"/>
              </a:spcAft>
              <a:buNone/>
            </a:pPr>
            <a:r>
              <a:rPr sz="6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write.csv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"results.csv"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.</a:t>
            </a:r>
            <a:r>
              <a:rPr sz="1200" b="1">
                <a:solidFill>
                  <a:srgbClr val="007986"/>
                </a:solidFill>
                <a:latin typeface="Courier New"/>
              </a:rPr>
              <a:t>n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write_xlsx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"results.xlsx"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keeps it as a real workbook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591056"/>
            <a:ext cx="45720" cy="173964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6002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352958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Prefer CSV in between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CSV is the safe interchange format: no formulas, no formatting, no surprises. Save as CSV whenever a file has to cross between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2958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Things that break on the way across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Five failures that account for most bad imports. All five are visible in Excel.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81328"/>
          <a:ext cx="852220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657600"/>
                <a:gridCol w="2807208"/>
              </a:tblGrid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breaks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How it shows up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to do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numbers where you expected dates,</a:t>
                      </a:r>
                    </a:p>
                    <a:p>
                      <a:r>
                        <a:t>or the wrong century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check every date column</a:t>
                      </a:r>
                    </a:p>
                    <a:p>
                      <a:r>
                        <a:t>immediately after import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Leading zeros in IDs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00123 arrives as 123, and</a:t>
                      </a:r>
                    </a:p>
                    <a:p>
                      <a:r>
                        <a:t>your merge silently loses rows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ID column as text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Merged cells, title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header ends up as data,</a:t>
                      </a:r>
                    </a:p>
                    <a:p>
                      <a:r>
                        <a:t>column names become X1, X2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delete them before exporting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Text in a numeric column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whole column imports as text,</a:t>
                      </a:r>
                    </a:p>
                    <a:p>
                      <a:r>
                        <a:t>so mean() fails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find the stray “n/a” or space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Unquoted commas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fields split across columns,</a:t>
                      </a:r>
                    </a:p>
                    <a:p>
                      <a:r>
                        <a:t>row lengths differ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export CSV with quoting 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858768"/>
            <a:ext cx="8522208" cy="4023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 one of these is obvious in thirty seconds of looking, and invisible if you go straight to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58768"/>
            <a:ext cx="50292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Reference: how you do it in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Keep these five slides. They are the fastest way to translate when you are stuck.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and looking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first three things you do with any dataset.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Open the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File → Open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df &lt;- read.csv(path)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How many rows?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What are the columns?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read row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names(df)  /  str(df)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Look at the top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scroll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head(df)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Describe everything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 grid of formulas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summary(df)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Describing a variable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Excel does one statistic per formula; R can do the whole table in one call.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536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Mean / median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=AVERAGE(r)  /  =MEDIAN(r)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mean(x)  /  median(x)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Std. deviation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=STDEV.S(r)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sd(x)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Minimum / maximum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=MIN(r)  /  =MAX(r)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min(x)  /  max(x)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Several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fill the formulas across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sapply(df[vars], 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Counting and subsetting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Both tools make you be explicit about rows versus entities.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distinct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=SUMPRODUCT(1/COUNTIF(r,r))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length(unique(df$id))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Rows meeting a rule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=COUNTIFS($E:$E,1)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sum(df$g == 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Proportion meeting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=COUNTIFS(...)/COUNTA(...)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mean(df$g == 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Keep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then copy visible rows</a:t>
                      </a:r>
                    </a:p>
                    <a:p>
                      <a:r>
                        <a:t>to a new tab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base &lt;- df[df$round == 0, ]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Creating and comparing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One formula filled down, versus one statement applied to a whole column.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New indicator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=IF(I2&lt;=750,1,0)  then fill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df$e &lt;- ifelse(df$p &lt;= 750, 1, 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Conditional mean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=AVERAGEIFS(D:D,$B:$B,0)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mean(base$hhe)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Means by group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one AVERAGEIFS per cell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group_by(g) %&gt;% summarise(mean(x))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Cross-tabulate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PivotTable, or a COUNTIFS grid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table(df$a, df$b)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Relationships and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gap widens as the task gets more statistical.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228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Scatter plot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select → Insert → Scatter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ggplot(d, aes(x, y)) + geom_point()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=CORREL(r1, r2)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cor(x, y)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 on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copy visible rows to a</a:t>
                      </a:r>
                    </a:p>
                    <a:p>
                      <a:r>
                        <a:t>new sheet, then CORREL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cor(base$x, base$y)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Regression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=LINEST(y, X, TRUE, TRUE)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x, data = 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Add a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rearrange into adjacent columns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 + z, data = 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result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count across a grid, backwards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summary(m)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Why the regression output is not equally readable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LINEST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An unlabelled block of numbers.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Coefficients in reverse column order.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last, not first.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t-statistics and no p-values.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#N/A padding in the unused cells.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summary()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labelled table, one row per variable.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In the order you wrote the formula.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clearly named.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 and p computed for you.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Fit statistics underneath.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Same model, same coefficients. The difference is how easy each is to misread.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One argument worth making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Choose on fit, not on loyalty — but know what each one hides.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Three errors a spreadsheet will not catch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These are the characteristic failure modes. All three produce a plausible-looking number.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99616"/>
          <a:ext cx="852220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3127248"/>
              </a:tblGrid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The error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looks like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Why nothing warns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Off-by-one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You point at the column beside the one you meant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The formula is valid and returns a real number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Rows counted as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panel counted once per period, not once per unit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COUNTIF is doing exactly what you asked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Hand transcription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number retyped into a write-up or a table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Nothing links the copy back to the source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712463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This is not hypothetical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All three have appeared in published materials for this exercise, including this course's.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712463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State versus recipe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the real difference, and it is what should tip a borderline decision.</a:t>
            </a:r>
          </a:p>
        </p:txBody>
      </p:sp>
      <p:pic>
        <p:nvPicPr>
          <p:cNvPr id="4" name="Picture 3" descr="state_vs_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08176"/>
            <a:ext cx="6949440" cy="23912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0896" y="3840480"/>
            <a:ext cx="8522208" cy="38506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a number looks wrong, a spreadsheet leaves you guessing and a script tells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40480"/>
            <a:ext cx="50292" cy="385064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honest costs of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Excel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record of what you did, only what you have.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Errors that look identical to correct work.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Rework whenever the data changes.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hard ceiling on size and on method.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R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slower first hour, and unhelpful error messages.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You cannot see your data unless you ask to.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Styling output takes real effort.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Colab times out; packages shift under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Neither list is a reason to avoid a tool. Both are reasons to pick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When it is a close call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questions. A yes to any one of them tips it towards writing a script.</a:t>
            </a:r>
          </a:p>
        </p:txBody>
      </p:sp>
      <p:pic>
        <p:nvPicPr>
          <p:cNvPr id="4" name="Picture 3" descr="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89888"/>
            <a:ext cx="7315200" cy="281989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Where to go from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habits worth carrying out of this session.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Look first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open any new dataset in Excel before you analyse it, whatever you plan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5152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Script the repeat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if you will run it twice, write it down the first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Cross-check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do the work in R, verify a number or two in Excel — disagreement is informative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Keep the tables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the which-tool-when slide and the five reference slides are the usable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" y="4023360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the two disagree, find out which is wrong before assuming it is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402336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Slides, notebooks, and dataset: [ADD COURSE MATERIALS LINK]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