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18"/>
    <p:sldId id="257" r:id="rId19"/>
    <p:sldId id="258"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17"/>
    <p:sldId id="293" r:id="rId16"/>
    <p:sldId id="294" r:id="rId15"/>
    <p:sldId id="295" r:id="rId14"/>
    <p:sldId id="296" r:id="rId13"/>
    <p:sldId id="297" r:id="rId12"/>
    <p:sldId id="298" r:id="rId11"/>
    <p:sldId id="299" r:id="rId10"/>
    <p:sldId id="300" r:id="rId9"/>
    <p:sldId id="301" r:id="rId63"/>
    <p:sldId id="302" r:id="rId64"/>
    <p:sldId id="303" r:id="rId65"/>
    <p:sldId id="304" r:id="rId66"/>
    <p:sldId id="305" r:id="rId67"/>
    <p:sldId id="306" r:id="rId68"/>
    <p:sldId id="307" r:id="rId69"/>
  </p:sldIdLst>
  <p:sldSz cy="5143500" cx="9144000"/>
  <p:notesSz cx="6858000" cy="9144000"/>
  <p:embeddedFontLst>
    <p:embeddedFont>
      <p:font typeface="Proxima Nova"/>
      <p:regular r:id="rId54"/>
      <p:bold r:id="rId55"/>
      <p:italic r:id="rId56"/>
      <p:boldItalic r:id="rId57"/>
    </p:embeddedFont>
    <p:embeddedFont>
      <p:font typeface="Roboto"/>
      <p:regular r:id="rId58"/>
      <p:bold r:id="rId59"/>
      <p:italic r:id="rId60"/>
      <p:boldItalic r:id="rId61"/>
    </p:embeddedFont>
    <p:embeddedFont>
      <p:font typeface="Alfa Slab One"/>
      <p:regular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Sarah Connell"/>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5" Type="http://schemas.openxmlformats.org/officeDocument/2006/relationships/slide" Target="slides/slide39.xml"/><Relationship Id="rId16" Type="http://schemas.openxmlformats.org/officeDocument/2006/relationships/slide" Target="slides/slide38.xml"/><Relationship Id="rId17" Type="http://schemas.openxmlformats.org/officeDocument/2006/relationships/slide" Target="slides/slide37.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font" Target="fonts/ProximaNova-regular.fntdata"/><Relationship Id="rId55" Type="http://schemas.openxmlformats.org/officeDocument/2006/relationships/font" Target="fonts/ProximaNova-bold.fntdata"/><Relationship Id="rId56" Type="http://schemas.openxmlformats.org/officeDocument/2006/relationships/font" Target="fonts/ProximaNova-italic.fntdata"/><Relationship Id="rId57" Type="http://schemas.openxmlformats.org/officeDocument/2006/relationships/font" Target="fonts/ProximaNova-boldItalic.fntdata"/><Relationship Id="rId58" Type="http://schemas.openxmlformats.org/officeDocument/2006/relationships/font" Target="fonts/Roboto-regular.fntdata"/><Relationship Id="rId59" Type="http://schemas.openxmlformats.org/officeDocument/2006/relationships/font" Target="fonts/Roboto-bold.fntdata"/><Relationship Id="rId60" Type="http://schemas.openxmlformats.org/officeDocument/2006/relationships/font" Target="fonts/Roboto-italic.fntdata"/><Relationship Id="rId61" Type="http://schemas.openxmlformats.org/officeDocument/2006/relationships/font" Target="fonts/Roboto-boldItalic.fntdata"/><Relationship Id="rId62" Type="http://schemas.openxmlformats.org/officeDocument/2006/relationships/font" Target="fonts/AlfaSlabOne-regular.fntdata"/><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68" Type="http://schemas.openxmlformats.org/officeDocument/2006/relationships/slide" Target="slides/slide51.xml"/><Relationship Id="rId6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cxnSp>
        <p:nvCxnSpPr>
          <p:cNvPr id="58" name="Google Shape;58;p14"/>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59" name="Google Shape;59;p14"/>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400"/>
              <a:buNone/>
              <a:defRPr b="1" sz="5400"/>
            </a:lvl1pPr>
            <a:lvl2pPr lvl="1" rtl="0" algn="ctr">
              <a:spcBef>
                <a:spcPts val="0"/>
              </a:spcBef>
              <a:spcAft>
                <a:spcPts val="0"/>
              </a:spcAft>
              <a:buSzPts val="5400"/>
              <a:buNone/>
              <a:defRPr sz="5400"/>
            </a:lvl2pPr>
            <a:lvl3pPr lvl="2" rtl="0" algn="ctr">
              <a:spcBef>
                <a:spcPts val="0"/>
              </a:spcBef>
              <a:spcAft>
                <a:spcPts val="0"/>
              </a:spcAft>
              <a:buSzPts val="5400"/>
              <a:buNone/>
              <a:defRPr sz="5400"/>
            </a:lvl3pPr>
            <a:lvl4pPr lvl="3" rtl="0" algn="ctr">
              <a:spcBef>
                <a:spcPts val="0"/>
              </a:spcBef>
              <a:spcAft>
                <a:spcPts val="0"/>
              </a:spcAft>
              <a:buSzPts val="5400"/>
              <a:buNone/>
              <a:defRPr sz="5400"/>
            </a:lvl4pPr>
            <a:lvl5pPr lvl="4" rtl="0" algn="ctr">
              <a:spcBef>
                <a:spcPts val="0"/>
              </a:spcBef>
              <a:spcAft>
                <a:spcPts val="0"/>
              </a:spcAft>
              <a:buSzPts val="5400"/>
              <a:buNone/>
              <a:defRPr sz="5400"/>
            </a:lvl5pPr>
            <a:lvl6pPr lvl="5" rtl="0" algn="ctr">
              <a:spcBef>
                <a:spcPts val="0"/>
              </a:spcBef>
              <a:spcAft>
                <a:spcPts val="0"/>
              </a:spcAft>
              <a:buSzPts val="5400"/>
              <a:buNone/>
              <a:defRPr sz="5400"/>
            </a:lvl6pPr>
            <a:lvl7pPr lvl="6" rtl="0" algn="ctr">
              <a:spcBef>
                <a:spcPts val="0"/>
              </a:spcBef>
              <a:spcAft>
                <a:spcPts val="0"/>
              </a:spcAft>
              <a:buSzPts val="5400"/>
              <a:buNone/>
              <a:defRPr sz="5400"/>
            </a:lvl7pPr>
            <a:lvl8pPr lvl="7" rtl="0" algn="ctr">
              <a:spcBef>
                <a:spcPts val="0"/>
              </a:spcBef>
              <a:spcAft>
                <a:spcPts val="0"/>
              </a:spcAft>
              <a:buSzPts val="5400"/>
              <a:buNone/>
              <a:defRPr sz="5400"/>
            </a:lvl8pPr>
            <a:lvl9pPr lvl="8" rtl="0" algn="ctr">
              <a:spcBef>
                <a:spcPts val="0"/>
              </a:spcBef>
              <a:spcAft>
                <a:spcPts val="0"/>
              </a:spcAft>
              <a:buSzPts val="5400"/>
              <a:buNone/>
              <a:defRPr sz="5400"/>
            </a:lvl9pPr>
          </a:lstStyle>
          <a:p/>
        </p:txBody>
      </p:sp>
      <p:sp>
        <p:nvSpPr>
          <p:cNvPr id="60" name="Google Shape;60;p14"/>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sz="2400"/>
            </a:lvl1pPr>
            <a:lvl2pPr lvl="1" rtl="0" algn="ctr">
              <a:lnSpc>
                <a:spcPct val="100000"/>
              </a:lnSpc>
              <a:spcBef>
                <a:spcPts val="0"/>
              </a:spcBef>
              <a:spcAft>
                <a:spcPts val="0"/>
              </a:spcAft>
              <a:buSzPts val="2400"/>
              <a:buNone/>
              <a:defRPr sz="2400"/>
            </a:lvl2pPr>
            <a:lvl3pPr lvl="2" rtl="0" algn="ctr">
              <a:lnSpc>
                <a:spcPct val="100000"/>
              </a:lnSpc>
              <a:spcBef>
                <a:spcPts val="0"/>
              </a:spcBef>
              <a:spcAft>
                <a:spcPts val="0"/>
              </a:spcAft>
              <a:buSzPts val="2400"/>
              <a:buNone/>
              <a:defRPr sz="2400"/>
            </a:lvl3pPr>
            <a:lvl4pPr lvl="3" rtl="0" algn="ctr">
              <a:lnSpc>
                <a:spcPct val="100000"/>
              </a:lnSpc>
              <a:spcBef>
                <a:spcPts val="0"/>
              </a:spcBef>
              <a:spcAft>
                <a:spcPts val="0"/>
              </a:spcAft>
              <a:buSzPts val="2400"/>
              <a:buNone/>
              <a:defRPr sz="2400"/>
            </a:lvl4pPr>
            <a:lvl5pPr lvl="4" rtl="0" algn="ctr">
              <a:lnSpc>
                <a:spcPct val="100000"/>
              </a:lnSpc>
              <a:spcBef>
                <a:spcPts val="0"/>
              </a:spcBef>
              <a:spcAft>
                <a:spcPts val="0"/>
              </a:spcAft>
              <a:buSzPts val="2400"/>
              <a:buNone/>
              <a:defRPr sz="2400"/>
            </a:lvl5pPr>
            <a:lvl6pPr lvl="5" rtl="0" algn="ctr">
              <a:lnSpc>
                <a:spcPct val="100000"/>
              </a:lnSpc>
              <a:spcBef>
                <a:spcPts val="0"/>
              </a:spcBef>
              <a:spcAft>
                <a:spcPts val="0"/>
              </a:spcAft>
              <a:buSzPts val="2400"/>
              <a:buNone/>
              <a:defRPr sz="2400"/>
            </a:lvl6pPr>
            <a:lvl7pPr lvl="6" rtl="0" algn="ctr">
              <a:lnSpc>
                <a:spcPct val="100000"/>
              </a:lnSpc>
              <a:spcBef>
                <a:spcPts val="0"/>
              </a:spcBef>
              <a:spcAft>
                <a:spcPts val="0"/>
              </a:spcAft>
              <a:buSzPts val="2400"/>
              <a:buNone/>
              <a:defRPr sz="2400"/>
            </a:lvl7pPr>
            <a:lvl8pPr lvl="7" rtl="0" algn="ctr">
              <a:lnSpc>
                <a:spcPct val="100000"/>
              </a:lnSpc>
              <a:spcBef>
                <a:spcPts val="0"/>
              </a:spcBef>
              <a:spcAft>
                <a:spcPts val="0"/>
              </a:spcAft>
              <a:buSzPts val="2400"/>
              <a:buNone/>
              <a:defRPr sz="2400"/>
            </a:lvl8pPr>
            <a:lvl9pPr lvl="8" rtl="0" algn="ctr">
              <a:lnSpc>
                <a:spcPct val="100000"/>
              </a:lnSpc>
              <a:spcBef>
                <a:spcPts val="0"/>
              </a:spcBef>
              <a:spcAft>
                <a:spcPts val="0"/>
              </a:spcAft>
              <a:buSzPts val="2400"/>
              <a:buNone/>
              <a:defRPr sz="24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61" name="Shape 61"/>
        <p:cNvGrpSpPr/>
        <p:nvPr/>
      </p:nvGrpSpPr>
      <p:grpSpPr>
        <a:xfrm>
          <a:off x="0" y="0"/>
          <a:ext cx="0" cy="0"/>
          <a:chOff x="0" y="0"/>
          <a:chExt cx="0" cy="0"/>
        </a:xfrm>
      </p:grpSpPr>
      <p:sp>
        <p:nvSpPr>
          <p:cNvPr id="62" name="Google Shape;62;p15"/>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6800"/>
              <a:buNone/>
              <a:defRPr sz="6800">
                <a:solidFill>
                  <a:schemeClr val="lt1"/>
                </a:solidFill>
              </a:defRPr>
            </a:lvl1pPr>
            <a:lvl2pPr lvl="1" rtl="0">
              <a:spcBef>
                <a:spcPts val="0"/>
              </a:spcBef>
              <a:spcAft>
                <a:spcPts val="0"/>
              </a:spcAft>
              <a:buClr>
                <a:schemeClr val="lt1"/>
              </a:buClr>
              <a:buSzPts val="6800"/>
              <a:buNone/>
              <a:defRPr sz="6800">
                <a:solidFill>
                  <a:schemeClr val="lt1"/>
                </a:solidFill>
              </a:defRPr>
            </a:lvl2pPr>
            <a:lvl3pPr lvl="2" rtl="0">
              <a:spcBef>
                <a:spcPts val="0"/>
              </a:spcBef>
              <a:spcAft>
                <a:spcPts val="0"/>
              </a:spcAft>
              <a:buClr>
                <a:schemeClr val="lt1"/>
              </a:buClr>
              <a:buSzPts val="6800"/>
              <a:buNone/>
              <a:defRPr sz="6800">
                <a:solidFill>
                  <a:schemeClr val="lt1"/>
                </a:solidFill>
              </a:defRPr>
            </a:lvl3pPr>
            <a:lvl4pPr lvl="3" rtl="0">
              <a:spcBef>
                <a:spcPts val="0"/>
              </a:spcBef>
              <a:spcAft>
                <a:spcPts val="0"/>
              </a:spcAft>
              <a:buClr>
                <a:schemeClr val="lt1"/>
              </a:buClr>
              <a:buSzPts val="6800"/>
              <a:buNone/>
              <a:defRPr sz="6800">
                <a:solidFill>
                  <a:schemeClr val="lt1"/>
                </a:solidFill>
              </a:defRPr>
            </a:lvl4pPr>
            <a:lvl5pPr lvl="4" rtl="0">
              <a:spcBef>
                <a:spcPts val="0"/>
              </a:spcBef>
              <a:spcAft>
                <a:spcPts val="0"/>
              </a:spcAft>
              <a:buClr>
                <a:schemeClr val="lt1"/>
              </a:buClr>
              <a:buSzPts val="6800"/>
              <a:buNone/>
              <a:defRPr sz="6800">
                <a:solidFill>
                  <a:schemeClr val="lt1"/>
                </a:solidFill>
              </a:defRPr>
            </a:lvl5pPr>
            <a:lvl6pPr lvl="5" rtl="0">
              <a:spcBef>
                <a:spcPts val="0"/>
              </a:spcBef>
              <a:spcAft>
                <a:spcPts val="0"/>
              </a:spcAft>
              <a:buClr>
                <a:schemeClr val="lt1"/>
              </a:buClr>
              <a:buSzPts val="6800"/>
              <a:buNone/>
              <a:defRPr sz="6800">
                <a:solidFill>
                  <a:schemeClr val="lt1"/>
                </a:solidFill>
              </a:defRPr>
            </a:lvl6pPr>
            <a:lvl7pPr lvl="6" rtl="0">
              <a:spcBef>
                <a:spcPts val="0"/>
              </a:spcBef>
              <a:spcAft>
                <a:spcPts val="0"/>
              </a:spcAft>
              <a:buClr>
                <a:schemeClr val="lt1"/>
              </a:buClr>
              <a:buSzPts val="6800"/>
              <a:buNone/>
              <a:defRPr sz="6800">
                <a:solidFill>
                  <a:schemeClr val="lt1"/>
                </a:solidFill>
              </a:defRPr>
            </a:lvl7pPr>
            <a:lvl8pPr lvl="7" rtl="0">
              <a:spcBef>
                <a:spcPts val="0"/>
              </a:spcBef>
              <a:spcAft>
                <a:spcPts val="0"/>
              </a:spcAft>
              <a:buClr>
                <a:schemeClr val="lt1"/>
              </a:buClr>
              <a:buSzPts val="6800"/>
              <a:buNone/>
              <a:defRPr sz="6800">
                <a:solidFill>
                  <a:schemeClr val="lt1"/>
                </a:solidFill>
              </a:defRPr>
            </a:lvl8pPr>
            <a:lvl9pPr lvl="8" rtl="0">
              <a:spcBef>
                <a:spcPts val="0"/>
              </a:spcBef>
              <a:spcAft>
                <a:spcPts val="0"/>
              </a:spcAft>
              <a:buClr>
                <a:schemeClr val="lt1"/>
              </a:buClr>
              <a:buSzPts val="6800"/>
              <a:buNone/>
              <a:defRPr sz="6800">
                <a:solidFill>
                  <a:schemeClr val="lt1"/>
                </a:solidFill>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3" name="Shape 63"/>
        <p:cNvGrpSpPr/>
        <p:nvPr/>
      </p:nvGrpSpPr>
      <p:grpSpPr>
        <a:xfrm>
          <a:off x="0" y="0"/>
          <a:ext cx="0" cy="0"/>
          <a:chOff x="0" y="0"/>
          <a:chExt cx="0" cy="0"/>
        </a:xfrm>
      </p:grpSpPr>
      <p:sp>
        <p:nvSpPr>
          <p:cNvPr id="64" name="Google Shape;64;p16"/>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5" name="Google Shape;65;p16"/>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rtl="0">
              <a:spcBef>
                <a:spcPts val="0"/>
              </a:spcBef>
              <a:spcAft>
                <a:spcPts val="0"/>
              </a:spcAft>
              <a:buSzPts val="2400"/>
              <a:buChar char="●"/>
              <a:defRPr/>
            </a:lvl1pPr>
            <a:lvl2pPr indent="-355600" lvl="1" marL="914400" rtl="0">
              <a:spcBef>
                <a:spcPts val="1600"/>
              </a:spcBef>
              <a:spcAft>
                <a:spcPts val="0"/>
              </a:spcAft>
              <a:buSzPts val="2000"/>
              <a:buChar char="○"/>
              <a:defRPr/>
            </a:lvl2pPr>
            <a:lvl3pPr indent="-342900" lvl="2" marL="1371600" rtl="0">
              <a:spcBef>
                <a:spcPts val="1600"/>
              </a:spcBef>
              <a:spcAft>
                <a:spcPts val="0"/>
              </a:spcAft>
              <a:buSzPts val="18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6" name="Shape 66"/>
        <p:cNvGrpSpPr/>
        <p:nvPr/>
      </p:nvGrpSpPr>
      <p:grpSpPr>
        <a:xfrm>
          <a:off x="0" y="0"/>
          <a:ext cx="0" cy="0"/>
          <a:chOff x="0" y="0"/>
          <a:chExt cx="0" cy="0"/>
        </a:xfrm>
      </p:grpSpPr>
      <p:sp>
        <p:nvSpPr>
          <p:cNvPr id="67" name="Google Shape;67;p17"/>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8" name="Google Shape;68;p17"/>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69" name="Google Shape;69;p17"/>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2" name="Shape 72"/>
        <p:cNvGrpSpPr/>
        <p:nvPr/>
      </p:nvGrpSpPr>
      <p:grpSpPr>
        <a:xfrm>
          <a:off x="0" y="0"/>
          <a:ext cx="0" cy="0"/>
          <a:chOff x="0" y="0"/>
          <a:chExt cx="0" cy="0"/>
        </a:xfrm>
      </p:grpSpPr>
      <p:sp>
        <p:nvSpPr>
          <p:cNvPr id="73" name="Google Shape;73;p19"/>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74" name="Google Shape;74;p19"/>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75" name="Shape 75"/>
        <p:cNvGrpSpPr/>
        <p:nvPr/>
      </p:nvGrpSpPr>
      <p:grpSpPr>
        <a:xfrm>
          <a:off x="0" y="0"/>
          <a:ext cx="0" cy="0"/>
          <a:chOff x="0" y="0"/>
          <a:chExt cx="0" cy="0"/>
        </a:xfrm>
      </p:grpSpPr>
      <p:sp>
        <p:nvSpPr>
          <p:cNvPr id="76" name="Google Shape;76;p20"/>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lt1"/>
              </a:buClr>
              <a:buSzPts val="4800"/>
              <a:buNone/>
              <a:defRPr sz="4800">
                <a:solidFill>
                  <a:schemeClr val="lt1"/>
                </a:solidFill>
              </a:defRPr>
            </a:lvl1pPr>
            <a:lvl2pPr lvl="1" rtl="0">
              <a:spcBef>
                <a:spcPts val="0"/>
              </a:spcBef>
              <a:spcAft>
                <a:spcPts val="0"/>
              </a:spcAft>
              <a:buClr>
                <a:schemeClr val="lt1"/>
              </a:buClr>
              <a:buSzPts val="4800"/>
              <a:buNone/>
              <a:defRPr sz="4800">
                <a:solidFill>
                  <a:schemeClr val="lt1"/>
                </a:solidFill>
              </a:defRPr>
            </a:lvl2pPr>
            <a:lvl3pPr lvl="2" rtl="0">
              <a:spcBef>
                <a:spcPts val="0"/>
              </a:spcBef>
              <a:spcAft>
                <a:spcPts val="0"/>
              </a:spcAft>
              <a:buClr>
                <a:schemeClr val="lt1"/>
              </a:buClr>
              <a:buSzPts val="4800"/>
              <a:buNone/>
              <a:defRPr sz="4800">
                <a:solidFill>
                  <a:schemeClr val="lt1"/>
                </a:solidFill>
              </a:defRPr>
            </a:lvl3pPr>
            <a:lvl4pPr lvl="3" rtl="0">
              <a:spcBef>
                <a:spcPts val="0"/>
              </a:spcBef>
              <a:spcAft>
                <a:spcPts val="0"/>
              </a:spcAft>
              <a:buClr>
                <a:schemeClr val="lt1"/>
              </a:buClr>
              <a:buSzPts val="4800"/>
              <a:buNone/>
              <a:defRPr sz="4800">
                <a:solidFill>
                  <a:schemeClr val="lt1"/>
                </a:solidFill>
              </a:defRPr>
            </a:lvl4pPr>
            <a:lvl5pPr lvl="4" rtl="0">
              <a:spcBef>
                <a:spcPts val="0"/>
              </a:spcBef>
              <a:spcAft>
                <a:spcPts val="0"/>
              </a:spcAft>
              <a:buClr>
                <a:schemeClr val="lt1"/>
              </a:buClr>
              <a:buSzPts val="4800"/>
              <a:buNone/>
              <a:defRPr sz="4800">
                <a:solidFill>
                  <a:schemeClr val="lt1"/>
                </a:solidFill>
              </a:defRPr>
            </a:lvl5pPr>
            <a:lvl6pPr lvl="5" rtl="0">
              <a:spcBef>
                <a:spcPts val="0"/>
              </a:spcBef>
              <a:spcAft>
                <a:spcPts val="0"/>
              </a:spcAft>
              <a:buClr>
                <a:schemeClr val="lt1"/>
              </a:buClr>
              <a:buSzPts val="4800"/>
              <a:buNone/>
              <a:defRPr sz="4800">
                <a:solidFill>
                  <a:schemeClr val="lt1"/>
                </a:solidFill>
              </a:defRPr>
            </a:lvl6pPr>
            <a:lvl7pPr lvl="6" rtl="0">
              <a:spcBef>
                <a:spcPts val="0"/>
              </a:spcBef>
              <a:spcAft>
                <a:spcPts val="0"/>
              </a:spcAft>
              <a:buClr>
                <a:schemeClr val="lt1"/>
              </a:buClr>
              <a:buSzPts val="4800"/>
              <a:buNone/>
              <a:defRPr sz="4800">
                <a:solidFill>
                  <a:schemeClr val="lt1"/>
                </a:solidFill>
              </a:defRPr>
            </a:lvl7pPr>
            <a:lvl8pPr lvl="7" rtl="0">
              <a:spcBef>
                <a:spcPts val="0"/>
              </a:spcBef>
              <a:spcAft>
                <a:spcPts val="0"/>
              </a:spcAft>
              <a:buClr>
                <a:schemeClr val="lt1"/>
              </a:buClr>
              <a:buSzPts val="4800"/>
              <a:buNone/>
              <a:defRPr sz="4800">
                <a:solidFill>
                  <a:schemeClr val="lt1"/>
                </a:solidFill>
              </a:defRPr>
            </a:lvl8pPr>
            <a:lvl9pPr lvl="8" rtl="0">
              <a:spcBef>
                <a:spcPts val="0"/>
              </a:spcBef>
              <a:spcAft>
                <a:spcPts val="0"/>
              </a:spcAft>
              <a:buClr>
                <a:schemeClr val="lt1"/>
              </a:buClr>
              <a:buSzPts val="4800"/>
              <a:buNone/>
              <a:defRPr sz="4800">
                <a:solidFill>
                  <a:schemeClr val="lt1"/>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7" name="Shape 77"/>
        <p:cNvGrpSpPr/>
        <p:nvPr/>
      </p:nvGrpSpPr>
      <p:grpSpPr>
        <a:xfrm>
          <a:off x="0" y="0"/>
          <a:ext cx="0" cy="0"/>
          <a:chOff x="0" y="0"/>
          <a:chExt cx="0" cy="0"/>
        </a:xfrm>
      </p:grpSpPr>
      <p:sp>
        <p:nvSpPr>
          <p:cNvPr id="78" name="Google Shape;78;p21"/>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9" name="Google Shape;79;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0" name="Google Shape;80;p21"/>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800"/>
              <a:buNone/>
              <a:defRPr sz="3800"/>
            </a:lvl1pPr>
            <a:lvl2pPr lvl="1" rtl="0" algn="ctr">
              <a:spcBef>
                <a:spcPts val="0"/>
              </a:spcBef>
              <a:spcAft>
                <a:spcPts val="0"/>
              </a:spcAft>
              <a:buSzPts val="3800"/>
              <a:buNone/>
              <a:defRPr sz="3800"/>
            </a:lvl2pPr>
            <a:lvl3pPr lvl="2" rtl="0" algn="ctr">
              <a:spcBef>
                <a:spcPts val="0"/>
              </a:spcBef>
              <a:spcAft>
                <a:spcPts val="0"/>
              </a:spcAft>
              <a:buSzPts val="3800"/>
              <a:buNone/>
              <a:defRPr sz="3800"/>
            </a:lvl3pPr>
            <a:lvl4pPr lvl="3" rtl="0" algn="ctr">
              <a:spcBef>
                <a:spcPts val="0"/>
              </a:spcBef>
              <a:spcAft>
                <a:spcPts val="0"/>
              </a:spcAft>
              <a:buSzPts val="3800"/>
              <a:buNone/>
              <a:defRPr sz="3800"/>
            </a:lvl4pPr>
            <a:lvl5pPr lvl="4" rtl="0" algn="ctr">
              <a:spcBef>
                <a:spcPts val="0"/>
              </a:spcBef>
              <a:spcAft>
                <a:spcPts val="0"/>
              </a:spcAft>
              <a:buSzPts val="3800"/>
              <a:buNone/>
              <a:defRPr sz="3800"/>
            </a:lvl5pPr>
            <a:lvl6pPr lvl="5" rtl="0" algn="ctr">
              <a:spcBef>
                <a:spcPts val="0"/>
              </a:spcBef>
              <a:spcAft>
                <a:spcPts val="0"/>
              </a:spcAft>
              <a:buSzPts val="3800"/>
              <a:buNone/>
              <a:defRPr sz="3800"/>
            </a:lvl6pPr>
            <a:lvl7pPr lvl="6" rtl="0" algn="ctr">
              <a:spcBef>
                <a:spcPts val="0"/>
              </a:spcBef>
              <a:spcAft>
                <a:spcPts val="0"/>
              </a:spcAft>
              <a:buSzPts val="3800"/>
              <a:buNone/>
              <a:defRPr sz="3800"/>
            </a:lvl7pPr>
            <a:lvl8pPr lvl="7" rtl="0" algn="ctr">
              <a:spcBef>
                <a:spcPts val="0"/>
              </a:spcBef>
              <a:spcAft>
                <a:spcPts val="0"/>
              </a:spcAft>
              <a:buSzPts val="3800"/>
              <a:buNone/>
              <a:defRPr sz="3800"/>
            </a:lvl8pPr>
            <a:lvl9pPr lvl="8" rtl="0" algn="ctr">
              <a:spcBef>
                <a:spcPts val="0"/>
              </a:spcBef>
              <a:spcAft>
                <a:spcPts val="0"/>
              </a:spcAft>
              <a:buSzPts val="3800"/>
              <a:buNone/>
              <a:defRPr sz="3800"/>
            </a:lvl9pPr>
          </a:lstStyle>
          <a:p/>
        </p:txBody>
      </p:sp>
      <p:sp>
        <p:nvSpPr>
          <p:cNvPr id="81" name="Google Shape;81;p21"/>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82" name="Google Shape;82;p21"/>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rtl="0">
              <a:spcBef>
                <a:spcPts val="0"/>
              </a:spcBef>
              <a:spcAft>
                <a:spcPts val="0"/>
              </a:spcAft>
              <a:buClr>
                <a:schemeClr val="lt1"/>
              </a:buClr>
              <a:buSzPts val="2400"/>
              <a:buChar char="●"/>
              <a:defRPr>
                <a:solidFill>
                  <a:schemeClr val="lt1"/>
                </a:solidFill>
              </a:defRPr>
            </a:lvl1pPr>
            <a:lvl2pPr indent="-355600" lvl="1" marL="914400" rtl="0">
              <a:spcBef>
                <a:spcPts val="1600"/>
              </a:spcBef>
              <a:spcAft>
                <a:spcPts val="0"/>
              </a:spcAft>
              <a:buClr>
                <a:schemeClr val="lt1"/>
              </a:buClr>
              <a:buSzPts val="2000"/>
              <a:buChar char="○"/>
              <a:defRPr>
                <a:solidFill>
                  <a:schemeClr val="lt1"/>
                </a:solidFill>
              </a:defRPr>
            </a:lvl2pPr>
            <a:lvl3pPr indent="-342900" lvl="2" marL="1371600" rtl="0">
              <a:spcBef>
                <a:spcPts val="1600"/>
              </a:spcBef>
              <a:spcAft>
                <a:spcPts val="0"/>
              </a:spcAft>
              <a:buClr>
                <a:schemeClr val="lt1"/>
              </a:buClr>
              <a:buSzPts val="1800"/>
              <a:buChar char="■"/>
              <a:defRPr>
                <a:solidFill>
                  <a:schemeClr val="lt1"/>
                </a:solidFill>
              </a:defRPr>
            </a:lvl3pPr>
            <a:lvl4pPr indent="-317500" lvl="3" marL="1828800" rtl="0">
              <a:spcBef>
                <a:spcPts val="1600"/>
              </a:spcBef>
              <a:spcAft>
                <a:spcPts val="0"/>
              </a:spcAft>
              <a:buClr>
                <a:schemeClr val="lt1"/>
              </a:buClr>
              <a:buSzPts val="1400"/>
              <a:buChar char="●"/>
              <a:defRPr>
                <a:solidFill>
                  <a:schemeClr val="lt1"/>
                </a:solidFill>
              </a:defRPr>
            </a:lvl4pPr>
            <a:lvl5pPr indent="-317500" lvl="4" marL="2286000" rtl="0">
              <a:spcBef>
                <a:spcPts val="1600"/>
              </a:spcBef>
              <a:spcAft>
                <a:spcPts val="0"/>
              </a:spcAft>
              <a:buClr>
                <a:schemeClr val="lt1"/>
              </a:buClr>
              <a:buSzPts val="1400"/>
              <a:buChar char="○"/>
              <a:defRPr>
                <a:solidFill>
                  <a:schemeClr val="lt1"/>
                </a:solidFill>
              </a:defRPr>
            </a:lvl5pPr>
            <a:lvl6pPr indent="-317500" lvl="5" marL="2743200" rtl="0">
              <a:spcBef>
                <a:spcPts val="1600"/>
              </a:spcBef>
              <a:spcAft>
                <a:spcPts val="0"/>
              </a:spcAft>
              <a:buClr>
                <a:schemeClr val="lt1"/>
              </a:buClr>
              <a:buSzPts val="1400"/>
              <a:buChar char="■"/>
              <a:defRPr>
                <a:solidFill>
                  <a:schemeClr val="lt1"/>
                </a:solidFill>
              </a:defRPr>
            </a:lvl6pPr>
            <a:lvl7pPr indent="-317500" lvl="6" marL="3200400" rtl="0">
              <a:spcBef>
                <a:spcPts val="1600"/>
              </a:spcBef>
              <a:spcAft>
                <a:spcPts val="0"/>
              </a:spcAft>
              <a:buClr>
                <a:schemeClr val="lt1"/>
              </a:buClr>
              <a:buSzPts val="1400"/>
              <a:buChar char="●"/>
              <a:defRPr>
                <a:solidFill>
                  <a:schemeClr val="lt1"/>
                </a:solidFill>
              </a:defRPr>
            </a:lvl7pPr>
            <a:lvl8pPr indent="-317500" lvl="7" marL="3657600" rtl="0">
              <a:spcBef>
                <a:spcPts val="1600"/>
              </a:spcBef>
              <a:spcAft>
                <a:spcPts val="0"/>
              </a:spcAft>
              <a:buClr>
                <a:schemeClr val="lt1"/>
              </a:buClr>
              <a:buSzPts val="1400"/>
              <a:buChar char="○"/>
              <a:defRPr>
                <a:solidFill>
                  <a:schemeClr val="lt1"/>
                </a:solidFill>
              </a:defRPr>
            </a:lvl8pPr>
            <a:lvl9pPr indent="-317500" lvl="8" marL="4114800" rtl="0">
              <a:spcBef>
                <a:spcPts val="1600"/>
              </a:spcBef>
              <a:spcAft>
                <a:spcPts val="1600"/>
              </a:spcAft>
              <a:buClr>
                <a:schemeClr val="lt1"/>
              </a:buClr>
              <a:buSzPts val="1400"/>
              <a:buChar char="■"/>
              <a:defRPr>
                <a:solidFill>
                  <a:schemeClr val="lt1"/>
                </a:solidFill>
              </a:defRPr>
            </a:lvl9pPr>
          </a:lstStyle>
          <a:p/>
        </p:txBody>
      </p:sp>
      <p:sp>
        <p:nvSpPr>
          <p:cNvPr id="83" name="Google Shape;83;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84" name="Google Shape;84;p21"/>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5" name="Shape 85"/>
        <p:cNvGrpSpPr/>
        <p:nvPr/>
      </p:nvGrpSpPr>
      <p:grpSpPr>
        <a:xfrm>
          <a:off x="0" y="0"/>
          <a:ext cx="0" cy="0"/>
          <a:chOff x="0" y="0"/>
          <a:chExt cx="0" cy="0"/>
        </a:xfrm>
      </p:grpSpPr>
      <p:sp>
        <p:nvSpPr>
          <p:cNvPr id="86" name="Google Shape;86;p22"/>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pic>
        <p:nvPicPr>
          <p:cNvPr descr="Logo for the NULab for Digital Humanities and Computational Social Science" id="87" name="Google Shape;87;p22"/>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8" name="Shape 88"/>
        <p:cNvGrpSpPr/>
        <p:nvPr/>
      </p:nvGrpSpPr>
      <p:grpSpPr>
        <a:xfrm>
          <a:off x="0" y="0"/>
          <a:ext cx="0" cy="0"/>
          <a:chOff x="0" y="0"/>
          <a:chExt cx="0" cy="0"/>
        </a:xfrm>
      </p:grpSpPr>
      <p:sp>
        <p:nvSpPr>
          <p:cNvPr id="89" name="Google Shape;89;p23"/>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dk1"/>
              </a:buClr>
              <a:buSzPts val="11000"/>
              <a:buNone/>
              <a:defRPr sz="11000">
                <a:solidFill>
                  <a:schemeClr val="dk1"/>
                </a:solidFill>
              </a:defRPr>
            </a:lvl1pPr>
            <a:lvl2pPr lvl="1" rtl="0" algn="ctr">
              <a:spcBef>
                <a:spcPts val="0"/>
              </a:spcBef>
              <a:spcAft>
                <a:spcPts val="0"/>
              </a:spcAft>
              <a:buClr>
                <a:schemeClr val="dk1"/>
              </a:buClr>
              <a:buSzPts val="11000"/>
              <a:buNone/>
              <a:defRPr sz="11000">
                <a:solidFill>
                  <a:schemeClr val="dk1"/>
                </a:solidFill>
              </a:defRPr>
            </a:lvl2pPr>
            <a:lvl3pPr lvl="2" rtl="0" algn="ctr">
              <a:spcBef>
                <a:spcPts val="0"/>
              </a:spcBef>
              <a:spcAft>
                <a:spcPts val="0"/>
              </a:spcAft>
              <a:buClr>
                <a:schemeClr val="dk1"/>
              </a:buClr>
              <a:buSzPts val="11000"/>
              <a:buNone/>
              <a:defRPr sz="11000">
                <a:solidFill>
                  <a:schemeClr val="dk1"/>
                </a:solidFill>
              </a:defRPr>
            </a:lvl3pPr>
            <a:lvl4pPr lvl="3" rtl="0" algn="ctr">
              <a:spcBef>
                <a:spcPts val="0"/>
              </a:spcBef>
              <a:spcAft>
                <a:spcPts val="0"/>
              </a:spcAft>
              <a:buClr>
                <a:schemeClr val="dk1"/>
              </a:buClr>
              <a:buSzPts val="11000"/>
              <a:buNone/>
              <a:defRPr sz="11000">
                <a:solidFill>
                  <a:schemeClr val="dk1"/>
                </a:solidFill>
              </a:defRPr>
            </a:lvl4pPr>
            <a:lvl5pPr lvl="4" rtl="0" algn="ctr">
              <a:spcBef>
                <a:spcPts val="0"/>
              </a:spcBef>
              <a:spcAft>
                <a:spcPts val="0"/>
              </a:spcAft>
              <a:buClr>
                <a:schemeClr val="dk1"/>
              </a:buClr>
              <a:buSzPts val="11000"/>
              <a:buNone/>
              <a:defRPr sz="11000">
                <a:solidFill>
                  <a:schemeClr val="dk1"/>
                </a:solidFill>
              </a:defRPr>
            </a:lvl5pPr>
            <a:lvl6pPr lvl="5" rtl="0" algn="ctr">
              <a:spcBef>
                <a:spcPts val="0"/>
              </a:spcBef>
              <a:spcAft>
                <a:spcPts val="0"/>
              </a:spcAft>
              <a:buClr>
                <a:schemeClr val="dk1"/>
              </a:buClr>
              <a:buSzPts val="11000"/>
              <a:buNone/>
              <a:defRPr sz="11000">
                <a:solidFill>
                  <a:schemeClr val="dk1"/>
                </a:solidFill>
              </a:defRPr>
            </a:lvl6pPr>
            <a:lvl7pPr lvl="6" rtl="0" algn="ctr">
              <a:spcBef>
                <a:spcPts val="0"/>
              </a:spcBef>
              <a:spcAft>
                <a:spcPts val="0"/>
              </a:spcAft>
              <a:buClr>
                <a:schemeClr val="dk1"/>
              </a:buClr>
              <a:buSzPts val="11000"/>
              <a:buNone/>
              <a:defRPr sz="11000">
                <a:solidFill>
                  <a:schemeClr val="dk1"/>
                </a:solidFill>
              </a:defRPr>
            </a:lvl7pPr>
            <a:lvl8pPr lvl="7" rtl="0" algn="ctr">
              <a:spcBef>
                <a:spcPts val="0"/>
              </a:spcBef>
              <a:spcAft>
                <a:spcPts val="0"/>
              </a:spcAft>
              <a:buClr>
                <a:schemeClr val="dk1"/>
              </a:buClr>
              <a:buSzPts val="11000"/>
              <a:buNone/>
              <a:defRPr sz="11000">
                <a:solidFill>
                  <a:schemeClr val="dk1"/>
                </a:solidFill>
              </a:defRPr>
            </a:lvl8pPr>
            <a:lvl9pPr lvl="8" rtl="0" algn="ctr">
              <a:spcBef>
                <a:spcPts val="0"/>
              </a:spcBef>
              <a:spcAft>
                <a:spcPts val="0"/>
              </a:spcAft>
              <a:buClr>
                <a:schemeClr val="dk1"/>
              </a:buClr>
              <a:buSzPts val="11000"/>
              <a:buNone/>
              <a:defRPr sz="11000">
                <a:solidFill>
                  <a:schemeClr val="dk1"/>
                </a:solidFill>
              </a:defRPr>
            </a:lvl9pPr>
          </a:lstStyle>
          <a:p>
            <a:r>
              <a:t>xx%</a:t>
            </a:r>
          </a:p>
        </p:txBody>
      </p:sp>
      <p:sp>
        <p:nvSpPr>
          <p:cNvPr id="90" name="Google Shape;90;p23"/>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rtl="0" algn="ctr">
              <a:spcBef>
                <a:spcPts val="0"/>
              </a:spcBef>
              <a:spcAft>
                <a:spcPts val="0"/>
              </a:spcAft>
              <a:buSzPts val="2400"/>
              <a:buChar char="●"/>
              <a:defRPr/>
            </a:lvl1pPr>
            <a:lvl2pPr indent="-355600" lvl="1" marL="914400" rtl="0" algn="ctr">
              <a:spcBef>
                <a:spcPts val="1600"/>
              </a:spcBef>
              <a:spcAft>
                <a:spcPts val="0"/>
              </a:spcAft>
              <a:buSzPts val="2000"/>
              <a:buChar char="○"/>
              <a:defRPr/>
            </a:lvl2pPr>
            <a:lvl3pPr indent="-342900" lvl="2" marL="1371600" rtl="0" algn="ctr">
              <a:spcBef>
                <a:spcPts val="1600"/>
              </a:spcBef>
              <a:spcAft>
                <a:spcPts val="0"/>
              </a:spcAft>
              <a:buSzPts val="18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91" name="Google Shape;91;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2" name="Google Shape;92;p23"/>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5" name="Google Shape;95;p24"/>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0" name="Shape 100"/>
        <p:cNvGrpSpPr/>
        <p:nvPr/>
      </p:nvGrpSpPr>
      <p:grpSpPr>
        <a:xfrm>
          <a:off x="0" y="0"/>
          <a:ext cx="0" cy="0"/>
          <a:chOff x="0" y="0"/>
          <a:chExt cx="0" cy="0"/>
        </a:xfrm>
      </p:grpSpPr>
      <p:cxnSp>
        <p:nvCxnSpPr>
          <p:cNvPr id="101" name="Google Shape;101;p26"/>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102" name="Google Shape;102;p26"/>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algn="ctr">
              <a:spcBef>
                <a:spcPts val="0"/>
              </a:spcBef>
              <a:spcAft>
                <a:spcPts val="0"/>
              </a:spcAft>
              <a:buSzPts val="5400"/>
              <a:buNone/>
              <a:defRPr b="1"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03" name="Google Shape;103;p26"/>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04" name="Google Shape;104;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05" name="Shape 105"/>
        <p:cNvGrpSpPr/>
        <p:nvPr/>
      </p:nvGrpSpPr>
      <p:grpSpPr>
        <a:xfrm>
          <a:off x="0" y="0"/>
          <a:ext cx="0" cy="0"/>
          <a:chOff x="0" y="0"/>
          <a:chExt cx="0" cy="0"/>
        </a:xfrm>
      </p:grpSpPr>
      <p:sp>
        <p:nvSpPr>
          <p:cNvPr id="106" name="Google Shape;106;p27"/>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6800"/>
              <a:buNone/>
              <a:defRPr sz="6800">
                <a:solidFill>
                  <a:schemeClr val="lt1"/>
                </a:solidFill>
              </a:defRPr>
            </a:lvl1pPr>
            <a:lvl2pPr lvl="1">
              <a:spcBef>
                <a:spcPts val="0"/>
              </a:spcBef>
              <a:spcAft>
                <a:spcPts val="0"/>
              </a:spcAft>
              <a:buClr>
                <a:schemeClr val="lt1"/>
              </a:buClr>
              <a:buSzPts val="6800"/>
              <a:buNone/>
              <a:defRPr sz="6800">
                <a:solidFill>
                  <a:schemeClr val="lt1"/>
                </a:solidFill>
              </a:defRPr>
            </a:lvl2pPr>
            <a:lvl3pPr lvl="2">
              <a:spcBef>
                <a:spcPts val="0"/>
              </a:spcBef>
              <a:spcAft>
                <a:spcPts val="0"/>
              </a:spcAft>
              <a:buClr>
                <a:schemeClr val="lt1"/>
              </a:buClr>
              <a:buSzPts val="6800"/>
              <a:buNone/>
              <a:defRPr sz="6800">
                <a:solidFill>
                  <a:schemeClr val="lt1"/>
                </a:solidFill>
              </a:defRPr>
            </a:lvl3pPr>
            <a:lvl4pPr lvl="3">
              <a:spcBef>
                <a:spcPts val="0"/>
              </a:spcBef>
              <a:spcAft>
                <a:spcPts val="0"/>
              </a:spcAft>
              <a:buClr>
                <a:schemeClr val="lt1"/>
              </a:buClr>
              <a:buSzPts val="6800"/>
              <a:buNone/>
              <a:defRPr sz="6800">
                <a:solidFill>
                  <a:schemeClr val="lt1"/>
                </a:solidFill>
              </a:defRPr>
            </a:lvl4pPr>
            <a:lvl5pPr lvl="4">
              <a:spcBef>
                <a:spcPts val="0"/>
              </a:spcBef>
              <a:spcAft>
                <a:spcPts val="0"/>
              </a:spcAft>
              <a:buClr>
                <a:schemeClr val="lt1"/>
              </a:buClr>
              <a:buSzPts val="6800"/>
              <a:buNone/>
              <a:defRPr sz="6800">
                <a:solidFill>
                  <a:schemeClr val="lt1"/>
                </a:solidFill>
              </a:defRPr>
            </a:lvl5pPr>
            <a:lvl6pPr lvl="5">
              <a:spcBef>
                <a:spcPts val="0"/>
              </a:spcBef>
              <a:spcAft>
                <a:spcPts val="0"/>
              </a:spcAft>
              <a:buClr>
                <a:schemeClr val="lt1"/>
              </a:buClr>
              <a:buSzPts val="6800"/>
              <a:buNone/>
              <a:defRPr sz="6800">
                <a:solidFill>
                  <a:schemeClr val="lt1"/>
                </a:solidFill>
              </a:defRPr>
            </a:lvl6pPr>
            <a:lvl7pPr lvl="6">
              <a:spcBef>
                <a:spcPts val="0"/>
              </a:spcBef>
              <a:spcAft>
                <a:spcPts val="0"/>
              </a:spcAft>
              <a:buClr>
                <a:schemeClr val="lt1"/>
              </a:buClr>
              <a:buSzPts val="6800"/>
              <a:buNone/>
              <a:defRPr sz="6800">
                <a:solidFill>
                  <a:schemeClr val="lt1"/>
                </a:solidFill>
              </a:defRPr>
            </a:lvl7pPr>
            <a:lvl8pPr lvl="7">
              <a:spcBef>
                <a:spcPts val="0"/>
              </a:spcBef>
              <a:spcAft>
                <a:spcPts val="0"/>
              </a:spcAft>
              <a:buClr>
                <a:schemeClr val="lt1"/>
              </a:buClr>
              <a:buSzPts val="6800"/>
              <a:buNone/>
              <a:defRPr sz="6800">
                <a:solidFill>
                  <a:schemeClr val="lt1"/>
                </a:solidFill>
              </a:defRPr>
            </a:lvl8pPr>
            <a:lvl9pPr lvl="8">
              <a:spcBef>
                <a:spcPts val="0"/>
              </a:spcBef>
              <a:spcAft>
                <a:spcPts val="0"/>
              </a:spcAft>
              <a:buClr>
                <a:schemeClr val="lt1"/>
              </a:buClr>
              <a:buSzPts val="6800"/>
              <a:buNone/>
              <a:defRPr sz="6800">
                <a:solidFill>
                  <a:schemeClr val="lt1"/>
                </a:solidFill>
              </a:defRPr>
            </a:lvl9pPr>
          </a:lstStyle>
          <a:p/>
        </p:txBody>
      </p:sp>
      <p:sp>
        <p:nvSpPr>
          <p:cNvPr id="107" name="Google Shape;107;p2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8" name="Shape 108"/>
        <p:cNvGrpSpPr/>
        <p:nvPr/>
      </p:nvGrpSpPr>
      <p:grpSpPr>
        <a:xfrm>
          <a:off x="0" y="0"/>
          <a:ext cx="0" cy="0"/>
          <a:chOff x="0" y="0"/>
          <a:chExt cx="0" cy="0"/>
        </a:xfrm>
      </p:grpSpPr>
      <p:sp>
        <p:nvSpPr>
          <p:cNvPr id="109" name="Google Shape;109;p2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28"/>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a:spcBef>
                <a:spcPts val="0"/>
              </a:spcBef>
              <a:spcAft>
                <a:spcPts val="0"/>
              </a:spcAft>
              <a:buSzPts val="2400"/>
              <a:buChar char="●"/>
              <a:defRPr/>
            </a:lvl1pPr>
            <a:lvl2pPr indent="-355600" lvl="1" marL="914400">
              <a:spcBef>
                <a:spcPts val="1600"/>
              </a:spcBef>
              <a:spcAft>
                <a:spcPts val="0"/>
              </a:spcAft>
              <a:buSzPts val="2000"/>
              <a:buChar char="○"/>
              <a:defRPr/>
            </a:lvl2pPr>
            <a:lvl3pPr indent="-342900" lvl="2" marL="1371600">
              <a:spcBef>
                <a:spcPts val="1600"/>
              </a:spcBef>
              <a:spcAft>
                <a:spcPts val="0"/>
              </a:spcAft>
              <a:buSzPts val="18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11" name="Google Shape;111;p2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112" name="Google Shape;112;p28"/>
          <p:cNvPicPr preferRelativeResize="0"/>
          <p:nvPr/>
        </p:nvPicPr>
        <p:blipFill rotWithShape="1">
          <a:blip r:embed="rId2">
            <a:alphaModFix/>
          </a:blip>
          <a:srcRect b="27753" l="5347" r="9095" t="29603"/>
          <a:stretch/>
        </p:blipFill>
        <p:spPr>
          <a:xfrm>
            <a:off x="0" y="4573675"/>
            <a:ext cx="2082540" cy="572701"/>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3" name="Shape 113"/>
        <p:cNvGrpSpPr/>
        <p:nvPr/>
      </p:nvGrpSpPr>
      <p:grpSpPr>
        <a:xfrm>
          <a:off x="0" y="0"/>
          <a:ext cx="0" cy="0"/>
          <a:chOff x="0" y="0"/>
          <a:chExt cx="0" cy="0"/>
        </a:xfrm>
      </p:grpSpPr>
      <p:sp>
        <p:nvSpPr>
          <p:cNvPr id="114" name="Google Shape;114;p29"/>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9"/>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6" name="Google Shape;116;p29"/>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7" name="Google Shape;117;p2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8" name="Shape 118"/>
        <p:cNvGrpSpPr/>
        <p:nvPr/>
      </p:nvGrpSpPr>
      <p:grpSpPr>
        <a:xfrm>
          <a:off x="0" y="0"/>
          <a:ext cx="0" cy="0"/>
          <a:chOff x="0" y="0"/>
          <a:chExt cx="0" cy="0"/>
        </a:xfrm>
      </p:grpSpPr>
      <p:sp>
        <p:nvSpPr>
          <p:cNvPr id="119" name="Google Shape;119;p30"/>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20" name="Google Shape;120;p3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1" name="Shape 121"/>
        <p:cNvGrpSpPr/>
        <p:nvPr/>
      </p:nvGrpSpPr>
      <p:grpSpPr>
        <a:xfrm>
          <a:off x="0" y="0"/>
          <a:ext cx="0" cy="0"/>
          <a:chOff x="0" y="0"/>
          <a:chExt cx="0" cy="0"/>
        </a:xfrm>
      </p:grpSpPr>
      <p:sp>
        <p:nvSpPr>
          <p:cNvPr id="122" name="Google Shape;122;p31"/>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31"/>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4" name="Google Shape;124;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125" name="Shape 125"/>
        <p:cNvGrpSpPr/>
        <p:nvPr/>
      </p:nvGrpSpPr>
      <p:grpSpPr>
        <a:xfrm>
          <a:off x="0" y="0"/>
          <a:ext cx="0" cy="0"/>
          <a:chOff x="0" y="0"/>
          <a:chExt cx="0" cy="0"/>
        </a:xfrm>
      </p:grpSpPr>
      <p:sp>
        <p:nvSpPr>
          <p:cNvPr id="126" name="Google Shape;126;p32"/>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127" name="Google Shape;127;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8" name="Shape 128"/>
        <p:cNvGrpSpPr/>
        <p:nvPr/>
      </p:nvGrpSpPr>
      <p:grpSpPr>
        <a:xfrm>
          <a:off x="0" y="0"/>
          <a:ext cx="0" cy="0"/>
          <a:chOff x="0" y="0"/>
          <a:chExt cx="0" cy="0"/>
        </a:xfrm>
      </p:grpSpPr>
      <p:sp>
        <p:nvSpPr>
          <p:cNvPr id="129" name="Google Shape;129;p33"/>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0" name="Google Shape;130;p33"/>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131" name="Google Shape;131;p33"/>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32" name="Google Shape;132;p33"/>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33" name="Google Shape;133;p3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a:spcBef>
                <a:spcPts val="0"/>
              </a:spcBef>
              <a:spcAft>
                <a:spcPts val="0"/>
              </a:spcAft>
              <a:buClr>
                <a:schemeClr val="lt1"/>
              </a:buClr>
              <a:buSzPts val="2400"/>
              <a:buChar char="●"/>
              <a:defRPr>
                <a:solidFill>
                  <a:schemeClr val="lt1"/>
                </a:solidFill>
              </a:defRPr>
            </a:lvl1pPr>
            <a:lvl2pPr indent="-355600" lvl="1" marL="914400">
              <a:spcBef>
                <a:spcPts val="1600"/>
              </a:spcBef>
              <a:spcAft>
                <a:spcPts val="0"/>
              </a:spcAft>
              <a:buClr>
                <a:schemeClr val="lt1"/>
              </a:buClr>
              <a:buSzPts val="2000"/>
              <a:buChar char="○"/>
              <a:defRPr>
                <a:solidFill>
                  <a:schemeClr val="lt1"/>
                </a:solidFill>
              </a:defRPr>
            </a:lvl2pPr>
            <a:lvl3pPr indent="-342900" lvl="2" marL="1371600">
              <a:spcBef>
                <a:spcPts val="1600"/>
              </a:spcBef>
              <a:spcAft>
                <a:spcPts val="0"/>
              </a:spcAft>
              <a:buClr>
                <a:schemeClr val="lt1"/>
              </a:buClr>
              <a:buSzPts val="18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134" name="Google Shape;134;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5" name="Shape 135"/>
        <p:cNvGrpSpPr/>
        <p:nvPr/>
      </p:nvGrpSpPr>
      <p:grpSpPr>
        <a:xfrm>
          <a:off x="0" y="0"/>
          <a:ext cx="0" cy="0"/>
          <a:chOff x="0" y="0"/>
          <a:chExt cx="0" cy="0"/>
        </a:xfrm>
      </p:grpSpPr>
      <p:sp>
        <p:nvSpPr>
          <p:cNvPr id="136" name="Google Shape;136;p3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sp>
        <p:nvSpPr>
          <p:cNvPr id="137" name="Google Shape;137;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8" name="Shape 138"/>
        <p:cNvGrpSpPr/>
        <p:nvPr/>
      </p:nvGrpSpPr>
      <p:grpSpPr>
        <a:xfrm>
          <a:off x="0" y="0"/>
          <a:ext cx="0" cy="0"/>
          <a:chOff x="0" y="0"/>
          <a:chExt cx="0" cy="0"/>
        </a:xfrm>
      </p:grpSpPr>
      <p:sp>
        <p:nvSpPr>
          <p:cNvPr id="139" name="Google Shape;139;p35"/>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11000"/>
              <a:buNone/>
              <a:defRPr sz="11000">
                <a:solidFill>
                  <a:schemeClr val="dk1"/>
                </a:solidFill>
              </a:defRPr>
            </a:lvl1pPr>
            <a:lvl2pPr lvl="1" algn="ctr">
              <a:spcBef>
                <a:spcPts val="0"/>
              </a:spcBef>
              <a:spcAft>
                <a:spcPts val="0"/>
              </a:spcAft>
              <a:buClr>
                <a:schemeClr val="dk1"/>
              </a:buClr>
              <a:buSzPts val="11000"/>
              <a:buNone/>
              <a:defRPr sz="11000">
                <a:solidFill>
                  <a:schemeClr val="dk1"/>
                </a:solidFill>
              </a:defRPr>
            </a:lvl2pPr>
            <a:lvl3pPr lvl="2" algn="ctr">
              <a:spcBef>
                <a:spcPts val="0"/>
              </a:spcBef>
              <a:spcAft>
                <a:spcPts val="0"/>
              </a:spcAft>
              <a:buClr>
                <a:schemeClr val="dk1"/>
              </a:buClr>
              <a:buSzPts val="11000"/>
              <a:buNone/>
              <a:defRPr sz="11000">
                <a:solidFill>
                  <a:schemeClr val="dk1"/>
                </a:solidFill>
              </a:defRPr>
            </a:lvl3pPr>
            <a:lvl4pPr lvl="3" algn="ctr">
              <a:spcBef>
                <a:spcPts val="0"/>
              </a:spcBef>
              <a:spcAft>
                <a:spcPts val="0"/>
              </a:spcAft>
              <a:buClr>
                <a:schemeClr val="dk1"/>
              </a:buClr>
              <a:buSzPts val="11000"/>
              <a:buNone/>
              <a:defRPr sz="11000">
                <a:solidFill>
                  <a:schemeClr val="dk1"/>
                </a:solidFill>
              </a:defRPr>
            </a:lvl4pPr>
            <a:lvl5pPr lvl="4" algn="ctr">
              <a:spcBef>
                <a:spcPts val="0"/>
              </a:spcBef>
              <a:spcAft>
                <a:spcPts val="0"/>
              </a:spcAft>
              <a:buClr>
                <a:schemeClr val="dk1"/>
              </a:buClr>
              <a:buSzPts val="11000"/>
              <a:buNone/>
              <a:defRPr sz="11000">
                <a:solidFill>
                  <a:schemeClr val="dk1"/>
                </a:solidFill>
              </a:defRPr>
            </a:lvl5pPr>
            <a:lvl6pPr lvl="5" algn="ctr">
              <a:spcBef>
                <a:spcPts val="0"/>
              </a:spcBef>
              <a:spcAft>
                <a:spcPts val="0"/>
              </a:spcAft>
              <a:buClr>
                <a:schemeClr val="dk1"/>
              </a:buClr>
              <a:buSzPts val="11000"/>
              <a:buNone/>
              <a:defRPr sz="11000">
                <a:solidFill>
                  <a:schemeClr val="dk1"/>
                </a:solidFill>
              </a:defRPr>
            </a:lvl6pPr>
            <a:lvl7pPr lvl="6" algn="ctr">
              <a:spcBef>
                <a:spcPts val="0"/>
              </a:spcBef>
              <a:spcAft>
                <a:spcPts val="0"/>
              </a:spcAft>
              <a:buClr>
                <a:schemeClr val="dk1"/>
              </a:buClr>
              <a:buSzPts val="11000"/>
              <a:buNone/>
              <a:defRPr sz="11000">
                <a:solidFill>
                  <a:schemeClr val="dk1"/>
                </a:solidFill>
              </a:defRPr>
            </a:lvl7pPr>
            <a:lvl8pPr lvl="7" algn="ctr">
              <a:spcBef>
                <a:spcPts val="0"/>
              </a:spcBef>
              <a:spcAft>
                <a:spcPts val="0"/>
              </a:spcAft>
              <a:buClr>
                <a:schemeClr val="dk1"/>
              </a:buClr>
              <a:buSzPts val="11000"/>
              <a:buNone/>
              <a:defRPr sz="11000">
                <a:solidFill>
                  <a:schemeClr val="dk1"/>
                </a:solidFill>
              </a:defRPr>
            </a:lvl8pPr>
            <a:lvl9pPr lvl="8" algn="ctr">
              <a:spcBef>
                <a:spcPts val="0"/>
              </a:spcBef>
              <a:spcAft>
                <a:spcPts val="0"/>
              </a:spcAft>
              <a:buClr>
                <a:schemeClr val="dk1"/>
              </a:buClr>
              <a:buSzPts val="11000"/>
              <a:buNone/>
              <a:defRPr sz="11000">
                <a:solidFill>
                  <a:schemeClr val="dk1"/>
                </a:solidFill>
              </a:defRPr>
            </a:lvl9pPr>
          </a:lstStyle>
          <a:p>
            <a:r>
              <a:t>xx%</a:t>
            </a:r>
          </a:p>
        </p:txBody>
      </p:sp>
      <p:sp>
        <p:nvSpPr>
          <p:cNvPr id="140" name="Google Shape;140;p35"/>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algn="ctr">
              <a:spcBef>
                <a:spcPts val="0"/>
              </a:spcBef>
              <a:spcAft>
                <a:spcPts val="0"/>
              </a:spcAft>
              <a:buSzPts val="2400"/>
              <a:buChar char="●"/>
              <a:defRPr/>
            </a:lvl1pPr>
            <a:lvl2pPr indent="-355600" lvl="1" marL="914400" algn="ctr">
              <a:spcBef>
                <a:spcPts val="1600"/>
              </a:spcBef>
              <a:spcAft>
                <a:spcPts val="0"/>
              </a:spcAft>
              <a:buSzPts val="2000"/>
              <a:buChar char="○"/>
              <a:defRPr/>
            </a:lvl2pPr>
            <a:lvl3pPr indent="-342900" lvl="2" marL="1371600" algn="ctr">
              <a:spcBef>
                <a:spcPts val="1600"/>
              </a:spcBef>
              <a:spcAft>
                <a:spcPts val="0"/>
              </a:spcAft>
              <a:buSzPts val="18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41" name="Google Shape;141;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2" name="Shape 142"/>
        <p:cNvGrpSpPr/>
        <p:nvPr/>
      </p:nvGrpSpPr>
      <p:grpSpPr>
        <a:xfrm>
          <a:off x="0" y="0"/>
          <a:ext cx="0" cy="0"/>
          <a:chOff x="0" y="0"/>
          <a:chExt cx="0" cy="0"/>
        </a:xfrm>
      </p:grpSpPr>
      <p:sp>
        <p:nvSpPr>
          <p:cNvPr id="143" name="Google Shape;14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52" name="Google Shape;52;p13"/>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rtl="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rtl="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rtl="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rtl="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latin typeface="Proxima Nova"/>
                <a:ea typeface="Proxima Nova"/>
                <a:cs typeface="Proxima Nova"/>
                <a:sym typeface="Proxima Nova"/>
              </a:defRPr>
            </a:lvl1pPr>
            <a:lvl2pPr lvl="1" rtl="0" algn="r">
              <a:buNone/>
              <a:defRPr sz="1000">
                <a:solidFill>
                  <a:schemeClr val="dk2"/>
                </a:solidFill>
                <a:latin typeface="Proxima Nova"/>
                <a:ea typeface="Proxima Nova"/>
                <a:cs typeface="Proxima Nova"/>
                <a:sym typeface="Proxima Nova"/>
              </a:defRPr>
            </a:lvl2pPr>
            <a:lvl3pPr lvl="2" rtl="0" algn="r">
              <a:buNone/>
              <a:defRPr sz="1000">
                <a:solidFill>
                  <a:schemeClr val="dk2"/>
                </a:solidFill>
                <a:latin typeface="Proxima Nova"/>
                <a:ea typeface="Proxima Nova"/>
                <a:cs typeface="Proxima Nova"/>
                <a:sym typeface="Proxima Nova"/>
              </a:defRPr>
            </a:lvl3pPr>
            <a:lvl4pPr lvl="3" rtl="0" algn="r">
              <a:buNone/>
              <a:defRPr sz="1000">
                <a:solidFill>
                  <a:schemeClr val="dk2"/>
                </a:solidFill>
                <a:latin typeface="Proxima Nova"/>
                <a:ea typeface="Proxima Nova"/>
                <a:cs typeface="Proxima Nova"/>
                <a:sym typeface="Proxima Nova"/>
              </a:defRPr>
            </a:lvl4pPr>
            <a:lvl5pPr lvl="4" rtl="0" algn="r">
              <a:buNone/>
              <a:defRPr sz="1000">
                <a:solidFill>
                  <a:schemeClr val="dk2"/>
                </a:solidFill>
                <a:latin typeface="Proxima Nova"/>
                <a:ea typeface="Proxima Nova"/>
                <a:cs typeface="Proxima Nova"/>
                <a:sym typeface="Proxima Nova"/>
              </a:defRPr>
            </a:lvl5pPr>
            <a:lvl6pPr lvl="5" rtl="0" algn="r">
              <a:buNone/>
              <a:defRPr sz="1000">
                <a:solidFill>
                  <a:schemeClr val="dk2"/>
                </a:solidFill>
                <a:latin typeface="Proxima Nova"/>
                <a:ea typeface="Proxima Nova"/>
                <a:cs typeface="Proxima Nova"/>
                <a:sym typeface="Proxima Nova"/>
              </a:defRPr>
            </a:lvl6pPr>
            <a:lvl7pPr lvl="6" rtl="0" algn="r">
              <a:buNone/>
              <a:defRPr sz="1000">
                <a:solidFill>
                  <a:schemeClr val="dk2"/>
                </a:solidFill>
                <a:latin typeface="Proxima Nova"/>
                <a:ea typeface="Proxima Nova"/>
                <a:cs typeface="Proxima Nova"/>
                <a:sym typeface="Proxima Nova"/>
              </a:defRPr>
            </a:lvl7pPr>
            <a:lvl8pPr lvl="7" rtl="0" algn="r">
              <a:buNone/>
              <a:defRPr sz="1000">
                <a:solidFill>
                  <a:schemeClr val="dk2"/>
                </a:solidFill>
                <a:latin typeface="Proxima Nova"/>
                <a:ea typeface="Proxima Nova"/>
                <a:cs typeface="Proxima Nova"/>
                <a:sym typeface="Proxima Nova"/>
              </a:defRPr>
            </a:lvl8pPr>
            <a:lvl9pPr lvl="8" rtl="0"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
        <p:nvSpPr>
          <p:cNvPr id="54" name="Google Shape;54;p13"/>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
        <p:nvSpPr>
          <p:cNvPr id="55" name="Google Shape;55;p13"/>
          <p:cNvSpPr txBox="1"/>
          <p:nvPr/>
        </p:nvSpPr>
        <p:spPr>
          <a:xfrm>
            <a:off x="8595108" y="4762417"/>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sz="2000">
                <a:solidFill>
                  <a:srgbClr val="666666"/>
                </a:solidFill>
                <a:latin typeface="Cambria"/>
                <a:ea typeface="Cambria"/>
                <a:cs typeface="Cambria"/>
                <a:sym typeface="Cambria"/>
              </a:rPr>
              <a:t>‹#›</a:t>
            </a:fld>
            <a:endParaRPr sz="2000">
              <a:solidFill>
                <a:srgbClr val="666666"/>
              </a:solidFill>
              <a:latin typeface="Cambria"/>
              <a:ea typeface="Cambria"/>
              <a:cs typeface="Cambria"/>
              <a:sym typeface="Cambria"/>
            </a:endParaRPr>
          </a:p>
        </p:txBody>
      </p:sp>
      <p:pic>
        <p:nvPicPr>
          <p:cNvPr id="56" name="Google Shape;56;p13" title="NULab for Digital Humanities_RGB_Monogram_Red+B (3).png"/>
          <p:cNvPicPr preferRelativeResize="0"/>
          <p:nvPr/>
        </p:nvPicPr>
        <p:blipFill>
          <a:blip r:embed="rId1">
            <a:alphaModFix/>
          </a:blip>
          <a:stretch>
            <a:fillRect/>
          </a:stretch>
        </p:blipFill>
        <p:spPr>
          <a:xfrm>
            <a:off x="0" y="4333175"/>
            <a:ext cx="2186034" cy="81032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96" name="Shape 96"/>
        <p:cNvGrpSpPr/>
        <p:nvPr/>
      </p:nvGrpSpPr>
      <p:grpSpPr>
        <a:xfrm>
          <a:off x="0" y="0"/>
          <a:ext cx="0" cy="0"/>
          <a:chOff x="0" y="0"/>
          <a:chExt cx="0" cy="0"/>
        </a:xfrm>
      </p:grpSpPr>
      <p:sp>
        <p:nvSpPr>
          <p:cNvPr id="97" name="Google Shape;97;p25"/>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98" name="Google Shape;98;p25"/>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99" name="Google Shape;99;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10896" y="475488"/>
            <a:ext cx="8229600" cy="960120"/>
          </a:xfrm>
        </p:spPr>
        <p:txBody>
          <a:bodyPr/>
          <a:lstStyle/>
          <a:p>
            <a:pPr>
              <a:spcAft>
                <a:spcPts val="0"/>
              </a:spcAft>
            </a:pPr>
            <a:r>
              <a:rPr sz="3400" b="1" i="0">
                <a:solidFill>
                  <a:srgbClr val="212121"/>
                </a:solidFill>
              </a:rPr>
              <a:t>Excel for Statistical Analysis</a:t>
            </a:r>
          </a:p>
        </p:txBody>
      </p:sp>
      <p:sp>
        <p:nvSpPr>
          <p:cNvPr id="3" name="Subtitle 2"/>
          <p:cNvSpPr>
            <a:spLocks noGrp="1"/>
          </p:cNvSpPr>
          <p:nvPr>
            <p:ph type="subTitle" idx="1"/>
          </p:nvPr>
        </p:nvSpPr>
        <p:spPr>
          <a:xfrm>
            <a:off x="311700" y="3165823"/>
            <a:ext cx="8520600" cy="841248"/>
          </a:xfrm>
        </p:spPr>
        <p:txBody>
          <a:bodyPr/>
          <a:lstStyle/>
          <a:p>
            <a:pPr>
              <a:spcAft>
                <a:spcPts val="200"/>
              </a:spcAft>
            </a:pPr>
            <a:r>
              <a:rPr sz="1450" b="0" i="0">
                <a:solidFill>
                  <a:srgbClr val="37474F"/>
                </a:solidFill>
              </a:rPr>
              <a:t>ECON 3291: Development Economics  •  Professor Silvia Prina</a:t>
            </a:r>
          </a:p>
          <a:p>
            <a:pPr>
              <a:spcAft>
                <a:spcPts val="200"/>
              </a:spcAft>
            </a:pPr>
            <a:r>
              <a:rPr sz="1450" b="0" i="0">
                <a:solidFill>
                  <a:srgbClr val="37474F"/>
                </a:solidFill>
              </a:rPr>
              <a:t>Taught by the DITI Research and Teaching Fellows</a:t>
            </a:r>
          </a:p>
          <a:p>
            <a:pPr>
              <a:spcAft>
                <a:spcPts val="200"/>
              </a:spcAft>
            </a:pPr>
            <a:r>
              <a:rPr sz="1450" b="0" i="0">
                <a:solidFill>
                  <a:srgbClr val="37474F"/>
                </a:solidFill>
              </a:rPr>
              <a:t>Fall 2026</a:t>
            </a:r>
          </a:p>
        </p:txBody>
      </p:sp>
      <p:sp>
        <p:nvSpPr>
          <p:cNvPr id="4" name="TextBox 3"/>
          <p:cNvSpPr txBox="1"/>
          <p:nvPr/>
        </p:nvSpPr>
        <p:spPr>
          <a:xfrm>
            <a:off x="310896" y="1481328"/>
            <a:ext cx="6583680" cy="274320"/>
          </a:xfrm>
          <a:prstGeom prst="rect">
            <a:avLst/>
          </a:prstGeom>
          <a:noFill/>
        </p:spPr>
        <p:txBody>
          <a:bodyPr wrap="square" lIns="0" tIns="0" bIns="0">
            <a:spAutoFit/>
          </a:bodyPr>
          <a:lstStyle/>
          <a:p>
            <a:pPr algn="l">
              <a:spcAft>
                <a:spcPts val="0"/>
              </a:spcAft>
            </a:pPr>
            <a:r>
              <a:rPr sz="1300" b="1" i="0">
                <a:solidFill>
                  <a:srgbClr val="FF5722"/>
                </a:solidFill>
              </a:rPr>
              <a:t>SESSION 1 OF 2  •  EXCEL</a:t>
            </a:r>
          </a:p>
        </p:txBody>
      </p:sp>
      <p:sp>
        <p:nvSpPr>
          <p:cNvPr id="5" name="Rectangle 4"/>
          <p:cNvSpPr/>
          <p:nvPr/>
        </p:nvSpPr>
        <p:spPr>
          <a:xfrm>
            <a:off x="329184" y="1883664"/>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 y="2103120"/>
            <a:ext cx="6949440" cy="822960"/>
          </a:xfrm>
          <a:prstGeom prst="rect">
            <a:avLst/>
          </a:prstGeom>
          <a:noFill/>
        </p:spPr>
        <p:txBody>
          <a:bodyPr wrap="square" lIns="0">
            <a:spAutoFit/>
          </a:bodyPr>
          <a:lstStyle/>
          <a:p>
            <a:pPr>
              <a:spcAft>
                <a:spcPts val="0"/>
              </a:spcAft>
            </a:pPr>
            <a:r>
              <a:rPr sz="1600" b="0" i="0">
                <a:solidFill>
                  <a:srgbClr val="37474F"/>
                </a:solidFill>
              </a:rPr>
              <a:t>A step-by-step walkthrough of the tutorial problem set. Work along in Excel, or use these slides afterwards as a reference.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Getting oriented</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Excel is, what you need installed, and the words we will use.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1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Workshop agenda</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900" b="0" i="0">
                <a:solidFill>
                  <a:srgbClr val="212121"/>
                </a:solidFill>
              </a:rPr>
              <a:t>Getting oriented: vocabulary, functions, selecting and filtering data</a:t>
            </a:r>
          </a:p>
          <a:p>
            <a:pPr>
              <a:spcAft>
                <a:spcPts val="600"/>
              </a:spcAft>
            </a:pPr>
            <a:r>
              <a:rPr sz="1900" b="0" i="0">
                <a:solidFill>
                  <a:srgbClr val="212121"/>
                </a:solidFill>
              </a:rPr>
              <a:t>The tutorial scenario and the dataset</a:t>
            </a:r>
          </a:p>
          <a:p>
            <a:pPr>
              <a:spcAft>
                <a:spcPts val="600"/>
              </a:spcAft>
            </a:pPr>
            <a:r>
              <a:rPr sz="1900" b="0" i="0">
                <a:solidFill>
                  <a:srgbClr val="212121"/>
                </a:solidFill>
              </a:rPr>
              <a:t>Questions 1–8, worked step by step</a:t>
            </a:r>
          </a:p>
          <a:p>
            <a:pPr>
              <a:spcAft>
                <a:spcPts val="600"/>
              </a:spcAft>
            </a:pPr>
            <a:r>
              <a:rPr sz="1900" b="0" i="0">
                <a:solidFill>
                  <a:srgbClr val="212121"/>
                </a:solidFill>
              </a:rPr>
              <a:t>Your Turn breaks along the way</a:t>
            </a:r>
          </a:p>
          <a:p>
            <a:pPr>
              <a:spcAft>
                <a:spcPts val="600"/>
              </a:spcAft>
            </a:pPr>
            <a:r>
              <a:rPr sz="1900" b="0" i="0">
                <a:solidFill>
                  <a:srgbClr val="212121"/>
                </a:solidFill>
              </a:rPr>
              <a:t>Discussion</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you will be able to do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800" b="0" i="0">
                <a:solidFill>
                  <a:srgbClr val="212121"/>
                </a:solidFill>
              </a:rPr>
              <a:t>Understand how a spreadsheet stores data, and what one row of this dataset means</a:t>
            </a:r>
          </a:p>
          <a:p>
            <a:pPr>
              <a:spcAft>
                <a:spcPts val="600"/>
              </a:spcAft>
            </a:pPr>
            <a:r>
              <a:rPr sz="1800" b="0" i="0">
                <a:solidFill>
                  <a:srgbClr val="212121"/>
                </a:solidFill>
              </a:rPr>
              <a:t>Use the core functions: AVERAGE, STDEV.S, MIN, MAX, COUNTIF, AVERAGEIFS, CORREL</a:t>
            </a:r>
          </a:p>
          <a:p>
            <a:pPr>
              <a:spcAft>
                <a:spcPts val="600"/>
              </a:spcAft>
            </a:pPr>
            <a:r>
              <a:rPr sz="1800" b="0" i="0">
                <a:solidFill>
                  <a:srgbClr val="212121"/>
                </a:solidFill>
              </a:rPr>
              <a:t>Filter and sort to work on part of the data</a:t>
            </a:r>
          </a:p>
          <a:p>
            <a:pPr>
              <a:spcAft>
                <a:spcPts val="600"/>
              </a:spcAft>
            </a:pPr>
            <a:r>
              <a:rPr sz="1800" b="0" i="0">
                <a:solidFill>
                  <a:srgbClr val="212121"/>
                </a:solidFill>
              </a:rPr>
              <a:t>Build summary and comparison tables</a:t>
            </a:r>
          </a:p>
          <a:p>
            <a:pPr>
              <a:spcAft>
                <a:spcPts val="600"/>
              </a:spcAft>
            </a:pPr>
            <a:r>
              <a:rPr sz="1800" b="0" i="0">
                <a:solidFill>
                  <a:srgbClr val="212121"/>
                </a:solidFill>
              </a:rPr>
              <a:t>Make a scatter plot, and run a regression two different ways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Excel is</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A program for storing, organising and analysing data in rows and columns.</a:t>
            </a:r>
          </a:p>
        </p:txBody>
      </p:sp>
      <p:sp>
        <p:nvSpPr>
          <p:cNvPr id="4" name="Rectangle 3"/>
          <p:cNvSpPr/>
          <p:nvPr/>
        </p:nvSpPr>
        <p:spPr>
          <a:xfrm>
            <a:off x="310896" y="14813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6962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191109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12598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34086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TextBox 28"/>
          <p:cNvSpPr txBox="1"/>
          <p:nvPr/>
        </p:nvSpPr>
        <p:spPr>
          <a:xfrm>
            <a:off x="4114800" y="1517904"/>
            <a:ext cx="4718304" cy="1073912"/>
          </a:xfrm>
          <a:prstGeom prst="rect">
            <a:avLst/>
          </a:prstGeom>
          <a:solidFill>
            <a:srgbClr val="F2F4F5"/>
          </a:solidFill>
          <a:ln>
            <a:noFill/>
          </a:ln>
        </p:spPr>
        <p:txBody>
          <a:bodyPr wrap="square" lIns="146304" tIns="73152" rIns="109728" bIns="54864">
            <a:spAutoFit/>
          </a:bodyPr>
          <a:lstStyle/>
          <a:p>
            <a:pPr>
              <a:spcAft>
                <a:spcPts val="200"/>
              </a:spcAft>
            </a:pPr>
            <a:r>
              <a:rPr sz="1400" b="1" i="0">
                <a:solidFill>
                  <a:srgbClr val="455A64"/>
                </a:solidFill>
              </a:rPr>
              <a:t>Cells have addresses</a:t>
            </a:r>
          </a:p>
          <a:p>
            <a:pPr>
              <a:spcAft>
                <a:spcPts val="0"/>
              </a:spcAft>
            </a:pPr>
            <a:r>
              <a:rPr sz="1400" b="0" i="0">
                <a:solidFill>
                  <a:srgbClr val="212121"/>
                </a:solidFill>
              </a:rPr>
              <a:t>Data lives in cells, identified by column letter and row number — D2 is the cell in column D, row 2. Every formula you write refers to cells this way.</a:t>
            </a:r>
          </a:p>
        </p:txBody>
      </p:sp>
      <p:sp>
        <p:nvSpPr>
          <p:cNvPr id="30" name="Rectangle 29"/>
          <p:cNvSpPr/>
          <p:nvPr/>
        </p:nvSpPr>
        <p:spPr>
          <a:xfrm>
            <a:off x="4114800" y="1517904"/>
            <a:ext cx="50292" cy="1073912"/>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0896" y="301752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Please have Excel open now, with the tutorial dataset loaded, so you can follow along.</a:t>
            </a:r>
          </a:p>
        </p:txBody>
      </p:sp>
      <p:sp>
        <p:nvSpPr>
          <p:cNvPr id="32" name="Rectangle 31"/>
          <p:cNvSpPr/>
          <p:nvPr/>
        </p:nvSpPr>
        <p:spPr>
          <a:xfrm>
            <a:off x="310896" y="301752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34" name="Rectangle 3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Installing Excel and the Analysis ToolPak</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Two things to have ready. Skip if you already have them.</a:t>
            </a:r>
          </a:p>
        </p:txBody>
      </p:sp>
      <p:sp>
        <p:nvSpPr>
          <p:cNvPr id="4" name="TextBox 3"/>
          <p:cNvSpPr txBox="1"/>
          <p:nvPr/>
        </p:nvSpPr>
        <p:spPr>
          <a:xfrm>
            <a:off x="310896" y="1463040"/>
            <a:ext cx="2743200" cy="274320"/>
          </a:xfrm>
          <a:prstGeom prst="rect">
            <a:avLst/>
          </a:prstGeom>
          <a:noFill/>
        </p:spPr>
        <p:txBody>
          <a:bodyPr wrap="square" lIns="0" tIns="0" bIns="0">
            <a:spAutoFit/>
          </a:bodyPr>
          <a:lstStyle/>
          <a:p>
            <a:pPr algn="l">
              <a:spcAft>
                <a:spcPts val="0"/>
              </a:spcAft>
            </a:pPr>
            <a:r>
              <a:rPr sz="1100" b="1" i="0">
                <a:solidFill>
                  <a:srgbClr val="455A64"/>
                </a:solidFill>
              </a:rPr>
              <a:t>EXCEL</a:t>
            </a:r>
          </a:p>
        </p:txBody>
      </p:sp>
      <p:sp>
        <p:nvSpPr>
          <p:cNvPr id="5" name="Oval 4"/>
          <p:cNvSpPr/>
          <p:nvPr/>
        </p:nvSpPr>
        <p:spPr>
          <a:xfrm>
            <a:off x="310896"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Go to office.com and sign in with your Northeastern email</a:t>
            </a:r>
          </a:p>
        </p:txBody>
      </p:sp>
      <p:sp>
        <p:nvSpPr>
          <p:cNvPr id="7" name="Oval 6"/>
          <p:cNvSpPr/>
          <p:nvPr/>
        </p:nvSpPr>
        <p:spPr>
          <a:xfrm>
            <a:off x="310896"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Install Office → Office 365</a:t>
            </a:r>
          </a:p>
        </p:txBody>
      </p:sp>
      <p:sp>
        <p:nvSpPr>
          <p:cNvPr id="9" name="Oval 8"/>
          <p:cNvSpPr/>
          <p:nvPr/>
        </p:nvSpPr>
        <p:spPr>
          <a:xfrm>
            <a:off x="310896"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Follow the installer</a:t>
            </a:r>
          </a:p>
        </p:txBody>
      </p:sp>
      <p:sp>
        <p:nvSpPr>
          <p:cNvPr id="11" name="TextBox 10"/>
          <p:cNvSpPr txBox="1"/>
          <p:nvPr/>
        </p:nvSpPr>
        <p:spPr>
          <a:xfrm>
            <a:off x="4663440" y="1463040"/>
            <a:ext cx="3657600" cy="274320"/>
          </a:xfrm>
          <a:prstGeom prst="rect">
            <a:avLst/>
          </a:prstGeom>
          <a:noFill/>
        </p:spPr>
        <p:txBody>
          <a:bodyPr wrap="square" lIns="0" tIns="0" bIns="0">
            <a:spAutoFit/>
          </a:bodyPr>
          <a:lstStyle/>
          <a:p>
            <a:pPr algn="l">
              <a:spcAft>
                <a:spcPts val="0"/>
              </a:spcAft>
            </a:pPr>
            <a:r>
              <a:rPr sz="1100" b="1" i="0">
                <a:solidFill>
                  <a:srgbClr val="455A64"/>
                </a:solidFill>
              </a:rPr>
              <a:t>ANALYSIS TOOLPAK</a:t>
            </a:r>
          </a:p>
        </p:txBody>
      </p:sp>
      <p:sp>
        <p:nvSpPr>
          <p:cNvPr id="12" name="Oval 11"/>
          <p:cNvSpPr/>
          <p:nvPr/>
        </p:nvSpPr>
        <p:spPr>
          <a:xfrm>
            <a:off x="4663440"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Windows: File → Options → Add-ins → Manage: Excel Add-ins → Go</a:t>
            </a:r>
          </a:p>
        </p:txBody>
      </p:sp>
      <p:sp>
        <p:nvSpPr>
          <p:cNvPr id="14" name="Oval 13"/>
          <p:cNvSpPr/>
          <p:nvPr/>
        </p:nvSpPr>
        <p:spPr>
          <a:xfrm>
            <a:off x="4663440"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Mac: Tools → Excel Add-ins</a:t>
            </a:r>
          </a:p>
        </p:txBody>
      </p:sp>
      <p:sp>
        <p:nvSpPr>
          <p:cNvPr id="16" name="Oval 15"/>
          <p:cNvSpPr/>
          <p:nvPr/>
        </p:nvSpPr>
        <p:spPr>
          <a:xfrm>
            <a:off x="4663440"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Tick Analysis ToolPak, then OK</a:t>
            </a:r>
          </a:p>
        </p:txBody>
      </p:sp>
      <p:sp>
        <p:nvSpPr>
          <p:cNvPr id="18" name="TextBox 17"/>
          <p:cNvSpPr txBox="1"/>
          <p:nvPr/>
        </p:nvSpPr>
        <p:spPr>
          <a:xfrm>
            <a:off x="310896" y="331012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How to know it worked</a:t>
            </a:r>
          </a:p>
          <a:p>
            <a:pPr>
              <a:spcAft>
                <a:spcPts val="0"/>
              </a:spcAft>
            </a:pPr>
            <a:r>
              <a:rPr sz="1400" b="0" i="0">
                <a:solidFill>
                  <a:srgbClr val="212121"/>
                </a:solidFill>
              </a:rPr>
              <a:t>The ToolPak adds a Data Analysis button at the far right of the Data tab. We use it for regression in Question 7 — but we will also do that without it.</a:t>
            </a:r>
          </a:p>
        </p:txBody>
      </p:sp>
      <p:sp>
        <p:nvSpPr>
          <p:cNvPr id="19" name="Rectangle 18"/>
          <p:cNvSpPr/>
          <p:nvPr/>
        </p:nvSpPr>
        <p:spPr>
          <a:xfrm>
            <a:off x="310896" y="331012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Important vocabulary</a:t>
            </a:r>
          </a:p>
        </p:txBody>
      </p:sp>
      <p:graphicFrame>
        <p:nvGraphicFramePr>
          <p:cNvPr id="3" name="Table 2"/>
          <p:cNvGraphicFramePr>
            <a:graphicFrameLocks noGrp="1"/>
          </p:cNvGraphicFramePr>
          <p:nvPr/>
        </p:nvGraphicFramePr>
        <p:xfrm>
          <a:off x="310896" y="1042415"/>
          <a:ext cx="8522208" cy="2880360"/>
        </p:xfrm>
        <a:graphic>
          <a:graphicData uri="http://schemas.openxmlformats.org/drawingml/2006/table">
            <a:tbl>
              <a:tblPr firstRow="1" bandRow="1">
                <a:tableStyleId>{5C22544A-7EE6-4342-B048-85BDC9FD1C3A}</a:tableStyleId>
              </a:tblPr>
              <a:tblGrid>
                <a:gridCol w="1600200"/>
                <a:gridCol w="6922008"/>
              </a:tblGrid>
              <a:tr h="360045">
                <a:tc>
                  <a:txBody>
                    <a:bodyPr wrap="square"/>
                    <a:lstStyle/>
                    <a:p>
                      <a:pPr>
                        <a:spcAft>
                          <a:spcPts val="0"/>
                        </a:spcAft>
                      </a:pPr>
                      <a:r>
                        <a:rPr sz="1300" b="1">
                          <a:solidFill>
                            <a:srgbClr val="FFFFFF"/>
                          </a:solidFill>
                        </a:rPr>
                        <a:t>Term</a:t>
                      </a:r>
                    </a:p>
                  </a:txBody>
                  <a:tcPr marL="73152" marR="54864" marT="27432" marB="27432" anchor="ctr">
                    <a:solidFill>
                      <a:srgbClr val="455A64"/>
                    </a:solidFill>
                  </a:tcPr>
                </a:tc>
                <a:tc>
                  <a:txBody>
                    <a:bodyPr wrap="square"/>
                    <a:lstStyle/>
                    <a:p>
                      <a:pPr>
                        <a:spcAft>
                          <a:spcPts val="0"/>
                        </a:spcAft>
                      </a:pPr>
                      <a:r>
                        <a:rPr sz="1300" b="1">
                          <a:solidFill>
                            <a:srgbClr val="FFFFFF"/>
                          </a:solidFill>
                        </a:rPr>
                        <a:t>What it means</a:t>
                      </a:r>
                    </a:p>
                  </a:txBody>
                  <a:tcPr marL="73152" marR="54864" marT="27432" marB="27432" anchor="ctr">
                    <a:solidFill>
                      <a:srgbClr val="455A64"/>
                    </a:solidFill>
                  </a:tcPr>
                </a:tc>
              </a:tr>
              <a:tr h="360045">
                <a:tc>
                  <a:txBody>
                    <a:bodyPr wrap="square"/>
                    <a:lstStyle/>
                    <a:p>
                      <a:pPr>
                        <a:spcAft>
                          <a:spcPts val="0"/>
                        </a:spcAft>
                      </a:pPr>
                      <a:r>
                        <a:rPr sz="1300">
                          <a:solidFill>
                            <a:srgbClr val="1C272B"/>
                          </a:solidFill>
                        </a:rPr>
                        <a:t>Workbook</a:t>
                      </a:r>
                    </a:p>
                  </a:txBody>
                  <a:tcPr marL="73152" marR="54864" marT="27432" marB="27432" anchor="ctr">
                    <a:solidFill>
                      <a:srgbClr val="FFFFFF"/>
                    </a:solidFill>
                  </a:tcPr>
                </a:tc>
                <a:tc>
                  <a:txBody>
                    <a:bodyPr wrap="square"/>
                    <a:lstStyle/>
                    <a:p>
                      <a:pPr>
                        <a:spcAft>
                          <a:spcPts val="0"/>
                        </a:spcAft>
                      </a:pPr>
                      <a:r>
                        <a:rPr sz="1300">
                          <a:solidFill>
                            <a:srgbClr val="1C272B"/>
                          </a:solidFill>
                        </a:rPr>
                        <a:t>The whole Excel file you are working in</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Sheet</a:t>
                      </a:r>
                    </a:p>
                  </a:txBody>
                  <a:tcPr marL="73152" marR="54864" marT="27432" marB="27432" anchor="ctr">
                    <a:solidFill>
                      <a:srgbClr val="F7F9FA"/>
                    </a:solidFill>
                  </a:tcPr>
                </a:tc>
                <a:tc>
                  <a:txBody>
                    <a:bodyPr wrap="square"/>
                    <a:lstStyle/>
                    <a:p>
                      <a:pPr>
                        <a:spcAft>
                          <a:spcPts val="0"/>
                        </a:spcAft>
                      </a:pPr>
                      <a:r>
                        <a:rPr sz="1300">
                          <a:solidFill>
                            <a:srgbClr val="1C272B"/>
                          </a:solidFill>
                        </a:rPr>
                        <a:t>One tab inside the workbook. You can add and rename them</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Row</a:t>
                      </a:r>
                    </a:p>
                  </a:txBody>
                  <a:tcPr marL="73152" marR="54864" marT="27432" marB="27432" anchor="ctr">
                    <a:solidFill>
                      <a:srgbClr val="FFFFFF"/>
                    </a:solidFill>
                  </a:tcPr>
                </a:tc>
                <a:tc>
                  <a:txBody>
                    <a:bodyPr wrap="square"/>
                    <a:lstStyle/>
                    <a:p>
                      <a:pPr>
                        <a:spcAft>
                          <a:spcPts val="0"/>
                        </a:spcAft>
                      </a:pPr>
                      <a:r>
                        <a:rPr sz="1300">
                          <a:solidFill>
                            <a:srgbClr val="1C272B"/>
                          </a:solidFill>
                        </a:rPr>
                        <a:t>A horizontal line of cells, numbered 1, 2, 3 …</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Column</a:t>
                      </a:r>
                    </a:p>
                  </a:txBody>
                  <a:tcPr marL="73152" marR="54864" marT="27432" marB="27432" anchor="ctr">
                    <a:solidFill>
                      <a:srgbClr val="F7F9FA"/>
                    </a:solidFill>
                  </a:tcPr>
                </a:tc>
                <a:tc>
                  <a:txBody>
                    <a:bodyPr wrap="square"/>
                    <a:lstStyle/>
                    <a:p>
                      <a:pPr>
                        <a:spcAft>
                          <a:spcPts val="0"/>
                        </a:spcAft>
                      </a:pPr>
                      <a:r>
                        <a:rPr sz="1300">
                          <a:solidFill>
                            <a:srgbClr val="1C272B"/>
                          </a:solidFill>
                        </a:rPr>
                        <a:t>A vertical line of cells, lettered A, B, C …</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Cell</a:t>
                      </a:r>
                    </a:p>
                  </a:txBody>
                  <a:tcPr marL="73152" marR="54864" marT="27432" marB="27432" anchor="ctr">
                    <a:solidFill>
                      <a:srgbClr val="FFFFFF"/>
                    </a:solidFill>
                  </a:tcPr>
                </a:tc>
                <a:tc>
                  <a:txBody>
                    <a:bodyPr wrap="square"/>
                    <a:lstStyle/>
                    <a:p>
                      <a:pPr>
                        <a:spcAft>
                          <a:spcPts val="0"/>
                        </a:spcAft>
                      </a:pPr>
                      <a:r>
                        <a:rPr sz="1300">
                          <a:solidFill>
                            <a:srgbClr val="1C272B"/>
                          </a:solidFill>
                        </a:rPr>
                        <a:t>One box, addressed by column and row: A1, D2, K551</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Range</a:t>
                      </a:r>
                    </a:p>
                  </a:txBody>
                  <a:tcPr marL="73152" marR="54864" marT="27432" marB="27432" anchor="ctr">
                    <a:solidFill>
                      <a:srgbClr val="F7F9FA"/>
                    </a:solidFill>
                  </a:tcPr>
                </a:tc>
                <a:tc>
                  <a:txBody>
                    <a:bodyPr wrap="square"/>
                    <a:lstStyle/>
                    <a:p>
                      <a:pPr>
                        <a:spcAft>
                          <a:spcPts val="0"/>
                        </a:spcAft>
                      </a:pPr>
                      <a:r>
                        <a:rPr sz="1300">
                          <a:solidFill>
                            <a:srgbClr val="1C272B"/>
                          </a:solidFill>
                        </a:rPr>
                        <a:t>A block of cells: D2:D551 means D2 down to D551</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Function</a:t>
                      </a:r>
                    </a:p>
                  </a:txBody>
                  <a:tcPr marL="73152" marR="54864" marT="27432" marB="27432" anchor="ctr">
                    <a:solidFill>
                      <a:srgbClr val="FFFFFF"/>
                    </a:solidFill>
                  </a:tcPr>
                </a:tc>
                <a:tc>
                  <a:txBody>
                    <a:bodyPr wrap="square"/>
                    <a:lstStyle/>
                    <a:p>
                      <a:pPr>
                        <a:spcAft>
                          <a:spcPts val="0"/>
                        </a:spcAft>
                      </a:pPr>
                      <a:r>
                        <a:rPr sz="1300">
                          <a:solidFill>
                            <a:srgbClr val="1C272B"/>
                          </a:solidFill>
                        </a:rPr>
                        <a:t>A built-in calculation: AVERAGE, STDEV.S, CORREL …</a:t>
                      </a:r>
                    </a:p>
                  </a:txBody>
                  <a:tcPr marL="73152" marR="54864" marT="27432" marB="27432" anchor="ctr">
                    <a:solidFill>
                      <a:srgbClr val="FFFFFF"/>
                    </a:solidFill>
                  </a:tcPr>
                </a:tc>
              </a:tr>
            </a:tbl>
          </a:graphicData>
        </a:graphic>
      </p:graphicFrame>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Writing a function</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Every formula starts with = . Then the function name, then the range in brackets.</a:t>
            </a:r>
          </a:p>
        </p:txBody>
      </p:sp>
      <p:sp>
        <p:nvSpPr>
          <p:cNvPr id="4" name="Rectangle 3"/>
          <p:cNvSpPr/>
          <p:nvPr/>
        </p:nvSpPr>
        <p:spPr>
          <a:xfrm>
            <a:off x="310896" y="1481328"/>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5" name="Rectangle 4"/>
          <p:cNvSpPr/>
          <p:nvPr/>
        </p:nvSpPr>
        <p:spPr>
          <a:xfrm>
            <a:off x="1097280" y="1481328"/>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6" name="Oval 5"/>
          <p:cNvSpPr/>
          <p:nvPr/>
        </p:nvSpPr>
        <p:spPr>
          <a:xfrm>
            <a:off x="310896" y="195681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924812"/>
            <a:ext cx="3877055" cy="256285"/>
          </a:xfrm>
          <a:prstGeom prst="rect">
            <a:avLst/>
          </a:prstGeom>
          <a:noFill/>
        </p:spPr>
        <p:txBody>
          <a:bodyPr wrap="square" lIns="0" tIns="0" bIns="0">
            <a:spAutoFit/>
          </a:bodyPr>
          <a:lstStyle/>
          <a:p>
            <a:pPr>
              <a:spcAft>
                <a:spcPts val="0"/>
              </a:spcAft>
              <a:buNone/>
            </a:pPr>
            <a:r>
              <a:rPr sz="1300" b="0" i="0">
                <a:solidFill>
                  <a:srgbClr val="212121"/>
                </a:solidFill>
              </a:rPr>
              <a:t>Click the cell where you want the answer</a:t>
            </a:r>
          </a:p>
        </p:txBody>
      </p:sp>
      <p:sp>
        <p:nvSpPr>
          <p:cNvPr id="8" name="Oval 7"/>
          <p:cNvSpPr/>
          <p:nvPr/>
        </p:nvSpPr>
        <p:spPr>
          <a:xfrm>
            <a:off x="310896" y="2249678"/>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217674"/>
            <a:ext cx="3877055" cy="256285"/>
          </a:xfrm>
          <a:prstGeom prst="rect">
            <a:avLst/>
          </a:prstGeom>
          <a:noFill/>
        </p:spPr>
        <p:txBody>
          <a:bodyPr wrap="square" lIns="0" tIns="0" bIns="0">
            <a:spAutoFit/>
          </a:bodyPr>
          <a:lstStyle/>
          <a:p>
            <a:pPr>
              <a:spcAft>
                <a:spcPts val="0"/>
              </a:spcAft>
              <a:buNone/>
            </a:pPr>
            <a:r>
              <a:rPr sz="1300" b="0" i="0">
                <a:solidFill>
                  <a:srgbClr val="212121"/>
                </a:solidFill>
              </a:rPr>
              <a:t>Type = and the function name, then (</a:t>
            </a:r>
          </a:p>
        </p:txBody>
      </p:sp>
      <p:sp>
        <p:nvSpPr>
          <p:cNvPr id="10" name="Oval 9"/>
          <p:cNvSpPr/>
          <p:nvPr/>
        </p:nvSpPr>
        <p:spPr>
          <a:xfrm>
            <a:off x="310896" y="25425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510536"/>
            <a:ext cx="3877055" cy="256285"/>
          </a:xfrm>
          <a:prstGeom prst="rect">
            <a:avLst/>
          </a:prstGeom>
          <a:noFill/>
        </p:spPr>
        <p:txBody>
          <a:bodyPr wrap="square" lIns="0" tIns="0" bIns="0">
            <a:spAutoFit/>
          </a:bodyPr>
          <a:lstStyle/>
          <a:p>
            <a:pPr>
              <a:spcAft>
                <a:spcPts val="0"/>
              </a:spcAft>
              <a:buNone/>
            </a:pPr>
            <a:r>
              <a:rPr sz="1300" b="0" i="0">
                <a:solidFill>
                  <a:srgbClr val="212121"/>
                </a:solidFill>
              </a:rPr>
              <a:t>Select the range with the mouse, or type it</a:t>
            </a:r>
          </a:p>
        </p:txBody>
      </p:sp>
      <p:sp>
        <p:nvSpPr>
          <p:cNvPr id="12" name="Oval 11"/>
          <p:cNvSpPr/>
          <p:nvPr/>
        </p:nvSpPr>
        <p:spPr>
          <a:xfrm>
            <a:off x="310896" y="283540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803397"/>
            <a:ext cx="3877055" cy="256285"/>
          </a:xfrm>
          <a:prstGeom prst="rect">
            <a:avLst/>
          </a:prstGeom>
          <a:noFill/>
        </p:spPr>
        <p:txBody>
          <a:bodyPr wrap="square" lIns="0" tIns="0" bIns="0">
            <a:spAutoFit/>
          </a:bodyPr>
          <a:lstStyle/>
          <a:p>
            <a:pPr>
              <a:spcAft>
                <a:spcPts val="0"/>
              </a:spcAft>
              <a:buNone/>
            </a:pPr>
            <a:r>
              <a:rPr sz="1300" b="0" i="0">
                <a:solidFill>
                  <a:srgbClr val="212121"/>
                </a:solidFill>
              </a:rPr>
              <a:t>Close the bracket and press Enter</a:t>
            </a:r>
          </a:p>
        </p:txBody>
      </p:sp>
      <p:graphicFrame>
        <p:nvGraphicFramePr>
          <p:cNvPr id="14" name="Table 13"/>
          <p:cNvGraphicFramePr>
            <a:graphicFrameLocks noGrp="1"/>
          </p:cNvGraphicFramePr>
          <p:nvPr/>
        </p:nvGraphicFramePr>
        <p:xfrm>
          <a:off x="4663440" y="1956816"/>
          <a:ext cx="4169664" cy="1874520"/>
        </p:xfrm>
        <a:graphic>
          <a:graphicData uri="http://schemas.openxmlformats.org/drawingml/2006/table">
            <a:tbl>
              <a:tblPr firstRow="1" bandRow="1">
                <a:tableStyleId>{5C22544A-7EE6-4342-B048-85BDC9FD1C3A}</a:tableStyleId>
              </a:tblPr>
              <a:tblGrid>
                <a:gridCol w="2212848"/>
                <a:gridCol w="1956816"/>
              </a:tblGrid>
              <a:tr h="374904">
                <a:tc>
                  <a:txBody>
                    <a:bodyPr wrap="square"/>
                    <a:lstStyle/>
                    <a:p>
                      <a:pPr>
                        <a:spcAft>
                          <a:spcPts val="0"/>
                        </a:spcAft>
                      </a:pPr>
                      <a:r>
                        <a:rPr sz="1100" b="1">
                          <a:solidFill>
                            <a:srgbClr val="FFFFFF"/>
                          </a:solidFill>
                        </a:rPr>
                        <a:t>Function</a:t>
                      </a:r>
                    </a:p>
                  </a:txBody>
                  <a:tcPr marL="73152" marR="54864" marT="27432" marB="27432" anchor="ctr">
                    <a:solidFill>
                      <a:srgbClr val="455A64"/>
                    </a:solidFill>
                  </a:tcPr>
                </a:tc>
                <a:tc>
                  <a:txBody>
                    <a:bodyPr wrap="square"/>
                    <a:lstStyle/>
                    <a:p>
                      <a:pPr>
                        <a:spcAft>
                          <a:spcPts val="0"/>
                        </a:spcAft>
                      </a:pPr>
                      <a:r>
                        <a:rPr sz="1100" b="1">
                          <a:solidFill>
                            <a:srgbClr val="FFFFFF"/>
                          </a:solidFill>
                        </a:rPr>
                        <a:t>Gives you</a:t>
                      </a:r>
                    </a:p>
                  </a:txBody>
                  <a:tcPr marL="73152" marR="54864" marT="27432" marB="27432" anchor="ctr">
                    <a:solidFill>
                      <a:srgbClr val="455A64"/>
                    </a:solidFill>
                  </a:tcPr>
                </a:tc>
              </a:tr>
              <a:tr h="374904">
                <a:tc>
                  <a:txBody>
                    <a:bodyPr wrap="square"/>
                    <a:lstStyle/>
                    <a:p>
                      <a:pPr>
                        <a:spcAft>
                          <a:spcPts val="0"/>
                        </a:spcAft>
                      </a:pPr>
                      <a:r>
                        <a:rPr sz="1000">
                          <a:solidFill>
                            <a:srgbClr val="1C272B"/>
                          </a:solidFill>
                          <a:latin typeface="Courier New"/>
                        </a:rPr>
                        <a:t>=AVERAGE(range)</a:t>
                      </a:r>
                    </a:p>
                  </a:txBody>
                  <a:tcPr marL="73152" marR="54864" marT="27432" marB="27432" anchor="ctr">
                    <a:solidFill>
                      <a:srgbClr val="FFFFFF"/>
                    </a:solidFill>
                  </a:tcPr>
                </a:tc>
                <a:tc>
                  <a:txBody>
                    <a:bodyPr wrap="square"/>
                    <a:lstStyle/>
                    <a:p>
                      <a:pPr>
                        <a:spcAft>
                          <a:spcPts val="0"/>
                        </a:spcAft>
                      </a:pPr>
                      <a:r>
                        <a:rPr sz="1100">
                          <a:solidFill>
                            <a:srgbClr val="1C272B"/>
                          </a:solidFill>
                        </a:rPr>
                        <a:t>the mean</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=STDEV.S(range)</a:t>
                      </a:r>
                    </a:p>
                  </a:txBody>
                  <a:tcPr marL="73152" marR="54864" marT="27432" marB="27432" anchor="ctr">
                    <a:solidFill>
                      <a:srgbClr val="F7F9FA"/>
                    </a:solidFill>
                  </a:tcPr>
                </a:tc>
                <a:tc>
                  <a:txBody>
                    <a:bodyPr wrap="square"/>
                    <a:lstStyle/>
                    <a:p>
                      <a:pPr>
                        <a:spcAft>
                          <a:spcPts val="0"/>
                        </a:spcAft>
                      </a:pPr>
                      <a:r>
                        <a:rPr sz="1100">
                          <a:solidFill>
                            <a:srgbClr val="1C272B"/>
                          </a:solidFill>
                        </a:rPr>
                        <a:t>the sample standard deviation</a:t>
                      </a:r>
                    </a:p>
                  </a:txBody>
                  <a:tcPr marL="73152" marR="54864" marT="27432" marB="27432" anchor="ctr">
                    <a:solidFill>
                      <a:srgbClr val="F7F9FA"/>
                    </a:solidFill>
                  </a:tcPr>
                </a:tc>
              </a:tr>
              <a:tr h="374904">
                <a:tc>
                  <a:txBody>
                    <a:bodyPr wrap="square"/>
                    <a:lstStyle/>
                    <a:p>
                      <a:pPr>
                        <a:spcAft>
                          <a:spcPts val="0"/>
                        </a:spcAft>
                      </a:pPr>
                      <a:r>
                        <a:rPr sz="1000">
                          <a:solidFill>
                            <a:srgbClr val="1C272B"/>
                          </a:solidFill>
                          <a:latin typeface="Courier New"/>
                        </a:rPr>
                        <a:t>=MIN(range)  =MAX(range)</a:t>
                      </a:r>
                    </a:p>
                  </a:txBody>
                  <a:tcPr marL="73152" marR="54864" marT="27432" marB="27432" anchor="ctr">
                    <a:solidFill>
                      <a:srgbClr val="FFFFFF"/>
                    </a:solidFill>
                  </a:tcPr>
                </a:tc>
                <a:tc>
                  <a:txBody>
                    <a:bodyPr wrap="square"/>
                    <a:lstStyle/>
                    <a:p>
                      <a:pPr>
                        <a:spcAft>
                          <a:spcPts val="0"/>
                        </a:spcAft>
                      </a:pPr>
                      <a:r>
                        <a:rPr sz="1100">
                          <a:solidFill>
                            <a:srgbClr val="1C272B"/>
                          </a:solidFill>
                        </a:rPr>
                        <a:t>smallest and largest</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=CORREL(r1, r2)</a:t>
                      </a:r>
                    </a:p>
                  </a:txBody>
                  <a:tcPr marL="73152" marR="54864" marT="27432" marB="27432" anchor="ctr">
                    <a:solidFill>
                      <a:srgbClr val="F7F9FA"/>
                    </a:solidFill>
                  </a:tcPr>
                </a:tc>
                <a:tc>
                  <a:txBody>
                    <a:bodyPr wrap="square"/>
                    <a:lstStyle/>
                    <a:p>
                      <a:pPr>
                        <a:spcAft>
                          <a:spcPts val="0"/>
                        </a:spcAft>
                      </a:pPr>
                      <a:r>
                        <a:rPr sz="1100">
                          <a:solidFill>
                            <a:srgbClr val="1C272B"/>
                          </a:solidFill>
                        </a:rPr>
                        <a:t>the correlation of two ranges</a:t>
                      </a:r>
                    </a:p>
                  </a:txBody>
                  <a:tcPr marL="73152" marR="54864" marT="27432" marB="27432" anchor="ctr">
                    <a:solidFill>
                      <a:srgbClr val="F7F9FA"/>
                    </a:solidFill>
                  </a:tcPr>
                </a:tc>
              </a:tr>
            </a:tbl>
          </a:graphicData>
        </a:graphic>
      </p:graphicFrame>
      <p:sp>
        <p:nvSpPr>
          <p:cNvPr id="15" name="TextBox 14"/>
          <p:cNvSpPr txBox="1"/>
          <p:nvPr/>
        </p:nvSpPr>
        <p:spPr>
          <a:xfrm>
            <a:off x="310896" y="3950208"/>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at the front of a range means “the range on Sheet1”. You need it when your answer sits on a different sheet from the data.</a:t>
            </a:r>
          </a:p>
        </p:txBody>
      </p:sp>
      <p:sp>
        <p:nvSpPr>
          <p:cNvPr id="16" name="Rectangle 15"/>
          <p:cNvSpPr/>
          <p:nvPr/>
        </p:nvSpPr>
        <p:spPr>
          <a:xfrm>
            <a:off x="310896" y="395020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Selecting and filtering</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Two things you will use constantly in this session.</a:t>
            </a:r>
          </a:p>
        </p:txBody>
      </p:sp>
      <p:sp>
        <p:nvSpPr>
          <p:cNvPr id="4" name="TextBox 3"/>
          <p:cNvSpPr txBox="1"/>
          <p:nvPr/>
        </p:nvSpPr>
        <p:spPr>
          <a:xfrm>
            <a:off x="310896"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SELECT TO THE END OF A COLUMN</a:t>
            </a:r>
          </a:p>
        </p:txBody>
      </p:sp>
      <p:sp>
        <p:nvSpPr>
          <p:cNvPr id="5" name="Oval 4"/>
          <p:cNvSpPr/>
          <p:nvPr/>
        </p:nvSpPr>
        <p:spPr>
          <a:xfrm>
            <a:off x="310896"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first cell</a:t>
            </a:r>
          </a:p>
        </p:txBody>
      </p:sp>
      <p:sp>
        <p:nvSpPr>
          <p:cNvPr id="7" name="Oval 6"/>
          <p:cNvSpPr/>
          <p:nvPr/>
        </p:nvSpPr>
        <p:spPr>
          <a:xfrm>
            <a:off x="310896"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Hold Shift + Ctrl (Windows) or Shift + Cmd (Mac)</a:t>
            </a:r>
          </a:p>
        </p:txBody>
      </p:sp>
      <p:sp>
        <p:nvSpPr>
          <p:cNvPr id="9" name="Oval 8"/>
          <p:cNvSpPr/>
          <p:nvPr/>
        </p:nvSpPr>
        <p:spPr>
          <a:xfrm>
            <a:off x="310896"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Press the down arrow</a:t>
            </a:r>
          </a:p>
        </p:txBody>
      </p:sp>
      <p:sp>
        <p:nvSpPr>
          <p:cNvPr id="11" name="TextBox 10"/>
          <p:cNvSpPr txBox="1"/>
          <p:nvPr/>
        </p:nvSpPr>
        <p:spPr>
          <a:xfrm>
            <a:off x="4663440"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FILTER TO PART OF THE DATA</a:t>
            </a:r>
          </a:p>
        </p:txBody>
      </p:sp>
      <p:sp>
        <p:nvSpPr>
          <p:cNvPr id="12" name="Oval 11"/>
          <p:cNvSpPr/>
          <p:nvPr/>
        </p:nvSpPr>
        <p:spPr>
          <a:xfrm>
            <a:off x="4663440"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any cell in the data, then Data → Filter</a:t>
            </a:r>
          </a:p>
        </p:txBody>
      </p:sp>
      <p:sp>
        <p:nvSpPr>
          <p:cNvPr id="14" name="Oval 13"/>
          <p:cNvSpPr/>
          <p:nvPr/>
        </p:nvSpPr>
        <p:spPr>
          <a:xfrm>
            <a:off x="4663440"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arrow on the column you want</a:t>
            </a:r>
          </a:p>
        </p:txBody>
      </p:sp>
      <p:sp>
        <p:nvSpPr>
          <p:cNvPr id="16" name="Oval 15"/>
          <p:cNvSpPr/>
          <p:nvPr/>
        </p:nvSpPr>
        <p:spPr>
          <a:xfrm>
            <a:off x="4663440"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Untick the values you do not want, then OK</a:t>
            </a:r>
          </a:p>
        </p:txBody>
      </p:sp>
      <p:sp>
        <p:nvSpPr>
          <p:cNvPr id="18" name="TextBox 17"/>
          <p:cNvSpPr txBox="1"/>
          <p:nvPr/>
        </p:nvSpPr>
        <p:spPr>
          <a:xfrm>
            <a:off x="310896" y="3163824"/>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part everyone gets wrong</a:t>
            </a:r>
          </a:p>
          <a:p>
            <a:pPr>
              <a:spcAft>
                <a:spcPts val="0"/>
              </a:spcAft>
            </a:pPr>
            <a:r>
              <a:rPr sz="1400" b="0" i="0">
                <a:solidFill>
                  <a:srgbClr val="212121"/>
                </a:solidFill>
              </a:rPr>
              <a:t>A filter only hides rows — it does not remove them. A formula over D2:D551 still counts every hidden row. To work on a subset, filter, select the visible rows, copy, and paste onto a new sheet.</a:t>
            </a:r>
          </a:p>
        </p:txBody>
      </p:sp>
      <p:sp>
        <p:nvSpPr>
          <p:cNvPr id="19" name="Rectangle 18"/>
          <p:cNvSpPr/>
          <p:nvPr/>
        </p:nvSpPr>
        <p:spPr>
          <a:xfrm>
            <a:off x="310896" y="3163824"/>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The tutorial scenario</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are being asked to find out, and what the data holds.</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2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scenario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You are helping the Ministry of Health evaluate a programme aimed at poor households.</a:t>
            </a:r>
          </a:p>
          <a:p>
            <a:pPr>
              <a:spcAft>
                <a:spcPts val="600"/>
              </a:spcAft>
            </a:pPr>
            <a:r>
              <a:rPr sz="1700" b="0" i="0">
                <a:solidFill>
                  <a:srgbClr val="212121"/>
                </a:solidFill>
              </a:rPr>
              <a:t>The goal is to reduce what low-income rural households spend on health.</a:t>
            </a:r>
          </a:p>
          <a:p>
            <a:pPr>
              <a:spcAft>
                <a:spcPts val="600"/>
              </a:spcAft>
            </a:pPr>
            <a:r>
              <a:rPr sz="1700" b="0" i="0">
                <a:solidFill>
                  <a:srgbClr val="212121"/>
                </a:solidFill>
              </a:rPr>
              <a:t>A pilot ran in several communities. You must assess whether it actually reduced spending.</a:t>
            </a:r>
          </a:p>
          <a:p>
            <a:pPr>
              <a:spcAft>
                <a:spcPts val="600"/>
              </a:spcAft>
            </a:pPr>
            <a:r>
              <a:rPr sz="1700" b="0" i="0">
                <a:solidFill>
                  <a:srgbClr val="212121"/>
                </a:solidFill>
              </a:rPr>
              <a:t>You have data from before the programme (round = 0) and one year after (round = 1),</a:t>
            </a:r>
          </a:p>
          <a:p>
            <a:pPr lvl="1">
              <a:spcAft>
                <a:spcPts val="600"/>
              </a:spcAft>
            </a:pPr>
            <a:r>
              <a:rPr sz="1500" b="0" i="0">
                <a:solidFill>
                  <a:srgbClr val="37474F"/>
                </a:solidFill>
              </a:rPr>
              <a:t>in a treatment community (treatcom = 1) and a control community (treatcom = 0).</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dataset</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00" b="0" i="0">
                <a:solidFill>
                  <a:srgbClr val="212121"/>
                </a:solidFill>
              </a:rPr>
              <a:t>550 rows of data in rows 2–551. One row per household per round.</a:t>
            </a:r>
          </a:p>
        </p:txBody>
      </p:sp>
      <p:graphicFrame>
        <p:nvGraphicFramePr>
          <p:cNvPr id="4" name="Table 3"/>
          <p:cNvGraphicFramePr>
            <a:graphicFrameLocks noGrp="1"/>
          </p:cNvGraphicFramePr>
          <p:nvPr/>
        </p:nvGraphicFramePr>
        <p:xfrm>
          <a:off x="310896" y="1700784"/>
          <a:ext cx="8522208" cy="2651759"/>
        </p:xfrm>
        <a:graphic>
          <a:graphicData uri="http://schemas.openxmlformats.org/drawingml/2006/table">
            <a:tbl>
              <a:tblPr firstRow="1" bandRow="1">
                <a:tableStyleId>{5C22544A-7EE6-4342-B048-85BDC9FD1C3A}</a:tableStyleId>
              </a:tblPr>
              <a:tblGrid>
                <a:gridCol w="548640"/>
                <a:gridCol w="1371600"/>
                <a:gridCol w="6601968"/>
              </a:tblGrid>
              <a:tr h="241069">
                <a:tc>
                  <a:txBody>
                    <a:bodyPr wrap="square"/>
                    <a:lstStyle/>
                    <a:p>
                      <a:pPr>
                        <a:spcAft>
                          <a:spcPts val="0"/>
                        </a:spcAft>
                      </a:pPr>
                      <a:r>
                        <a:rPr sz="1150" b="1">
                          <a:solidFill>
                            <a:srgbClr val="FFFFFF"/>
                          </a:solidFill>
                        </a:rPr>
                        <a:t>Col</a:t>
                      </a:r>
                    </a:p>
                  </a:txBody>
                  <a:tcPr marL="73152" marR="54864" marT="27432" marB="27432" anchor="ctr">
                    <a:solidFill>
                      <a:srgbClr val="455A64"/>
                    </a:solidFill>
                  </a:tcPr>
                </a:tc>
                <a:tc>
                  <a:txBody>
                    <a:bodyPr wrap="square"/>
                    <a:lstStyle/>
                    <a:p>
                      <a:pPr>
                        <a:spcAft>
                          <a:spcPts val="0"/>
                        </a:spcAft>
                      </a:pPr>
                      <a:r>
                        <a:rPr sz="11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is</a:t>
                      </a:r>
                    </a:p>
                  </a:txBody>
                  <a:tcPr marL="73152" marR="54864" marT="27432" marB="27432" anchor="ctr">
                    <a:solidFill>
                      <a:srgbClr val="455A64"/>
                    </a:solidFill>
                  </a:tcPr>
                </a:tc>
              </a:tr>
              <a:tr h="241069">
                <a:tc>
                  <a:txBody>
                    <a:bodyPr wrap="square"/>
                    <a:lstStyle/>
                    <a:p>
                      <a:pPr>
                        <a:spcAft>
                          <a:spcPts val="0"/>
                        </a:spcAft>
                      </a:pPr>
                      <a:r>
                        <a:rPr sz="1150">
                          <a:solidFill>
                            <a:srgbClr val="1C272B"/>
                          </a:solidFill>
                        </a:rPr>
                        <a:t>A</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hhid</a:t>
                      </a:r>
                    </a:p>
                  </a:txBody>
                  <a:tcPr marL="73152" marR="54864" marT="27432" marB="27432" anchor="ctr">
                    <a:solidFill>
                      <a:srgbClr val="FFFFFF"/>
                    </a:solidFill>
                  </a:tcPr>
                </a:tc>
                <a:tc>
                  <a:txBody>
                    <a:bodyPr wrap="square"/>
                    <a:lstStyle/>
                    <a:p>
                      <a:pPr>
                        <a:spcAft>
                          <a:spcPts val="0"/>
                        </a:spcAft>
                      </a:pPr>
                      <a:r>
                        <a:rPr sz="1150">
                          <a:solidFill>
                            <a:srgbClr val="1C272B"/>
                          </a:solidFill>
                        </a:rPr>
                        <a:t>Unique household ID, constant across rounds</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B</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round</a:t>
                      </a:r>
                    </a:p>
                  </a:txBody>
                  <a:tcPr marL="73152" marR="54864" marT="27432" marB="27432" anchor="ctr">
                    <a:solidFill>
                      <a:srgbClr val="F7F9FA"/>
                    </a:solidFill>
                  </a:tcPr>
                </a:tc>
                <a:tc>
                  <a:txBody>
                    <a:bodyPr wrap="square"/>
                    <a:lstStyle/>
                    <a:p>
                      <a:pPr>
                        <a:spcAft>
                          <a:spcPts val="0"/>
                        </a:spcAft>
                      </a:pPr>
                      <a:r>
                        <a:rPr sz="1150">
                          <a:solidFill>
                            <a:srgbClr val="1C272B"/>
                          </a:solidFill>
                        </a:rPr>
                        <a:t>0 = baseline, 1 = one year after</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C</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local</a:t>
                      </a:r>
                    </a:p>
                  </a:txBody>
                  <a:tcPr marL="73152" marR="54864" marT="27432" marB="27432" anchor="ctr">
                    <a:solidFill>
                      <a:srgbClr val="FFFFFF"/>
                    </a:solidFill>
                  </a:tcPr>
                </a:tc>
                <a:tc>
                  <a:txBody>
                    <a:bodyPr wrap="square"/>
                    <a:lstStyle/>
                    <a:p>
                      <a:pPr>
                        <a:spcAft>
                          <a:spcPts val="0"/>
                        </a:spcAft>
                      </a:pPr>
                      <a:r>
                        <a:rPr sz="1150">
                          <a:solidFill>
                            <a:srgbClr val="1C272B"/>
                          </a:solidFill>
                        </a:rPr>
                        <a:t>Community identifier</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D</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health expenditure — the outcome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E</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treatcom</a:t>
                      </a:r>
                    </a:p>
                  </a:txBody>
                  <a:tcPr marL="73152" marR="54864" marT="27432" marB="27432" anchor="ctr">
                    <a:solidFill>
                      <a:srgbClr val="FFFFFF"/>
                    </a:solidFill>
                  </a:tcPr>
                </a:tc>
                <a:tc>
                  <a:txBody>
                    <a:bodyPr wrap="square"/>
                    <a:lstStyle/>
                    <a:p>
                      <a:pPr>
                        <a:spcAft>
                          <a:spcPts val="0"/>
                        </a:spcAft>
                      </a:pPr>
                      <a:r>
                        <a:rPr sz="1150">
                          <a:solidFill>
                            <a:srgbClr val="1C272B"/>
                          </a:solidFill>
                        </a:rPr>
                        <a:t>1 = treatment community, 0 = control</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F</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agehh</a:t>
                      </a:r>
                    </a:p>
                  </a:txBody>
                  <a:tcPr marL="73152" marR="54864" marT="27432" marB="27432" anchor="ctr">
                    <a:solidFill>
                      <a:srgbClr val="F7F9FA"/>
                    </a:solidFill>
                  </a:tcPr>
                </a:tc>
                <a:tc>
                  <a:txBody>
                    <a:bodyPr wrap="square"/>
                    <a:lstStyle/>
                    <a:p>
                      <a:pPr>
                        <a:spcAft>
                          <a:spcPts val="0"/>
                        </a:spcAft>
                      </a:pPr>
                      <a:r>
                        <a:rPr sz="1150">
                          <a:solidFill>
                            <a:srgbClr val="1C272B"/>
                          </a:solidFill>
                        </a:rPr>
                        <a:t>Age of the household head</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G</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educhh</a:t>
                      </a:r>
                    </a:p>
                  </a:txBody>
                  <a:tcPr marL="73152" marR="54864" marT="27432" marB="27432" anchor="ctr">
                    <a:solidFill>
                      <a:srgbClr val="FFFFFF"/>
                    </a:solidFill>
                  </a:tcPr>
                </a:tc>
                <a:tc>
                  <a:txBody>
                    <a:bodyPr wrap="square"/>
                    <a:lstStyle/>
                    <a:p>
                      <a:pPr>
                        <a:spcAft>
                          <a:spcPts val="0"/>
                        </a:spcAft>
                      </a:pPr>
                      <a:r>
                        <a:rPr sz="1150">
                          <a:solidFill>
                            <a:srgbClr val="1C272B"/>
                          </a:solidFill>
                        </a:rPr>
                        <a:t>Years of education of the household head</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H</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hhsize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size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I</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pscore</a:t>
                      </a:r>
                    </a:p>
                  </a:txBody>
                  <a:tcPr marL="73152" marR="54864" marT="27432" marB="27432" anchor="ctr">
                    <a:solidFill>
                      <a:srgbClr val="FFFFFF"/>
                    </a:solidFill>
                  </a:tcPr>
                </a:tc>
                <a:tc>
                  <a:txBody>
                    <a:bodyPr wrap="square"/>
                    <a:lstStyle/>
                    <a:p>
                      <a:pPr>
                        <a:spcAft>
                          <a:spcPts val="0"/>
                        </a:spcAft>
                      </a:pPr>
                      <a:r>
                        <a:rPr sz="1150">
                          <a:solidFill>
                            <a:srgbClr val="1C272B"/>
                          </a:solidFill>
                        </a:rPr>
                        <a:t>Household poverty index</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J</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takeup</a:t>
                      </a:r>
                    </a:p>
                  </a:txBody>
                  <a:tcPr marL="73152" marR="54864" marT="27432" marB="27432" anchor="ctr">
                    <a:solidFill>
                      <a:srgbClr val="F7F9FA"/>
                    </a:solidFill>
                  </a:tcPr>
                </a:tc>
                <a:tc>
                  <a:txBody>
                    <a:bodyPr wrap="square"/>
                    <a:lstStyle/>
                    <a:p>
                      <a:pPr>
                        <a:spcAft>
                          <a:spcPts val="0"/>
                        </a:spcAft>
                      </a:pPr>
                      <a:r>
                        <a:rPr sz="1150">
                          <a:solidFill>
                            <a:srgbClr val="1C272B"/>
                          </a:solidFill>
                        </a:rPr>
                        <a:t>1 = household participated in the programme</a:t>
                      </a:r>
                    </a:p>
                  </a:txBody>
                  <a:tcPr marL="73152" marR="54864" marT="27432" marB="27432" anchor="ctr">
                    <a:solidFill>
                      <a:srgbClr val="F7F9FA"/>
                    </a:solidFill>
                  </a:tcPr>
                </a:tc>
              </a:tr>
            </a:tbl>
          </a:graphicData>
        </a:graphic>
      </p:graphicFrame>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6" name="Rectangle 5"/>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One row is a household-round, not a household</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Each household appears twice. This one fact decides several answers later.</a:t>
            </a:r>
          </a:p>
        </p:txBody>
      </p:sp>
      <p:sp>
        <p:nvSpPr>
          <p:cNvPr id="4" name="Rectangle 3"/>
          <p:cNvSpPr/>
          <p:nvPr/>
        </p:nvSpPr>
        <p:spPr>
          <a:xfrm>
            <a:off x="310896" y="17190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93395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214883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36372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57860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Rectangle 28"/>
          <p:cNvSpPr/>
          <p:nvPr/>
        </p:nvSpPr>
        <p:spPr>
          <a:xfrm>
            <a:off x="310896" y="2793491"/>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30" name="Rectangle 29"/>
          <p:cNvSpPr/>
          <p:nvPr/>
        </p:nvSpPr>
        <p:spPr>
          <a:xfrm>
            <a:off x="621792"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31" name="Rectangle 30"/>
          <p:cNvSpPr/>
          <p:nvPr/>
        </p:nvSpPr>
        <p:spPr>
          <a:xfrm>
            <a:off x="144475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32" name="Rectangle 31"/>
          <p:cNvSpPr/>
          <p:nvPr/>
        </p:nvSpPr>
        <p:spPr>
          <a:xfrm>
            <a:off x="217627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33" name="Rectangle 32"/>
          <p:cNvSpPr/>
          <p:nvPr/>
        </p:nvSpPr>
        <p:spPr>
          <a:xfrm>
            <a:off x="2907791"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40.69</a:t>
            </a:r>
          </a:p>
        </p:txBody>
      </p:sp>
      <p:sp>
        <p:nvSpPr>
          <p:cNvPr id="34" name="TextBox 33"/>
          <p:cNvSpPr txBox="1"/>
          <p:nvPr/>
        </p:nvSpPr>
        <p:spPr>
          <a:xfrm>
            <a:off x="4206240" y="1719072"/>
            <a:ext cx="46268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this twice</a:t>
            </a:r>
          </a:p>
          <a:p>
            <a:pPr>
              <a:spcAft>
                <a:spcPts val="0"/>
              </a:spcAft>
            </a:pPr>
            <a:r>
              <a:rPr sz="1400" b="0" i="0">
                <a:solidFill>
                  <a:srgbClr val="212121"/>
                </a:solidFill>
              </a:rPr>
              <a:t>Rows 2 and 3 are the same household, 15681, in two different years. So the number of rows and the number of households are different numbers, and which one you want depends on the question being asked.</a:t>
            </a:r>
          </a:p>
        </p:txBody>
      </p:sp>
      <p:sp>
        <p:nvSpPr>
          <p:cNvPr id="35" name="Rectangle 34"/>
          <p:cNvSpPr/>
          <p:nvPr/>
        </p:nvSpPr>
        <p:spPr>
          <a:xfrm>
            <a:off x="4206240" y="171907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0896" y="329184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Whenever a question says “how many households”, restrict to one round first.</a:t>
            </a:r>
          </a:p>
        </p:txBody>
      </p:sp>
      <p:sp>
        <p:nvSpPr>
          <p:cNvPr id="37" name="Rectangle 36"/>
          <p:cNvSpPr/>
          <p:nvPr/>
        </p:nvSpPr>
        <p:spPr>
          <a:xfrm>
            <a:off x="310896" y="329184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39" name="Rectangle 3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1</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Summary statistics, and counting what the question actually asks for.</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3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1</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has two halves: six counts, then a table of statistics.</a:t>
            </a:r>
          </a:p>
        </p:txBody>
      </p:sp>
      <p:graphicFrame>
        <p:nvGraphicFramePr>
          <p:cNvPr id="6" name="Table 5"/>
          <p:cNvGraphicFramePr>
            <a:graphicFrameLocks noGrp="1"/>
          </p:cNvGraphicFramePr>
          <p:nvPr/>
        </p:nvGraphicFramePr>
        <p:xfrm>
          <a:off x="310896" y="1755648"/>
          <a:ext cx="8522208" cy="2148839"/>
        </p:xfrm>
        <a:graphic>
          <a:graphicData uri="http://schemas.openxmlformats.org/drawingml/2006/table">
            <a:tbl>
              <a:tblPr firstRow="1" bandRow="1">
                <a:tableStyleId>{5C22544A-7EE6-4342-B048-85BDC9FD1C3A}</a:tableStyleId>
              </a:tblPr>
              <a:tblGrid>
                <a:gridCol w="731520"/>
                <a:gridCol w="7790688"/>
              </a:tblGrid>
              <a:tr h="306977">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06977">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observations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dataset?</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localities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How many localities in treatment? How many in control?</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(e)</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are in the treatment locality?</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(f)</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control locality?</a:t>
                      </a:r>
                    </a:p>
                  </a:txBody>
                  <a:tcPr marL="73152" marR="54864" marT="27432" marB="27432" anchor="ctr">
                    <a:solidFill>
                      <a:srgbClr val="F7F9FA"/>
                    </a:solidFill>
                  </a:tcPr>
                </a:tc>
              </a:tr>
            </a:tbl>
          </a:graphicData>
        </a:graphic>
      </p:graphicFrame>
      <p:sp>
        <p:nvSpPr>
          <p:cNvPr id="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8" name="Rectangle 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Q1(a)  How many observations?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An observation is a row of data. So: how many rows?</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on cell A1</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Press Shift + Ctrl/Cmd + Down arrow to jump to the bottom</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Excel shows the last row is 551</a:t>
            </a:r>
          </a:p>
        </p:txBody>
      </p:sp>
      <p:sp>
        <p:nvSpPr>
          <p:cNvPr id="12" name="TextBox 11"/>
          <p:cNvSpPr txBox="1"/>
          <p:nvPr/>
        </p:nvSpPr>
        <p:spPr>
          <a:xfrm>
            <a:off x="640080" y="2579369"/>
            <a:ext cx="4517136" cy="225298"/>
          </a:xfrm>
          <a:prstGeom prst="rect">
            <a:avLst/>
          </a:prstGeom>
          <a:noFill/>
        </p:spPr>
        <p:txBody>
          <a:bodyPr wrap="square" lIns="0" tIns="0" bIns="0">
            <a:spAutoFit/>
          </a:bodyPr>
          <a:lstStyle/>
          <a:p>
            <a:pPr>
              <a:spcAft>
                <a:spcPts val="0"/>
              </a:spcAft>
              <a:buNone/>
            </a:pPr>
            <a:r>
              <a:rPr sz="1100" b="0" i="1">
                <a:solidFill>
                  <a:srgbClr val="37474F"/>
                </a:solidFill>
              </a:rPr>
              <a:t>or read the row number in the bottom-left corner</a:t>
            </a:r>
          </a:p>
        </p:txBody>
      </p:sp>
      <p:sp>
        <p:nvSpPr>
          <p:cNvPr id="13" name="Rectangle 12"/>
          <p:cNvSpPr/>
          <p:nvPr/>
        </p:nvSpPr>
        <p:spPr>
          <a:xfrm>
            <a:off x="539496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4" name="Rectangle 13"/>
          <p:cNvSpPr/>
          <p:nvPr/>
        </p:nvSpPr>
        <p:spPr>
          <a:xfrm>
            <a:off x="5705856"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5" name="Rectangle 14"/>
          <p:cNvSpPr/>
          <p:nvPr/>
        </p:nvSpPr>
        <p:spPr>
          <a:xfrm>
            <a:off x="662025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6" name="Rectangle 15"/>
          <p:cNvSpPr/>
          <p:nvPr/>
        </p:nvSpPr>
        <p:spPr>
          <a:xfrm>
            <a:off x="539496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7" name="Rectangle 16"/>
          <p:cNvSpPr/>
          <p:nvPr/>
        </p:nvSpPr>
        <p:spPr>
          <a:xfrm>
            <a:off x="5705856"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8" name="Rectangle 17"/>
          <p:cNvSpPr/>
          <p:nvPr/>
        </p:nvSpPr>
        <p:spPr>
          <a:xfrm>
            <a:off x="662025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9" name="Rectangle 18"/>
          <p:cNvSpPr/>
          <p:nvPr/>
        </p:nvSpPr>
        <p:spPr>
          <a:xfrm>
            <a:off x="539496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20" name="Rectangle 19"/>
          <p:cNvSpPr/>
          <p:nvPr/>
        </p:nvSpPr>
        <p:spPr>
          <a:xfrm>
            <a:off x="5705856"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1" name="Rectangle 20"/>
          <p:cNvSpPr/>
          <p:nvPr/>
        </p:nvSpPr>
        <p:spPr>
          <a:xfrm>
            <a:off x="662025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2" name="Rectangle 21"/>
          <p:cNvSpPr/>
          <p:nvPr/>
        </p:nvSpPr>
        <p:spPr>
          <a:xfrm>
            <a:off x="539496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551</a:t>
            </a:r>
          </a:p>
        </p:txBody>
      </p:sp>
      <p:sp>
        <p:nvSpPr>
          <p:cNvPr id="23" name="Rectangle 22"/>
          <p:cNvSpPr/>
          <p:nvPr/>
        </p:nvSpPr>
        <p:spPr>
          <a:xfrm>
            <a:off x="5705856"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5128</a:t>
            </a:r>
          </a:p>
        </p:txBody>
      </p:sp>
      <p:sp>
        <p:nvSpPr>
          <p:cNvPr id="24" name="Rectangle 23"/>
          <p:cNvSpPr/>
          <p:nvPr/>
        </p:nvSpPr>
        <p:spPr>
          <a:xfrm>
            <a:off x="662025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310896" y="33467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3467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550 observations. There are 551 rows, but row 1 holds the variable names.</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Q1(b)  How many households?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Not the same as the number of rows — each household appears twice.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91455" cy="256285"/>
          </a:xfrm>
          <a:prstGeom prst="rect">
            <a:avLst/>
          </a:prstGeom>
          <a:noFill/>
        </p:spPr>
        <p:txBody>
          <a:bodyPr wrap="square" lIns="0" tIns="0" bIns="0">
            <a:spAutoFit/>
          </a:bodyPr>
          <a:lstStyle/>
          <a:p>
            <a:pPr>
              <a:spcAft>
                <a:spcPts val="0"/>
              </a:spcAft>
              <a:buNone/>
            </a:pPr>
            <a:r>
              <a:rPr sz="1300" b="0" i="0">
                <a:solidFill>
                  <a:srgbClr val="212121"/>
                </a:solidFill>
              </a:rPr>
              <a:t>Every household has one row at baseline and one a year later</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791455" cy="256285"/>
          </a:xfrm>
          <a:prstGeom prst="rect">
            <a:avLst/>
          </a:prstGeom>
          <a:noFill/>
        </p:spPr>
        <p:txBody>
          <a:bodyPr wrap="square" lIns="0" tIns="0" bIns="0">
            <a:spAutoFit/>
          </a:bodyPr>
          <a:lstStyle/>
          <a:p>
            <a:pPr>
              <a:spcAft>
                <a:spcPts val="0"/>
              </a:spcAft>
              <a:buNone/>
            </a:pPr>
            <a:r>
              <a:rPr sz="1300" b="0" i="0">
                <a:solidFill>
                  <a:srgbClr val="212121"/>
                </a:solidFill>
              </a:rPr>
              <a:t>So the households are the rows divided by two</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791455" cy="256285"/>
          </a:xfrm>
          <a:prstGeom prst="rect">
            <a:avLst/>
          </a:prstGeom>
          <a:noFill/>
        </p:spPr>
        <p:txBody>
          <a:bodyPr wrap="square" lIns="0" tIns="0" bIns="0">
            <a:spAutoFit/>
          </a:bodyPr>
          <a:lstStyle/>
          <a:p>
            <a:pPr>
              <a:spcAft>
                <a:spcPts val="0"/>
              </a:spcAft>
              <a:buNone/>
            </a:pPr>
            <a:r>
              <a:rPr sz="1300" b="0" i="0">
                <a:solidFill>
                  <a:srgbClr val="212121"/>
                </a:solidFill>
              </a:rPr>
              <a:t>550 ÷ 2 = 275</a:t>
            </a:r>
          </a:p>
        </p:txBody>
      </p:sp>
      <p:sp>
        <p:nvSpPr>
          <p:cNvPr id="12" name="TextBox 11"/>
          <p:cNvSpPr txBox="1"/>
          <p:nvPr/>
        </p:nvSpPr>
        <p:spPr>
          <a:xfrm>
            <a:off x="640080" y="2579369"/>
            <a:ext cx="4791455" cy="225298"/>
          </a:xfrm>
          <a:prstGeom prst="rect">
            <a:avLst/>
          </a:prstGeom>
          <a:noFill/>
        </p:spPr>
        <p:txBody>
          <a:bodyPr wrap="square" lIns="0" tIns="0" bIns="0">
            <a:spAutoFit/>
          </a:bodyPr>
          <a:lstStyle/>
          <a:p>
            <a:pPr>
              <a:spcAft>
                <a:spcPts val="0"/>
              </a:spcAft>
              <a:buNone/>
            </a:pPr>
            <a:r>
              <a:rPr sz="1100" b="0" i="1">
                <a:solidFill>
                  <a:srgbClr val="37474F"/>
                </a:solidFill>
              </a:rPr>
              <a:t>you can confirm it with =SUMPRODUCT(1/COUNTIF(A2:A551,A2:A551))</a:t>
            </a:r>
          </a:p>
        </p:txBody>
      </p:sp>
      <p:sp>
        <p:nvSpPr>
          <p:cNvPr id="13" name="Rectangle 12"/>
          <p:cNvSpPr/>
          <p:nvPr/>
        </p:nvSpPr>
        <p:spPr>
          <a:xfrm>
            <a:off x="310896" y="2999232"/>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4" name="Rectangle 13"/>
          <p:cNvSpPr/>
          <p:nvPr/>
        </p:nvSpPr>
        <p:spPr>
          <a:xfrm>
            <a:off x="1097280" y="2999232"/>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=SUMPRODUCT(1/COUNTIF(A2:A551,A2:A551))</a:t>
            </a:r>
          </a:p>
        </p:txBody>
      </p:sp>
      <p:sp>
        <p:nvSpPr>
          <p:cNvPr id="15" name="Rectangle 14"/>
          <p:cNvSpPr/>
          <p:nvPr/>
        </p:nvSpPr>
        <p:spPr>
          <a:xfrm>
            <a:off x="310896" y="347472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47472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275 households, each observed twice.</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Q1(c)  How many localities?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450" b="0" i="0">
                <a:solidFill>
                  <a:srgbClr val="212121"/>
                </a:solidFill>
              </a:rPr>
              <a:t>The variable local is the community identifier. How many distinct values does it take?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the filter arrow on column C (local)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The dropdown lists every distinct value in the column</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Two values appear: 34 and 99</a:t>
            </a:r>
          </a:p>
        </p:txBody>
      </p:sp>
      <p:sp>
        <p:nvSpPr>
          <p:cNvPr id="12" name="Rectangle 11"/>
          <p:cNvSpPr/>
          <p:nvPr/>
        </p:nvSpPr>
        <p:spPr>
          <a:xfrm>
            <a:off x="57607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13" name="Rectangle 12"/>
          <p:cNvSpPr/>
          <p:nvPr/>
        </p:nvSpPr>
        <p:spPr>
          <a:xfrm>
            <a:off x="6071616" y="1773936"/>
            <a:ext cx="13716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4" name="Rectangle 13"/>
          <p:cNvSpPr/>
          <p:nvPr/>
        </p:nvSpPr>
        <p:spPr>
          <a:xfrm>
            <a:off x="57607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6071616" y="1988819"/>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6" name="Rectangle 15"/>
          <p:cNvSpPr/>
          <p:nvPr/>
        </p:nvSpPr>
        <p:spPr>
          <a:xfrm>
            <a:off x="57607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7" name="Rectangle 16"/>
          <p:cNvSpPr/>
          <p:nvPr/>
        </p:nvSpPr>
        <p:spPr>
          <a:xfrm>
            <a:off x="6071616" y="2203704"/>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57607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9" name="Rectangle 18"/>
          <p:cNvSpPr/>
          <p:nvPr/>
        </p:nvSpPr>
        <p:spPr>
          <a:xfrm>
            <a:off x="6071616" y="2418588"/>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99</a:t>
            </a:r>
          </a:p>
        </p:txBody>
      </p:sp>
      <p:sp>
        <p:nvSpPr>
          <p:cNvPr id="20" name="Rectangle 19"/>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1" name="Rectangle 20"/>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 localities: 34 and 99.</a:t>
            </a:r>
          </a:p>
        </p:txBody>
      </p:sp>
      <p:sp>
        <p:nvSpPr>
          <p:cNvPr id="2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3" name="Rectangle 2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Q1(d)  Which locality is treatment?</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Cross-tabulate local against treatcom to see how they line up.</a:t>
            </a:r>
          </a:p>
        </p:txBody>
      </p:sp>
      <p:graphicFrame>
        <p:nvGraphicFramePr>
          <p:cNvPr id="6" name="Table 5"/>
          <p:cNvGraphicFramePr>
            <a:graphicFrameLocks noGrp="1"/>
          </p:cNvGraphicFramePr>
          <p:nvPr/>
        </p:nvGraphicFramePr>
        <p:xfrm>
          <a:off x="310896" y="1755648"/>
          <a:ext cx="4206240" cy="914400"/>
        </p:xfrm>
        <a:graphic>
          <a:graphicData uri="http://schemas.openxmlformats.org/drawingml/2006/table">
            <a:tbl>
              <a:tblPr firstRow="1" bandRow="1">
                <a:tableStyleId>{5C22544A-7EE6-4342-B048-85BDC9FD1C3A}</a:tableStyleId>
              </a:tblPr>
              <a:tblGrid>
                <a:gridCol w="1188720"/>
                <a:gridCol w="1508760"/>
                <a:gridCol w="1508760"/>
              </a:tblGrid>
              <a:tr h="304800">
                <a:tc>
                  <a:txBody>
                    <a:bodyPr wrap="square"/>
                    <a:lstStyle/>
                    <a:p>
                      <a:pPr>
                        <a:spcAft>
                          <a:spcPts val="0"/>
                        </a:spcAft>
                      </a:pPr>
                      <a:r>
                        <a:rPr sz="1200" b="1">
                          <a:solidFill>
                            <a:srgbClr val="FFFFFF"/>
                          </a:solidFill>
                        </a:rPr>
                        <a:t>local</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0</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1</a:t>
                      </a:r>
                    </a:p>
                  </a:txBody>
                  <a:tcPr marL="73152" marR="54864" marT="27432" marB="27432" anchor="ctr">
                    <a:solidFill>
                      <a:srgbClr val="455A64"/>
                    </a:solidFill>
                  </a:tcPr>
                </a:tc>
              </a:tr>
              <a:tr h="304800">
                <a:tc>
                  <a:txBody>
                    <a:bodyPr wrap="square"/>
                    <a:lstStyle/>
                    <a:p>
                      <a:pPr>
                        <a:spcAft>
                          <a:spcPts val="0"/>
                        </a:spcAft>
                      </a:pPr>
                      <a:r>
                        <a:rPr sz="1250">
                          <a:solidFill>
                            <a:srgbClr val="1C272B"/>
                          </a:solidFill>
                        </a:rPr>
                        <a:t>34</a:t>
                      </a:r>
                    </a:p>
                  </a:txBody>
                  <a:tcPr marL="73152" marR="54864" marT="27432" marB="27432" anchor="ctr">
                    <a:solidFill>
                      <a:srgbClr val="FFFFFF"/>
                    </a:solidFill>
                  </a:tcPr>
                </a:tc>
                <a:tc>
                  <a:txBody>
                    <a:bodyPr wrap="square"/>
                    <a:lstStyle/>
                    <a:p>
                      <a:pPr>
                        <a:spcAft>
                          <a:spcPts val="0"/>
                        </a:spcAft>
                      </a:pPr>
                      <a:r>
                        <a:rPr sz="1250">
                          <a:solidFill>
                            <a:srgbClr val="1C272B"/>
                          </a:solidFill>
                        </a:rPr>
                        <a:t>0</a:t>
                      </a:r>
                    </a:p>
                  </a:txBody>
                  <a:tcPr marL="73152" marR="54864" marT="27432" marB="27432" anchor="ctr">
                    <a:solidFill>
                      <a:srgbClr val="FFFFFF"/>
                    </a:solidFill>
                  </a:tcPr>
                </a:tc>
                <a:tc>
                  <a:txBody>
                    <a:bodyPr wrap="square"/>
                    <a:lstStyle/>
                    <a:p>
                      <a:pPr>
                        <a:spcAft>
                          <a:spcPts val="0"/>
                        </a:spcAft>
                      </a:pPr>
                      <a:r>
                        <a:rPr sz="1250">
                          <a:solidFill>
                            <a:srgbClr val="1C272B"/>
                          </a:solidFill>
                        </a:rPr>
                        <a:t>262</a:t>
                      </a:r>
                    </a:p>
                  </a:txBody>
                  <a:tcPr marL="73152" marR="54864" marT="27432" marB="27432" anchor="ctr">
                    <a:solidFill>
                      <a:srgbClr val="FFFFFF"/>
                    </a:solidFill>
                  </a:tcPr>
                </a:tc>
              </a:tr>
              <a:tr h="304800">
                <a:tc>
                  <a:txBody>
                    <a:bodyPr wrap="square"/>
                    <a:lstStyle/>
                    <a:p>
                      <a:pPr>
                        <a:spcAft>
                          <a:spcPts val="0"/>
                        </a:spcAft>
                      </a:pPr>
                      <a:r>
                        <a:rPr sz="1250">
                          <a:solidFill>
                            <a:srgbClr val="1C272B"/>
                          </a:solidFill>
                        </a:rPr>
                        <a:t>99</a:t>
                      </a:r>
                    </a:p>
                  </a:txBody>
                  <a:tcPr marL="73152" marR="54864" marT="27432" marB="27432" anchor="ctr">
                    <a:solidFill>
                      <a:srgbClr val="F7F9FA"/>
                    </a:solidFill>
                  </a:tcPr>
                </a:tc>
                <a:tc>
                  <a:txBody>
                    <a:bodyPr wrap="square"/>
                    <a:lstStyle/>
                    <a:p>
                      <a:pPr>
                        <a:spcAft>
                          <a:spcPts val="0"/>
                        </a:spcAft>
                      </a:pPr>
                      <a:r>
                        <a:rPr sz="1250">
                          <a:solidFill>
                            <a:srgbClr val="1C272B"/>
                          </a:solidFill>
                        </a:rPr>
                        <a:t>288</a:t>
                      </a:r>
                    </a:p>
                  </a:txBody>
                  <a:tcPr marL="73152" marR="54864" marT="27432" marB="27432" anchor="ctr">
                    <a:solidFill>
                      <a:srgbClr val="F7F9FA"/>
                    </a:solidFill>
                  </a:tcPr>
                </a:tc>
                <a:tc>
                  <a:txBody>
                    <a:bodyPr wrap="square"/>
                    <a:lstStyle/>
                    <a:p>
                      <a:pPr>
                        <a:spcAft>
                          <a:spcPts val="0"/>
                        </a:spcAft>
                      </a:pPr>
                      <a:r>
                        <a:rPr sz="1250">
                          <a:solidFill>
                            <a:srgbClr val="1C272B"/>
                          </a:solidFill>
                        </a:rPr>
                        <a:t>0</a:t>
                      </a:r>
                    </a:p>
                  </a:txBody>
                  <a:tcPr marL="73152" marR="54864" marT="27432" marB="27432" anchor="ctr">
                    <a:solidFill>
                      <a:srgbClr val="F7F9FA"/>
                    </a:solidFill>
                  </a:tcPr>
                </a:tc>
              </a:tr>
            </a:tbl>
          </a:graphicData>
        </a:graphic>
      </p:graphicFrame>
      <p:sp>
        <p:nvSpPr>
          <p:cNvPr id="7" name="TextBox 6"/>
          <p:cNvSpPr txBox="1"/>
          <p:nvPr/>
        </p:nvSpPr>
        <p:spPr>
          <a:xfrm>
            <a:off x="4754880" y="1755648"/>
            <a:ext cx="4078224" cy="914400"/>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Locality 34 is entirely treatment; locality 99 is entirely control. No locality is split, so treatment was assigned to the whole community.</a:t>
            </a:r>
          </a:p>
        </p:txBody>
      </p:sp>
      <p:sp>
        <p:nvSpPr>
          <p:cNvPr id="8" name="Rectangle 7"/>
          <p:cNvSpPr/>
          <p:nvPr/>
        </p:nvSpPr>
        <p:spPr>
          <a:xfrm>
            <a:off x="4754880" y="1755648"/>
            <a:ext cx="50292" cy="91440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0896" y="29260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260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One locality in treatment (local = 34) and one in control (local = 99).</a:t>
            </a:r>
          </a:p>
        </p:txBody>
      </p:sp>
      <p:sp>
        <p:nvSpPr>
          <p:cNvPr id="11" name="TextBox 10"/>
          <p:cNvSpPr txBox="1"/>
          <p:nvPr/>
        </p:nvSpPr>
        <p:spPr>
          <a:xfrm>
            <a:off x="310896" y="347472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Worth remembering</a:t>
            </a:r>
          </a:p>
          <a:p>
            <a:pPr>
              <a:spcAft>
                <a:spcPts val="0"/>
              </a:spcAft>
            </a:pPr>
            <a:r>
              <a:rPr sz="1400" b="0" i="0">
                <a:solidFill>
                  <a:srgbClr val="212121"/>
                </a:solidFill>
              </a:rPr>
              <a:t>Because locality and treatment are the same split here, never use local as a “neutral” grouping variable — grouping by it is grouping by treatment.</a:t>
            </a:r>
          </a:p>
        </p:txBody>
      </p:sp>
      <p:sp>
        <p:nvSpPr>
          <p:cNvPr id="12" name="Rectangle 11"/>
          <p:cNvSpPr/>
          <p:nvPr/>
        </p:nvSpPr>
        <p:spPr>
          <a:xfrm>
            <a:off x="310896" y="347472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Q1(e)–(f)  Households per locality</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says households, so restrict to one round before you count.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Data → Filter, then filter round to 0 only</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457708"/>
          </a:xfrm>
          <a:prstGeom prst="rect">
            <a:avLst/>
          </a:prstGeom>
          <a:noFill/>
        </p:spPr>
        <p:txBody>
          <a:bodyPr wrap="square" lIns="0" tIns="0" bIns="0">
            <a:spAutoFit/>
          </a:bodyPr>
          <a:lstStyle/>
          <a:p>
            <a:pPr>
              <a:spcAft>
                <a:spcPts val="0"/>
              </a:spcAft>
              <a:buNone/>
            </a:pPr>
            <a:r>
              <a:rPr sz="1300" b="0" i="0">
                <a:solidFill>
                  <a:srgbClr val="212121"/>
                </a:solidFill>
              </a:rPr>
              <a:t>Filter treatcom to 1 — the status bar shows the count of visible rows</a:t>
            </a:r>
          </a:p>
        </p:txBody>
      </p:sp>
      <p:sp>
        <p:nvSpPr>
          <p:cNvPr id="10" name="Oval 9"/>
          <p:cNvSpPr/>
          <p:nvPr/>
        </p:nvSpPr>
        <p:spPr>
          <a:xfrm>
            <a:off x="310896" y="252450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92502"/>
            <a:ext cx="4517136" cy="256285"/>
          </a:xfrm>
          <a:prstGeom prst="rect">
            <a:avLst/>
          </a:prstGeom>
          <a:noFill/>
        </p:spPr>
        <p:txBody>
          <a:bodyPr wrap="square" lIns="0" tIns="0" bIns="0">
            <a:spAutoFit/>
          </a:bodyPr>
          <a:lstStyle/>
          <a:p>
            <a:pPr>
              <a:spcAft>
                <a:spcPts val="0"/>
              </a:spcAft>
              <a:buNone/>
            </a:pPr>
            <a:r>
              <a:rPr sz="1300" b="0" i="0">
                <a:solidFill>
                  <a:srgbClr val="212121"/>
                </a:solidFill>
              </a:rPr>
              <a:t>Repeat with treatcom filtered to 0</a:t>
            </a:r>
          </a:p>
        </p:txBody>
      </p:sp>
      <p:sp>
        <p:nvSpPr>
          <p:cNvPr id="12" name="Rectangle 11"/>
          <p:cNvSpPr/>
          <p:nvPr/>
        </p:nvSpPr>
        <p:spPr>
          <a:xfrm>
            <a:off x="310896" y="28895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M4</a:t>
            </a:r>
          </a:p>
        </p:txBody>
      </p:sp>
      <p:sp>
        <p:nvSpPr>
          <p:cNvPr id="13" name="Rectangle 12"/>
          <p:cNvSpPr/>
          <p:nvPr/>
        </p:nvSpPr>
        <p:spPr>
          <a:xfrm>
            <a:off x="1097280" y="28895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a:t>
            </a:r>
          </a:p>
        </p:txBody>
      </p:sp>
      <p:graphicFrame>
        <p:nvGraphicFramePr>
          <p:cNvPr id="14" name="Table 13"/>
          <p:cNvGraphicFramePr>
            <a:graphicFrameLocks noGrp="1"/>
          </p:cNvGraphicFramePr>
          <p:nvPr/>
        </p:nvGraphicFramePr>
        <p:xfrm>
          <a:off x="5120640" y="1737360"/>
          <a:ext cx="3712464" cy="914400"/>
        </p:xfrm>
        <a:graphic>
          <a:graphicData uri="http://schemas.openxmlformats.org/drawingml/2006/table">
            <a:tbl>
              <a:tblPr firstRow="1" bandRow="1">
                <a:tableStyleId>{5C22544A-7EE6-4342-B048-85BDC9FD1C3A}</a:tableStyleId>
              </a:tblPr>
              <a:tblGrid>
                <a:gridCol w="1700784"/>
                <a:gridCol w="1005840"/>
                <a:gridCol w="1005840"/>
              </a:tblGrid>
              <a:tr h="30480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100" b="1">
                          <a:solidFill>
                            <a:srgbClr val="FFFFFF"/>
                          </a:solidFill>
                        </a:rPr>
                        <a:t>Observations</a:t>
                      </a:r>
                    </a:p>
                  </a:txBody>
                  <a:tcPr marL="73152" marR="54864" marT="27432" marB="27432" anchor="ctr">
                    <a:solidFill>
                      <a:srgbClr val="455A64"/>
                    </a:solidFill>
                  </a:tcPr>
                </a:tc>
                <a:tc>
                  <a:txBody>
                    <a:bodyPr wrap="square"/>
                    <a:lstStyle/>
                    <a:p>
                      <a:pPr>
                        <a:spcAft>
                          <a:spcPts val="0"/>
                        </a:spcAft>
                      </a:pPr>
                      <a:r>
                        <a:rPr sz="1100" b="1">
                          <a:solidFill>
                            <a:srgbClr val="FFFFFF"/>
                          </a:solidFill>
                        </a:rPr>
                        <a:t>Households</a:t>
                      </a:r>
                    </a:p>
                  </a:txBody>
                  <a:tcPr marL="73152" marR="54864" marT="27432" marB="27432" anchor="ctr">
                    <a:solidFill>
                      <a:srgbClr val="455A64"/>
                    </a:solidFill>
                  </a:tcPr>
                </a:tc>
              </a:tr>
              <a:tr h="304800">
                <a:tc>
                  <a:txBody>
                    <a:bodyPr wrap="square"/>
                    <a:lstStyle/>
                    <a:p>
                      <a:pPr>
                        <a:spcAft>
                          <a:spcPts val="0"/>
                        </a:spcAft>
                      </a:pPr>
                      <a:r>
                        <a:rPr sz="1100">
                          <a:solidFill>
                            <a:srgbClr val="1C272B"/>
                          </a:solidFill>
                        </a:rPr>
                        <a:t>Treatment (local 34)</a:t>
                      </a:r>
                    </a:p>
                  </a:txBody>
                  <a:tcPr marL="73152" marR="54864" marT="27432" marB="27432" anchor="ctr">
                    <a:solidFill>
                      <a:srgbClr val="FFFFFF"/>
                    </a:solidFill>
                  </a:tcPr>
                </a:tc>
                <a:tc>
                  <a:txBody>
                    <a:bodyPr wrap="square"/>
                    <a:lstStyle/>
                    <a:p>
                      <a:pPr>
                        <a:spcAft>
                          <a:spcPts val="0"/>
                        </a:spcAft>
                      </a:pPr>
                      <a:r>
                        <a:rPr sz="1100">
                          <a:solidFill>
                            <a:srgbClr val="1C272B"/>
                          </a:solidFill>
                        </a:rPr>
                        <a:t>262</a:t>
                      </a:r>
                    </a:p>
                  </a:txBody>
                  <a:tcPr marL="73152" marR="54864" marT="27432" marB="27432" anchor="ctr">
                    <a:solidFill>
                      <a:srgbClr val="FFFFFF"/>
                    </a:solidFill>
                  </a:tcPr>
                </a:tc>
                <a:tc>
                  <a:txBody>
                    <a:bodyPr wrap="square"/>
                    <a:lstStyle/>
                    <a:p>
                      <a:pPr>
                        <a:spcAft>
                          <a:spcPts val="0"/>
                        </a:spcAft>
                      </a:pPr>
                      <a:r>
                        <a:rPr sz="1100">
                          <a:solidFill>
                            <a:srgbClr val="1C272B"/>
                          </a:solidFill>
                        </a:rPr>
                        <a:t>131</a:t>
                      </a:r>
                    </a:p>
                  </a:txBody>
                  <a:tcPr marL="73152" marR="54864" marT="27432" marB="27432" anchor="ctr">
                    <a:solidFill>
                      <a:srgbClr val="FFFFFF"/>
                    </a:solidFill>
                  </a:tcPr>
                </a:tc>
              </a:tr>
              <a:tr h="304800">
                <a:tc>
                  <a:txBody>
                    <a:bodyPr wrap="square"/>
                    <a:lstStyle/>
                    <a:p>
                      <a:pPr>
                        <a:spcAft>
                          <a:spcPts val="0"/>
                        </a:spcAft>
                      </a:pPr>
                      <a:r>
                        <a:rPr sz="1100">
                          <a:solidFill>
                            <a:srgbClr val="1C272B"/>
                          </a:solidFill>
                        </a:rPr>
                        <a:t>Control (local 99)</a:t>
                      </a:r>
                    </a:p>
                  </a:txBody>
                  <a:tcPr marL="73152" marR="54864" marT="27432" marB="27432" anchor="ctr">
                    <a:solidFill>
                      <a:srgbClr val="F7F9FA"/>
                    </a:solidFill>
                  </a:tcPr>
                </a:tc>
                <a:tc>
                  <a:txBody>
                    <a:bodyPr wrap="square"/>
                    <a:lstStyle/>
                    <a:p>
                      <a:pPr>
                        <a:spcAft>
                          <a:spcPts val="0"/>
                        </a:spcAft>
                      </a:pPr>
                      <a:r>
                        <a:rPr sz="1100">
                          <a:solidFill>
                            <a:srgbClr val="1C272B"/>
                          </a:solidFill>
                        </a:rPr>
                        <a:t>288</a:t>
                      </a:r>
                    </a:p>
                  </a:txBody>
                  <a:tcPr marL="73152" marR="54864" marT="27432" marB="27432" anchor="ctr">
                    <a:solidFill>
                      <a:srgbClr val="F7F9FA"/>
                    </a:solidFill>
                  </a:tcPr>
                </a:tc>
                <a:tc>
                  <a:txBody>
                    <a:bodyPr wrap="square"/>
                    <a:lstStyle/>
                    <a:p>
                      <a:pPr>
                        <a:spcAft>
                          <a:spcPts val="0"/>
                        </a:spcAft>
                      </a:pPr>
                      <a:r>
                        <a:rPr sz="1100">
                          <a:solidFill>
                            <a:srgbClr val="1C272B"/>
                          </a:solidFill>
                        </a:rPr>
                        <a:t>144</a:t>
                      </a:r>
                    </a:p>
                  </a:txBody>
                  <a:tcPr marL="73152" marR="54864" marT="27432" marB="27432" anchor="ctr">
                    <a:solidFill>
                      <a:srgbClr val="F7F9FA"/>
                    </a:solidFill>
                  </a:tcPr>
                </a:tc>
              </a:tr>
            </a:tbl>
          </a:graphicData>
        </a:graphic>
      </p:graphicFrame>
      <p:sp>
        <p:nvSpPr>
          <p:cNvPr id="15" name="Rectangle 14"/>
          <p:cNvSpPr/>
          <p:nvPr/>
        </p:nvSpPr>
        <p:spPr>
          <a:xfrm>
            <a:off x="310896" y="33832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3832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131 households in the treatment locality, 144 in the control locality.</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Building the results table</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Put the answers on their own sheet so the raw data stays untouched.</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151376" cy="442214"/>
          </a:xfrm>
          <a:prstGeom prst="rect">
            <a:avLst/>
          </a:prstGeom>
          <a:noFill/>
        </p:spPr>
        <p:txBody>
          <a:bodyPr wrap="square" lIns="0" tIns="0" bIns="0">
            <a:spAutoFit/>
          </a:bodyPr>
          <a:lstStyle/>
          <a:p>
            <a:pPr>
              <a:spcAft>
                <a:spcPts val="0"/>
              </a:spcAft>
              <a:buNone/>
            </a:pPr>
            <a:r>
              <a:rPr sz="1250" b="0" i="0">
                <a:solidFill>
                  <a:srgbClr val="212121"/>
                </a:solidFill>
              </a:rPr>
              <a:t>Click + at the bottom of the window to add a sheet; call it Results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151376" cy="442214"/>
          </a:xfrm>
          <a:prstGeom prst="rect">
            <a:avLst/>
          </a:prstGeom>
          <a:noFill/>
        </p:spPr>
        <p:txBody>
          <a:bodyPr wrap="square" lIns="0" tIns="0" bIns="0">
            <a:spAutoFit/>
          </a:bodyPr>
          <a:lstStyle/>
          <a:p>
            <a:pPr>
              <a:spcAft>
                <a:spcPts val="0"/>
              </a:spcAft>
              <a:buNone/>
            </a:pPr>
            <a:r>
              <a:rPr sz="1250" b="0" i="0">
                <a:solidFill>
                  <a:srgbClr val="212121"/>
                </a:solidFill>
              </a:rPr>
              <a:t>In row 1, type the headings: Variable, Mean, Std. Dev, Min, Max</a:t>
            </a:r>
          </a:p>
        </p:txBody>
      </p:sp>
      <p:sp>
        <p:nvSpPr>
          <p:cNvPr id="10" name="Oval 9"/>
          <p:cNvSpPr/>
          <p:nvPr/>
        </p:nvSpPr>
        <p:spPr>
          <a:xfrm>
            <a:off x="310896" y="26949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662936"/>
            <a:ext cx="4151376" cy="248538"/>
          </a:xfrm>
          <a:prstGeom prst="rect">
            <a:avLst/>
          </a:prstGeom>
          <a:noFill/>
        </p:spPr>
        <p:txBody>
          <a:bodyPr wrap="square" lIns="0" tIns="0" bIns="0">
            <a:spAutoFit/>
          </a:bodyPr>
          <a:lstStyle/>
          <a:p>
            <a:pPr>
              <a:spcAft>
                <a:spcPts val="0"/>
              </a:spcAft>
              <a:buNone/>
            </a:pPr>
            <a:r>
              <a:rPr sz="1250" b="0" i="0">
                <a:solidFill>
                  <a:srgbClr val="212121"/>
                </a:solidFill>
              </a:rPr>
              <a:t>Down column A, list the five variables</a:t>
            </a:r>
          </a:p>
        </p:txBody>
      </p:sp>
      <p:sp>
        <p:nvSpPr>
          <p:cNvPr id="12" name="Oval 11"/>
          <p:cNvSpPr/>
          <p:nvPr/>
        </p:nvSpPr>
        <p:spPr>
          <a:xfrm>
            <a:off x="310896" y="298005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948051"/>
            <a:ext cx="4151376" cy="248538"/>
          </a:xfrm>
          <a:prstGeom prst="rect">
            <a:avLst/>
          </a:prstGeom>
          <a:noFill/>
        </p:spPr>
        <p:txBody>
          <a:bodyPr wrap="square" lIns="0" tIns="0" bIns="0">
            <a:spAutoFit/>
          </a:bodyPr>
          <a:lstStyle/>
          <a:p>
            <a:pPr>
              <a:spcAft>
                <a:spcPts val="0"/>
              </a:spcAft>
              <a:buNone/>
            </a:pPr>
            <a:r>
              <a:rPr sz="1250" b="0" i="0">
                <a:solidFill>
                  <a:srgbClr val="212121"/>
                </a:solidFill>
              </a:rPr>
              <a:t>In B2 write the first formula, then fill right and down</a:t>
            </a:r>
          </a:p>
        </p:txBody>
      </p:sp>
      <p:sp>
        <p:nvSpPr>
          <p:cNvPr id="14" name="Rectangle 13"/>
          <p:cNvSpPr/>
          <p:nvPr/>
        </p:nvSpPr>
        <p:spPr>
          <a:xfrm>
            <a:off x="48463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157216" y="1773936"/>
            <a:ext cx="8686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6" name="Rectangle 15"/>
          <p:cNvSpPr/>
          <p:nvPr/>
        </p:nvSpPr>
        <p:spPr>
          <a:xfrm>
            <a:off x="6025896" y="1773936"/>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7" name="Rectangle 16"/>
          <p:cNvSpPr/>
          <p:nvPr/>
        </p:nvSpPr>
        <p:spPr>
          <a:xfrm>
            <a:off x="675741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8" name="Rectangle 17"/>
          <p:cNvSpPr/>
          <p:nvPr/>
        </p:nvSpPr>
        <p:spPr>
          <a:xfrm>
            <a:off x="758037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19" name="Rectangle 18"/>
          <p:cNvSpPr/>
          <p:nvPr/>
        </p:nvSpPr>
        <p:spPr>
          <a:xfrm>
            <a:off x="812901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E</a:t>
            </a:r>
          </a:p>
        </p:txBody>
      </p:sp>
      <p:sp>
        <p:nvSpPr>
          <p:cNvPr id="20" name="Rectangle 19"/>
          <p:cNvSpPr/>
          <p:nvPr/>
        </p:nvSpPr>
        <p:spPr>
          <a:xfrm>
            <a:off x="48463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21" name="Rectangle 20"/>
          <p:cNvSpPr/>
          <p:nvPr/>
        </p:nvSpPr>
        <p:spPr>
          <a:xfrm>
            <a:off x="5157216" y="1988819"/>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Variable</a:t>
            </a:r>
          </a:p>
        </p:txBody>
      </p:sp>
      <p:sp>
        <p:nvSpPr>
          <p:cNvPr id="22" name="Rectangle 21"/>
          <p:cNvSpPr/>
          <p:nvPr/>
        </p:nvSpPr>
        <p:spPr>
          <a:xfrm>
            <a:off x="6025896" y="198881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Mean</a:t>
            </a:r>
          </a:p>
        </p:txBody>
      </p:sp>
      <p:sp>
        <p:nvSpPr>
          <p:cNvPr id="23" name="Rectangle 22"/>
          <p:cNvSpPr/>
          <p:nvPr/>
        </p:nvSpPr>
        <p:spPr>
          <a:xfrm>
            <a:off x="675741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Std. Dev</a:t>
            </a:r>
          </a:p>
        </p:txBody>
      </p:sp>
      <p:sp>
        <p:nvSpPr>
          <p:cNvPr id="24" name="Rectangle 23"/>
          <p:cNvSpPr/>
          <p:nvPr/>
        </p:nvSpPr>
        <p:spPr>
          <a:xfrm>
            <a:off x="758037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Min</a:t>
            </a:r>
          </a:p>
        </p:txBody>
      </p:sp>
      <p:sp>
        <p:nvSpPr>
          <p:cNvPr id="25" name="Rectangle 24"/>
          <p:cNvSpPr/>
          <p:nvPr/>
        </p:nvSpPr>
        <p:spPr>
          <a:xfrm>
            <a:off x="812901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Max</a:t>
            </a:r>
          </a:p>
        </p:txBody>
      </p:sp>
      <p:sp>
        <p:nvSpPr>
          <p:cNvPr id="26" name="Rectangle 25"/>
          <p:cNvSpPr/>
          <p:nvPr/>
        </p:nvSpPr>
        <p:spPr>
          <a:xfrm>
            <a:off x="48463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7" name="Rectangle 26"/>
          <p:cNvSpPr/>
          <p:nvPr/>
        </p:nvSpPr>
        <p:spPr>
          <a:xfrm>
            <a:off x="5157216" y="2203704"/>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28" name="Rectangle 27"/>
          <p:cNvSpPr/>
          <p:nvPr/>
        </p:nvSpPr>
        <p:spPr>
          <a:xfrm>
            <a:off x="6025896" y="2203704"/>
            <a:ext cx="73152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29" name="Rectangle 28"/>
          <p:cNvSpPr/>
          <p:nvPr/>
        </p:nvSpPr>
        <p:spPr>
          <a:xfrm>
            <a:off x="675741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0" name="Rectangle 29"/>
          <p:cNvSpPr/>
          <p:nvPr/>
        </p:nvSpPr>
        <p:spPr>
          <a:xfrm>
            <a:off x="758037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1" name="Rectangle 30"/>
          <p:cNvSpPr/>
          <p:nvPr/>
        </p:nvSpPr>
        <p:spPr>
          <a:xfrm>
            <a:off x="812901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2" name="Rectangle 31"/>
          <p:cNvSpPr/>
          <p:nvPr/>
        </p:nvSpPr>
        <p:spPr>
          <a:xfrm>
            <a:off x="48463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33" name="Rectangle 32"/>
          <p:cNvSpPr/>
          <p:nvPr/>
        </p:nvSpPr>
        <p:spPr>
          <a:xfrm>
            <a:off x="5157216" y="2418588"/>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educhh</a:t>
            </a:r>
          </a:p>
        </p:txBody>
      </p:sp>
      <p:sp>
        <p:nvSpPr>
          <p:cNvPr id="34" name="Rectangle 33"/>
          <p:cNvSpPr/>
          <p:nvPr/>
        </p:nvSpPr>
        <p:spPr>
          <a:xfrm>
            <a:off x="6025896" y="241858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5" name="Rectangle 34"/>
          <p:cNvSpPr/>
          <p:nvPr/>
        </p:nvSpPr>
        <p:spPr>
          <a:xfrm>
            <a:off x="675741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6" name="Rectangle 35"/>
          <p:cNvSpPr/>
          <p:nvPr/>
        </p:nvSpPr>
        <p:spPr>
          <a:xfrm>
            <a:off x="758037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7" name="Rectangle 36"/>
          <p:cNvSpPr/>
          <p:nvPr/>
        </p:nvSpPr>
        <p:spPr>
          <a:xfrm>
            <a:off x="812901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8" name="Rectangle 37"/>
          <p:cNvSpPr/>
          <p:nvPr/>
        </p:nvSpPr>
        <p:spPr>
          <a:xfrm>
            <a:off x="484632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9" name="Rectangle 38"/>
          <p:cNvSpPr/>
          <p:nvPr/>
        </p:nvSpPr>
        <p:spPr>
          <a:xfrm>
            <a:off x="5157216" y="2633472"/>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agehh</a:t>
            </a:r>
          </a:p>
        </p:txBody>
      </p:sp>
      <p:sp>
        <p:nvSpPr>
          <p:cNvPr id="40" name="Rectangle 39"/>
          <p:cNvSpPr/>
          <p:nvPr/>
        </p:nvSpPr>
        <p:spPr>
          <a:xfrm>
            <a:off x="6025896" y="263347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1" name="Rectangle 40"/>
          <p:cNvSpPr/>
          <p:nvPr/>
        </p:nvSpPr>
        <p:spPr>
          <a:xfrm>
            <a:off x="6757416" y="263347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2" name="Rectangle 41"/>
          <p:cNvSpPr/>
          <p:nvPr/>
        </p:nvSpPr>
        <p:spPr>
          <a:xfrm>
            <a:off x="758037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3" name="Rectangle 42"/>
          <p:cNvSpPr/>
          <p:nvPr/>
        </p:nvSpPr>
        <p:spPr>
          <a:xfrm>
            <a:off x="812901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4" name="Rectangle 43"/>
          <p:cNvSpPr/>
          <p:nvPr/>
        </p:nvSpPr>
        <p:spPr>
          <a:xfrm>
            <a:off x="310896" y="33832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45" name="Rectangle 44"/>
          <p:cNvSpPr/>
          <p:nvPr/>
        </p:nvSpPr>
        <p:spPr>
          <a:xfrm>
            <a:off x="1097280" y="33832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46" name="TextBox 45"/>
          <p:cNvSpPr txBox="1"/>
          <p:nvPr/>
        </p:nvSpPr>
        <p:spPr>
          <a:xfrm>
            <a:off x="310896" y="3803904"/>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tells Excel to look on the data sheet. Without it, the formula would look for D2:D551 on the Results sheet, which is empty.</a:t>
            </a:r>
          </a:p>
        </p:txBody>
      </p:sp>
      <p:sp>
        <p:nvSpPr>
          <p:cNvPr id="47" name="Rectangle 46"/>
          <p:cNvSpPr/>
          <p:nvPr/>
        </p:nvSpPr>
        <p:spPr>
          <a:xfrm>
            <a:off x="310896" y="3803904"/>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49" name="Rectangle 4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The four functions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00" b="0" i="0">
                <a:solidFill>
                  <a:srgbClr val="212121"/>
                </a:solidFill>
              </a:rPr>
              <a:t>Written for health expenditure (column D). Change the letter for the other variables.</a:t>
            </a:r>
          </a:p>
        </p:txBody>
      </p:sp>
      <p:sp>
        <p:nvSpPr>
          <p:cNvPr id="6" name="Rounded Rectangle 5"/>
          <p:cNvSpPr/>
          <p:nvPr/>
        </p:nvSpPr>
        <p:spPr>
          <a:xfrm>
            <a:off x="310896" y="1755648"/>
            <a:ext cx="8522208" cy="114960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a:solidFill>
                  <a:srgbClr val="1C272B"/>
                </a:solidFill>
                <a:latin typeface="Courier New"/>
              </a:rPr>
              <a:t>=</a:t>
            </a:r>
            <a:r>
              <a:rPr sz="1300" b="1">
                <a:solidFill>
                  <a:srgbClr val="007986"/>
                </a:solidFill>
                <a:latin typeface="Courier New"/>
              </a:rPr>
              <a:t>AVERAGE</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STDEV.S</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a</a:t>
            </a:r>
            <a:r>
              <a:rPr sz="1300" b="1">
                <a:solidFill>
                  <a:srgbClr val="007986"/>
                </a:solidFill>
                <a:latin typeface="Courier New"/>
              </a:rPr>
              <a:t>m</a:t>
            </a:r>
            <a:r>
              <a:rPr sz="1300" b="1">
                <a:solidFill>
                  <a:srgbClr val="007986"/>
                </a:solidFill>
                <a:latin typeface="Courier New"/>
              </a:rPr>
              <a:t>p</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t</a:t>
            </a:r>
            <a:r>
              <a:rPr sz="1300" b="1">
                <a:solidFill>
                  <a:srgbClr val="007986"/>
                </a:solidFill>
                <a:latin typeface="Courier New"/>
              </a:rPr>
              <a:t>a</a:t>
            </a:r>
            <a:r>
              <a:rPr sz="1300" b="1">
                <a:solidFill>
                  <a:srgbClr val="007986"/>
                </a:solidFill>
                <a:latin typeface="Courier New"/>
              </a:rPr>
              <a:t>n</a:t>
            </a:r>
            <a:r>
              <a:rPr sz="1300" b="1">
                <a:solidFill>
                  <a:srgbClr val="007986"/>
                </a:solidFill>
                <a:latin typeface="Courier New"/>
              </a:rPr>
              <a:t>d</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d</a:t>
            </a:r>
            <a:r>
              <a:rPr sz="1300">
                <a:solidFill>
                  <a:srgbClr val="1C272B"/>
                </a:solidFill>
                <a:latin typeface="Courier New"/>
              </a:rPr>
              <a:t> </a:t>
            </a:r>
            <a:r>
              <a:rPr sz="1300" b="1">
                <a:solidFill>
                  <a:srgbClr val="007986"/>
                </a:solidFill>
                <a:latin typeface="Courier New"/>
              </a:rPr>
              <a:t>d</a:t>
            </a:r>
            <a:r>
              <a:rPr sz="1300" b="1">
                <a:solidFill>
                  <a:srgbClr val="007986"/>
                </a:solidFill>
                <a:latin typeface="Courier New"/>
              </a:rPr>
              <a:t>e</a:t>
            </a:r>
            <a:r>
              <a:rPr sz="1300" b="1">
                <a:solidFill>
                  <a:srgbClr val="007986"/>
                </a:solidFill>
                <a:latin typeface="Courier New"/>
              </a:rPr>
              <a:t>v</a:t>
            </a:r>
            <a:r>
              <a:rPr sz="1300" b="1">
                <a:solidFill>
                  <a:srgbClr val="007986"/>
                </a:solidFill>
                <a:latin typeface="Courier New"/>
              </a:rPr>
              <a:t>i</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MIN</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m</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a:p>
            <a:pPr algn="l">
              <a:spcAft>
                <a:spcPts val="0"/>
              </a:spcAft>
              <a:buNone/>
            </a:pPr>
            <a:r>
              <a:rPr sz="1300">
                <a:solidFill>
                  <a:srgbClr val="1C272B"/>
                </a:solidFill>
                <a:latin typeface="Courier New"/>
              </a:rPr>
              <a:t>=</a:t>
            </a:r>
            <a:r>
              <a:rPr sz="1300" b="1">
                <a:solidFill>
                  <a:srgbClr val="007986"/>
                </a:solidFill>
                <a:latin typeface="Courier New"/>
              </a:rPr>
              <a:t>MAX</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l</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g</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p:txBody>
      </p:sp>
      <p:sp>
        <p:nvSpPr>
          <p:cNvPr id="7" name="Rectangle 6"/>
          <p:cNvSpPr/>
          <p:nvPr/>
        </p:nvSpPr>
        <p:spPr>
          <a:xfrm>
            <a:off x="310896" y="1810512"/>
            <a:ext cx="45720" cy="103987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299923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Which standard deviation?</a:t>
            </a:r>
          </a:p>
          <a:p>
            <a:pPr>
              <a:spcAft>
                <a:spcPts val="0"/>
              </a:spcAft>
            </a:pPr>
            <a:r>
              <a:rPr sz="1400" b="0" i="0">
                <a:solidFill>
                  <a:srgbClr val="212121"/>
                </a:solidFill>
              </a:rPr>
              <a:t>Use STDEV.S, not STDEV.P. STDEV.S divides by n−1 and is what you want for a sample; the two differ in the second decimal place here.</a:t>
            </a:r>
          </a:p>
        </p:txBody>
      </p:sp>
      <p:sp>
        <p:nvSpPr>
          <p:cNvPr id="10" name="Rectangle 9"/>
          <p:cNvSpPr/>
          <p:nvPr/>
        </p:nvSpPr>
        <p:spPr>
          <a:xfrm>
            <a:off x="310896" y="299923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 y="3858768"/>
            <a:ext cx="8522208" cy="402336"/>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The variables are in columns D (hhe), G (educhh), F (agehh), H (hhsize) and I (pscore).</a:t>
            </a:r>
          </a:p>
        </p:txBody>
      </p:sp>
      <p:sp>
        <p:nvSpPr>
          <p:cNvPr id="12" name="Rectangle 11"/>
          <p:cNvSpPr/>
          <p:nvPr/>
        </p:nvSpPr>
        <p:spPr>
          <a:xfrm>
            <a:off x="310896" y="3858768"/>
            <a:ext cx="50292" cy="40233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Write the four formulas for health expenditure, then fill them across for the other four variables.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Results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600" b="0" i="0">
                <a:solidFill>
                  <a:srgbClr val="212121"/>
                </a:solidFill>
              </a:rPr>
              <a:t>Did anyone get something different?</a:t>
            </a:r>
          </a:p>
        </p:txBody>
      </p:sp>
      <p:graphicFrame>
        <p:nvGraphicFramePr>
          <p:cNvPr id="6" name="Table 5"/>
          <p:cNvGraphicFramePr>
            <a:graphicFrameLocks noGrp="1"/>
          </p:cNvGraphicFramePr>
          <p:nvPr/>
        </p:nvGraphicFramePr>
        <p:xfrm>
          <a:off x="310896" y="1773936"/>
          <a:ext cx="8522208" cy="2148840"/>
        </p:xfrm>
        <a:graphic>
          <a:graphicData uri="http://schemas.openxmlformats.org/drawingml/2006/table">
            <a:tbl>
              <a:tblPr firstRow="1" bandRow="1">
                <a:tableStyleId>{5C22544A-7EE6-4342-B048-85BDC9FD1C3A}</a:tableStyleId>
              </a:tblPr>
              <a:tblGrid>
                <a:gridCol w="3401568"/>
                <a:gridCol w="1280160"/>
                <a:gridCol w="1280160"/>
                <a:gridCol w="1280160"/>
                <a:gridCol w="12801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Mean</a:t>
                      </a:r>
                    </a:p>
                  </a:txBody>
                  <a:tcPr marL="73152" marR="54864" marT="27432" marB="27432" anchor="ctr">
                    <a:solidFill>
                      <a:srgbClr val="455A64"/>
                    </a:solidFill>
                  </a:tcPr>
                </a:tc>
                <a:tc>
                  <a:txBody>
                    <a:bodyPr wrap="square"/>
                    <a:lstStyle/>
                    <a:p>
                      <a:pPr>
                        <a:spcAft>
                          <a:spcPts val="0"/>
                        </a:spcAft>
                      </a:pPr>
                      <a:r>
                        <a:rPr sz="1250" b="1">
                          <a:solidFill>
                            <a:srgbClr val="FFFFFF"/>
                          </a:solidFill>
                        </a:rPr>
                        <a:t>Std. Dev</a:t>
                      </a:r>
                    </a:p>
                  </a:txBody>
                  <a:tcPr marL="73152" marR="54864" marT="27432" marB="27432" anchor="ctr">
                    <a:solidFill>
                      <a:srgbClr val="455A64"/>
                    </a:solidFill>
                  </a:tcPr>
                </a:tc>
                <a:tc>
                  <a:txBody>
                    <a:bodyPr wrap="square"/>
                    <a:lstStyle/>
                    <a:p>
                      <a:pPr>
                        <a:spcAft>
                          <a:spcPts val="0"/>
                        </a:spcAft>
                      </a:pPr>
                      <a:r>
                        <a:rPr sz="1250" b="1">
                          <a:solidFill>
                            <a:srgbClr val="FFFFFF"/>
                          </a:solidFill>
                        </a:rPr>
                        <a:t>Minimum</a:t>
                      </a:r>
                    </a:p>
                  </a:txBody>
                  <a:tcPr marL="73152" marR="54864" marT="27432" marB="27432" anchor="ctr">
                    <a:solidFill>
                      <a:srgbClr val="455A64"/>
                    </a:solidFill>
                  </a:tcPr>
                </a:tc>
                <a:tc>
                  <a:txBody>
                    <a:bodyPr wrap="square"/>
                    <a:lstStyle/>
                    <a:p>
                      <a:pPr>
                        <a:spcAft>
                          <a:spcPts val="0"/>
                        </a:spcAft>
                      </a:pPr>
                      <a:r>
                        <a:rPr sz="1250" b="1">
                          <a:solidFill>
                            <a:srgbClr val="FFFFFF"/>
                          </a:solidFill>
                        </a:rPr>
                        <a:t>Maximum</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70.06</a:t>
                      </a:r>
                    </a:p>
                  </a:txBody>
                  <a:tcPr marL="73152" marR="54864" marT="27432" marB="27432" anchor="ctr">
                    <a:solidFill>
                      <a:srgbClr val="FFFFFF"/>
                    </a:solidFill>
                  </a:tcPr>
                </a:tc>
                <a:tc>
                  <a:txBody>
                    <a:bodyPr wrap="square"/>
                    <a:lstStyle/>
                    <a:p>
                      <a:pPr>
                        <a:spcAft>
                          <a:spcPts val="0"/>
                        </a:spcAft>
                      </a:pPr>
                      <a:r>
                        <a:rPr sz="1300">
                          <a:solidFill>
                            <a:srgbClr val="1C272B"/>
                          </a:solidFill>
                        </a:rPr>
                        <a:t>30.75</a:t>
                      </a:r>
                    </a:p>
                  </a:txBody>
                  <a:tcPr marL="73152" marR="54864" marT="27432" marB="27432" anchor="ctr">
                    <a:solidFill>
                      <a:srgbClr val="FFFFFF"/>
                    </a:solidFill>
                  </a:tcPr>
                </a:tc>
                <a:tc>
                  <a:txBody>
                    <a:bodyPr wrap="square"/>
                    <a:lstStyle/>
                    <a:p>
                      <a:pPr>
                        <a:spcAft>
                          <a:spcPts val="0"/>
                        </a:spcAft>
                      </a:pPr>
                      <a:r>
                        <a:rPr sz="1300">
                          <a:solidFill>
                            <a:srgbClr val="1C272B"/>
                          </a:solidFill>
                        </a:rPr>
                        <a:t>14.67</a:t>
                      </a:r>
                    </a:p>
                  </a:txBody>
                  <a:tcPr marL="73152" marR="54864" marT="27432" marB="27432" anchor="ctr">
                    <a:solidFill>
                      <a:srgbClr val="FFFFFF"/>
                    </a:solidFill>
                  </a:tcPr>
                </a:tc>
                <a:tc>
                  <a:txBody>
                    <a:bodyPr wrap="square"/>
                    <a:lstStyle/>
                    <a:p>
                      <a:pPr>
                        <a:spcAft>
                          <a:spcPts val="0"/>
                        </a:spcAft>
                      </a:pPr>
                      <a:r>
                        <a:rPr sz="1300">
                          <a:solidFill>
                            <a:srgbClr val="1C272B"/>
                          </a:solidFill>
                        </a:rPr>
                        <a:t>255.02</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3.20</a:t>
                      </a:r>
                    </a:p>
                  </a:txBody>
                  <a:tcPr marL="73152" marR="54864" marT="27432" marB="27432" anchor="ctr">
                    <a:solidFill>
                      <a:srgbClr val="F7F9FA"/>
                    </a:solidFill>
                  </a:tcPr>
                </a:tc>
                <a:tc>
                  <a:txBody>
                    <a:bodyPr wrap="square"/>
                    <a:lstStyle/>
                    <a:p>
                      <a:pPr>
                        <a:spcAft>
                          <a:spcPts val="0"/>
                        </a:spcAft>
                      </a:pPr>
                      <a:r>
                        <a:rPr sz="1300">
                          <a:solidFill>
                            <a:srgbClr val="1C272B"/>
                          </a:solidFill>
                        </a:rPr>
                        <a:t>2.55</a:t>
                      </a:r>
                    </a:p>
                  </a:txBody>
                  <a:tcPr marL="73152" marR="54864" marT="27432" marB="27432" anchor="ctr">
                    <a:solidFill>
                      <a:srgbClr val="F7F9FA"/>
                    </a:solidFill>
                  </a:tcPr>
                </a:tc>
                <a:tc>
                  <a:txBody>
                    <a:bodyPr wrap="square"/>
                    <a:lstStyle/>
                    <a:p>
                      <a:pPr>
                        <a:spcAft>
                          <a:spcPts val="0"/>
                        </a:spcAft>
                      </a:pPr>
                      <a:r>
                        <a:rPr sz="1300">
                          <a:solidFill>
                            <a:srgbClr val="1C272B"/>
                          </a:solidFill>
                        </a:rPr>
                        <a:t>0</a:t>
                      </a:r>
                    </a:p>
                  </a:txBody>
                  <a:tcPr marL="73152" marR="54864" marT="27432" marB="27432" anchor="ctr">
                    <a:solidFill>
                      <a:srgbClr val="F7F9FA"/>
                    </a:solidFill>
                  </a:tcPr>
                </a:tc>
                <a:tc>
                  <a:txBody>
                    <a:bodyPr wrap="square"/>
                    <a:lstStyle/>
                    <a:p>
                      <a:pPr>
                        <a:spcAft>
                          <a:spcPts val="0"/>
                        </a:spcAft>
                      </a:pPr>
                      <a:r>
                        <a:rPr sz="1300">
                          <a:solidFill>
                            <a:srgbClr val="1C272B"/>
                          </a:solidFill>
                        </a:rPr>
                        <a:t>14</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head age</a:t>
                      </a:r>
                    </a:p>
                  </a:txBody>
                  <a:tcPr marL="73152" marR="54864" marT="27432" marB="27432" anchor="ctr">
                    <a:solidFill>
                      <a:srgbClr val="FFFFFF"/>
                    </a:solidFill>
                  </a:tcPr>
                </a:tc>
                <a:tc>
                  <a:txBody>
                    <a:bodyPr wrap="square"/>
                    <a:lstStyle/>
                    <a:p>
                      <a:pPr>
                        <a:spcAft>
                          <a:spcPts val="0"/>
                        </a:spcAft>
                      </a:pPr>
                      <a:r>
                        <a:rPr sz="1300">
                          <a:solidFill>
                            <a:srgbClr val="1C272B"/>
                          </a:solidFill>
                        </a:rPr>
                        <a:t>46.04</a:t>
                      </a:r>
                    </a:p>
                  </a:txBody>
                  <a:tcPr marL="73152" marR="54864" marT="27432" marB="27432" anchor="ctr">
                    <a:solidFill>
                      <a:srgbClr val="FFFFFF"/>
                    </a:solidFill>
                  </a:tcPr>
                </a:tc>
                <a:tc>
                  <a:txBody>
                    <a:bodyPr wrap="square"/>
                    <a:lstStyle/>
                    <a:p>
                      <a:pPr>
                        <a:spcAft>
                          <a:spcPts val="0"/>
                        </a:spcAft>
                      </a:pPr>
                      <a:r>
                        <a:rPr sz="1300">
                          <a:solidFill>
                            <a:srgbClr val="1C272B"/>
                          </a:solidFill>
                        </a:rPr>
                        <a:t>15.67</a:t>
                      </a:r>
                    </a:p>
                  </a:txBody>
                  <a:tcPr marL="73152" marR="54864" marT="27432" marB="27432" anchor="ctr">
                    <a:solidFill>
                      <a:srgbClr val="FFFFFF"/>
                    </a:solidFill>
                  </a:tcPr>
                </a:tc>
                <a:tc>
                  <a:txBody>
                    <a:bodyPr wrap="square"/>
                    <a:lstStyle/>
                    <a:p>
                      <a:pPr>
                        <a:spcAft>
                          <a:spcPts val="0"/>
                        </a:spcAft>
                      </a:pPr>
                      <a:r>
                        <a:rPr sz="1300">
                          <a:solidFill>
                            <a:srgbClr val="1C272B"/>
                          </a:solidFill>
                        </a:rPr>
                        <a:t>21</a:t>
                      </a:r>
                    </a:p>
                  </a:txBody>
                  <a:tcPr marL="73152" marR="54864" marT="27432" marB="27432" anchor="ctr">
                    <a:solidFill>
                      <a:srgbClr val="FFFFFF"/>
                    </a:solidFill>
                  </a:tcPr>
                </a:tc>
                <a:tc>
                  <a:txBody>
                    <a:bodyPr wrap="square"/>
                    <a:lstStyle/>
                    <a:p>
                      <a:pPr>
                        <a:spcAft>
                          <a:spcPts val="0"/>
                        </a:spcAft>
                      </a:pPr>
                      <a:r>
                        <a:rPr sz="1300">
                          <a:solidFill>
                            <a:srgbClr val="1C272B"/>
                          </a:solidFill>
                        </a:rPr>
                        <a:t>87</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7F9FA"/>
                    </a:solidFill>
                  </a:tcPr>
                </a:tc>
                <a:tc>
                  <a:txBody>
                    <a:bodyPr wrap="square"/>
                    <a:lstStyle/>
                    <a:p>
                      <a:pPr>
                        <a:spcAft>
                          <a:spcPts val="0"/>
                        </a:spcAft>
                      </a:pPr>
                      <a:r>
                        <a:rPr sz="1300">
                          <a:solidFill>
                            <a:srgbClr val="1C272B"/>
                          </a:solidFill>
                        </a:rPr>
                        <a:t>5.44</a:t>
                      </a:r>
                    </a:p>
                  </a:txBody>
                  <a:tcPr marL="73152" marR="54864" marT="27432" marB="27432" anchor="ctr">
                    <a:solidFill>
                      <a:srgbClr val="F7F9FA"/>
                    </a:solidFill>
                  </a:tcPr>
                </a:tc>
                <a:tc>
                  <a:txBody>
                    <a:bodyPr wrap="square"/>
                    <a:lstStyle/>
                    <a:p>
                      <a:pPr>
                        <a:spcAft>
                          <a:spcPts val="0"/>
                        </a:spcAft>
                      </a:pPr>
                      <a:r>
                        <a:rPr sz="1300">
                          <a:solidFill>
                            <a:srgbClr val="1C272B"/>
                          </a:solidFill>
                        </a:rPr>
                        <a:t>2.27</a:t>
                      </a:r>
                    </a:p>
                  </a:txBody>
                  <a:tcPr marL="73152" marR="54864" marT="27432" marB="27432" anchor="ctr">
                    <a:solidFill>
                      <a:srgbClr val="F7F9FA"/>
                    </a:solidFill>
                  </a:tcPr>
                </a:tc>
                <a:tc>
                  <a:txBody>
                    <a:bodyPr wrap="square"/>
                    <a:lstStyle/>
                    <a:p>
                      <a:pPr>
                        <a:spcAft>
                          <a:spcPts val="0"/>
                        </a:spcAft>
                      </a:pPr>
                      <a:r>
                        <a:rPr sz="1300">
                          <a:solidFill>
                            <a:srgbClr val="1C272B"/>
                          </a:solidFill>
                        </a:rPr>
                        <a:t>1</a:t>
                      </a:r>
                    </a:p>
                  </a:txBody>
                  <a:tcPr marL="73152" marR="54864" marT="27432" marB="27432" anchor="ctr">
                    <a:solidFill>
                      <a:srgbClr val="F7F9FA"/>
                    </a:solidFill>
                  </a:tcPr>
                </a:tc>
                <a:tc>
                  <a:txBody>
                    <a:bodyPr wrap="square"/>
                    <a:lstStyle/>
                    <a:p>
                      <a:pPr>
                        <a:spcAft>
                          <a:spcPts val="0"/>
                        </a:spcAft>
                      </a:pPr>
                      <a:r>
                        <a:rPr sz="1300">
                          <a:solidFill>
                            <a:srgbClr val="1C272B"/>
                          </a:solidFill>
                        </a:rPr>
                        <a:t>12</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FFFFF"/>
                    </a:solidFill>
                  </a:tcPr>
                </a:tc>
                <a:tc>
                  <a:txBody>
                    <a:bodyPr wrap="square"/>
                    <a:lstStyle/>
                    <a:p>
                      <a:pPr>
                        <a:spcAft>
                          <a:spcPts val="0"/>
                        </a:spcAft>
                      </a:pPr>
                      <a:r>
                        <a:rPr sz="1300">
                          <a:solidFill>
                            <a:srgbClr val="1C272B"/>
                          </a:solidFill>
                        </a:rPr>
                        <a:t>772.33</a:t>
                      </a:r>
                    </a:p>
                  </a:txBody>
                  <a:tcPr marL="73152" marR="54864" marT="27432" marB="27432" anchor="ctr">
                    <a:solidFill>
                      <a:srgbClr val="FFFFFF"/>
                    </a:solidFill>
                  </a:tcPr>
                </a:tc>
                <a:tc>
                  <a:txBody>
                    <a:bodyPr wrap="square"/>
                    <a:lstStyle/>
                    <a:p>
                      <a:pPr>
                        <a:spcAft>
                          <a:spcPts val="0"/>
                        </a:spcAft>
                      </a:pPr>
                      <a:r>
                        <a:rPr sz="1300">
                          <a:solidFill>
                            <a:srgbClr val="1C272B"/>
                          </a:solidFill>
                        </a:rPr>
                        <a:t>134.54</a:t>
                      </a:r>
                    </a:p>
                  </a:txBody>
                  <a:tcPr marL="73152" marR="54864" marT="27432" marB="27432" anchor="ctr">
                    <a:solidFill>
                      <a:srgbClr val="FFFFFF"/>
                    </a:solidFill>
                  </a:tcPr>
                </a:tc>
                <a:tc>
                  <a:txBody>
                    <a:bodyPr wrap="square"/>
                    <a:lstStyle/>
                    <a:p>
                      <a:pPr>
                        <a:spcAft>
                          <a:spcPts val="0"/>
                        </a:spcAft>
                      </a:pPr>
                      <a:r>
                        <a:rPr sz="1300">
                          <a:solidFill>
                            <a:srgbClr val="1C272B"/>
                          </a:solidFill>
                        </a:rPr>
                        <a:t>452</a:t>
                      </a:r>
                    </a:p>
                  </a:txBody>
                  <a:tcPr marL="73152" marR="54864" marT="27432" marB="27432" anchor="ctr">
                    <a:solidFill>
                      <a:srgbClr val="FFFFFF"/>
                    </a:solidFill>
                  </a:tcPr>
                </a:tc>
                <a:tc>
                  <a:txBody>
                    <a:bodyPr wrap="square"/>
                    <a:lstStyle/>
                    <a:p>
                      <a:pPr>
                        <a:spcAft>
                          <a:spcPts val="0"/>
                        </a:spcAft>
                      </a:pPr>
                      <a:r>
                        <a:rPr sz="1300">
                          <a:solidFill>
                            <a:srgbClr val="1C272B"/>
                          </a:solidFill>
                        </a:rPr>
                        <a:t>1,167</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These pool both rounds, so 46.04 is an average over household-years.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2</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Building a new variable from a rule, then counting with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4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2</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Four parts, all about the treatment locality.</a:t>
            </a:r>
          </a:p>
        </p:txBody>
      </p:sp>
      <p:graphicFrame>
        <p:nvGraphicFramePr>
          <p:cNvPr id="6" name="Table 5"/>
          <p:cNvGraphicFramePr>
            <a:graphicFrameLocks noGrp="1"/>
          </p:cNvGraphicFramePr>
          <p:nvPr/>
        </p:nvGraphicFramePr>
        <p:xfrm>
          <a:off x="310896" y="1755648"/>
          <a:ext cx="8522208" cy="1554480"/>
        </p:xfrm>
        <a:graphic>
          <a:graphicData uri="http://schemas.openxmlformats.org/drawingml/2006/table">
            <a:tbl>
              <a:tblPr firstRow="1" bandRow="1">
                <a:tableStyleId>{5C22544A-7EE6-4342-B048-85BDC9FD1C3A}</a:tableStyleId>
              </a:tblPr>
              <a:tblGrid>
                <a:gridCol w="731520"/>
                <a:gridCol w="7790688"/>
              </a:tblGrid>
              <a:tr h="310896">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10896">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in the treatment locality are eligible?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treatment households are eligible?</a:t>
                      </a:r>
                    </a:p>
                  </a:txBody>
                  <a:tcPr marL="73152" marR="54864" marT="27432" marB="27432" anchor="ctr">
                    <a:solidFill>
                      <a:srgbClr val="F7F9FA"/>
                    </a:solidFill>
                  </a:tcPr>
                </a:tc>
              </a:tr>
              <a:tr h="310896">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eligible households took up the programme?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eligible households took it up?</a:t>
                      </a:r>
                    </a:p>
                  </a:txBody>
                  <a:tcPr marL="73152" marR="54864" marT="27432" marB="27432" anchor="ctr">
                    <a:solidFill>
                      <a:srgbClr val="F7F9FA"/>
                    </a:solidFill>
                  </a:tcPr>
                </a:tc>
              </a:tr>
            </a:tbl>
          </a:graphicData>
        </a:graphic>
      </p:graphicFrame>
      <p:sp>
        <p:nvSpPr>
          <p:cNvPr id="7" name="TextBox 6"/>
          <p:cNvSpPr txBox="1"/>
          <p:nvPr/>
        </p:nvSpPr>
        <p:spPr>
          <a:xfrm>
            <a:off x="310896" y="3474720"/>
            <a:ext cx="8522208" cy="632968"/>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Note</a:t>
            </a:r>
          </a:p>
          <a:p>
            <a:pPr>
              <a:spcAft>
                <a:spcPts val="0"/>
              </a:spcAft>
            </a:pPr>
            <a:r>
              <a:rPr sz="1400" b="0" i="0">
                <a:solidFill>
                  <a:srgbClr val="212121"/>
                </a:solidFill>
              </a:rPr>
              <a:t>Eligible is not in the data. You create it, in a new column, from the poverty index.</a:t>
            </a:r>
          </a:p>
        </p:txBody>
      </p:sp>
      <p:sp>
        <p:nvSpPr>
          <p:cNvPr id="8" name="Rectangle 7"/>
          <p:cNvSpPr/>
          <p:nvPr/>
        </p:nvSpPr>
        <p:spPr>
          <a:xfrm>
            <a:off x="310896" y="3474720"/>
            <a:ext cx="50292" cy="63296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  Creating the eligible column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Column J is the last one used, so the new variable goes in column K.</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3968496" cy="248538"/>
          </a:xfrm>
          <a:prstGeom prst="rect">
            <a:avLst/>
          </a:prstGeom>
          <a:noFill/>
        </p:spPr>
        <p:txBody>
          <a:bodyPr wrap="square" lIns="0" tIns="0" bIns="0">
            <a:spAutoFit/>
          </a:bodyPr>
          <a:lstStyle/>
          <a:p>
            <a:pPr>
              <a:spcAft>
                <a:spcPts val="0"/>
              </a:spcAft>
              <a:buNone/>
            </a:pPr>
            <a:r>
              <a:rPr sz="1250" b="0" i="0">
                <a:solidFill>
                  <a:srgbClr val="212121"/>
                </a:solidFill>
              </a:rPr>
              <a:t>In K1, type the heading: eligible</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3968496" cy="248538"/>
          </a:xfrm>
          <a:prstGeom prst="rect">
            <a:avLst/>
          </a:prstGeom>
          <a:noFill/>
        </p:spPr>
        <p:txBody>
          <a:bodyPr wrap="square" lIns="0" tIns="0" bIns="0">
            <a:spAutoFit/>
          </a:bodyPr>
          <a:lstStyle/>
          <a:p>
            <a:pPr>
              <a:spcAft>
                <a:spcPts val="0"/>
              </a:spcAft>
              <a:buNone/>
            </a:pPr>
            <a:r>
              <a:rPr sz="1250" b="0" i="0">
                <a:solidFill>
                  <a:srgbClr val="212121"/>
                </a:solidFill>
              </a:rPr>
              <a:t>In K2, write the IF formula</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3968496" cy="442214"/>
          </a:xfrm>
          <a:prstGeom prst="rect">
            <a:avLst/>
          </a:prstGeom>
          <a:noFill/>
        </p:spPr>
        <p:txBody>
          <a:bodyPr wrap="square" lIns="0" tIns="0" bIns="0">
            <a:spAutoFit/>
          </a:bodyPr>
          <a:lstStyle/>
          <a:p>
            <a:pPr>
              <a:spcAft>
                <a:spcPts val="0"/>
              </a:spcAft>
              <a:buNone/>
            </a:pPr>
            <a:r>
              <a:rPr sz="1250" b="0" i="0">
                <a:solidFill>
                  <a:srgbClr val="212121"/>
                </a:solidFill>
              </a:rPr>
              <a:t>Double-click the small square at the corner of K2 to fill it all the way down</a:t>
            </a:r>
          </a:p>
        </p:txBody>
      </p:sp>
      <p:sp>
        <p:nvSpPr>
          <p:cNvPr id="12" name="Rectangle 11"/>
          <p:cNvSpPr/>
          <p:nvPr/>
        </p:nvSpPr>
        <p:spPr>
          <a:xfrm>
            <a:off x="310896" y="283464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K2</a:t>
            </a:r>
          </a:p>
        </p:txBody>
      </p:sp>
      <p:sp>
        <p:nvSpPr>
          <p:cNvPr id="13" name="Rectangle 12"/>
          <p:cNvSpPr/>
          <p:nvPr/>
        </p:nvSpPr>
        <p:spPr>
          <a:xfrm>
            <a:off x="1097280" y="2834640"/>
            <a:ext cx="3785615"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=IF(I2&lt;=750, 1, 0)</a:t>
            </a:r>
          </a:p>
        </p:txBody>
      </p:sp>
      <p:sp>
        <p:nvSpPr>
          <p:cNvPr id="14" name="Rectangle 13"/>
          <p:cNvSpPr/>
          <p:nvPr/>
        </p:nvSpPr>
        <p:spPr>
          <a:xfrm>
            <a:off x="512064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431536" y="1773936"/>
            <a:ext cx="10058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I</a:t>
            </a:r>
          </a:p>
        </p:txBody>
      </p:sp>
      <p:sp>
        <p:nvSpPr>
          <p:cNvPr id="16" name="Rectangle 15"/>
          <p:cNvSpPr/>
          <p:nvPr/>
        </p:nvSpPr>
        <p:spPr>
          <a:xfrm>
            <a:off x="6437375"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J</a:t>
            </a:r>
          </a:p>
        </p:txBody>
      </p:sp>
      <p:sp>
        <p:nvSpPr>
          <p:cNvPr id="17" name="Rectangle 16"/>
          <p:cNvSpPr/>
          <p:nvPr/>
        </p:nvSpPr>
        <p:spPr>
          <a:xfrm>
            <a:off x="7351775" y="1773936"/>
            <a:ext cx="10972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K</a:t>
            </a:r>
          </a:p>
        </p:txBody>
      </p:sp>
      <p:sp>
        <p:nvSpPr>
          <p:cNvPr id="18" name="Rectangle 17"/>
          <p:cNvSpPr/>
          <p:nvPr/>
        </p:nvSpPr>
        <p:spPr>
          <a:xfrm>
            <a:off x="512064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9" name="Rectangle 18"/>
          <p:cNvSpPr/>
          <p:nvPr/>
        </p:nvSpPr>
        <p:spPr>
          <a:xfrm>
            <a:off x="5431536" y="1988819"/>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pscore</a:t>
            </a:r>
          </a:p>
        </p:txBody>
      </p:sp>
      <p:sp>
        <p:nvSpPr>
          <p:cNvPr id="20" name="Rectangle 19"/>
          <p:cNvSpPr/>
          <p:nvPr/>
        </p:nvSpPr>
        <p:spPr>
          <a:xfrm>
            <a:off x="6437375"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takeup</a:t>
            </a:r>
          </a:p>
        </p:txBody>
      </p:sp>
      <p:sp>
        <p:nvSpPr>
          <p:cNvPr id="21" name="Rectangle 20"/>
          <p:cNvSpPr/>
          <p:nvPr/>
        </p:nvSpPr>
        <p:spPr>
          <a:xfrm>
            <a:off x="7351775" y="1988819"/>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eligible</a:t>
            </a:r>
          </a:p>
        </p:txBody>
      </p:sp>
      <p:sp>
        <p:nvSpPr>
          <p:cNvPr id="22" name="Rectangle 21"/>
          <p:cNvSpPr/>
          <p:nvPr/>
        </p:nvSpPr>
        <p:spPr>
          <a:xfrm>
            <a:off x="512064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3" name="Rectangle 22"/>
          <p:cNvSpPr/>
          <p:nvPr/>
        </p:nvSpPr>
        <p:spPr>
          <a:xfrm>
            <a:off x="5431536" y="2203704"/>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865</a:t>
            </a:r>
          </a:p>
        </p:txBody>
      </p:sp>
      <p:sp>
        <p:nvSpPr>
          <p:cNvPr id="24" name="Rectangle 23"/>
          <p:cNvSpPr/>
          <p:nvPr/>
        </p:nvSpPr>
        <p:spPr>
          <a:xfrm>
            <a:off x="6437375"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7351775" y="2203704"/>
            <a:ext cx="109728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6" name="Rectangle 25"/>
          <p:cNvSpPr/>
          <p:nvPr/>
        </p:nvSpPr>
        <p:spPr>
          <a:xfrm>
            <a:off x="512064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7" name="Rectangle 26"/>
          <p:cNvSpPr/>
          <p:nvPr/>
        </p:nvSpPr>
        <p:spPr>
          <a:xfrm>
            <a:off x="5431536" y="2418588"/>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602</a:t>
            </a:r>
          </a:p>
        </p:txBody>
      </p:sp>
      <p:sp>
        <p:nvSpPr>
          <p:cNvPr id="28" name="Rectangle 27"/>
          <p:cNvSpPr/>
          <p:nvPr/>
        </p:nvSpPr>
        <p:spPr>
          <a:xfrm>
            <a:off x="6437375"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9" name="Rectangle 28"/>
          <p:cNvSpPr/>
          <p:nvPr/>
        </p:nvSpPr>
        <p:spPr>
          <a:xfrm>
            <a:off x="7351775" y="2418588"/>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0" name="Rectangle 29"/>
          <p:cNvSpPr/>
          <p:nvPr/>
        </p:nvSpPr>
        <p:spPr>
          <a:xfrm>
            <a:off x="512064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1" name="Rectangle 30"/>
          <p:cNvSpPr/>
          <p:nvPr/>
        </p:nvSpPr>
        <p:spPr>
          <a:xfrm>
            <a:off x="5431536" y="2633472"/>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653</a:t>
            </a:r>
          </a:p>
        </p:txBody>
      </p:sp>
      <p:sp>
        <p:nvSpPr>
          <p:cNvPr id="32" name="Rectangle 31"/>
          <p:cNvSpPr/>
          <p:nvPr/>
        </p:nvSpPr>
        <p:spPr>
          <a:xfrm>
            <a:off x="6437375" y="2633472"/>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3" name="Rectangle 32"/>
          <p:cNvSpPr/>
          <p:nvPr/>
        </p:nvSpPr>
        <p:spPr>
          <a:xfrm>
            <a:off x="7351775" y="2633472"/>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4" name="TextBox 33"/>
          <p:cNvSpPr txBox="1"/>
          <p:nvPr/>
        </p:nvSpPr>
        <p:spPr>
          <a:xfrm>
            <a:off x="310896" y="3310128"/>
            <a:ext cx="4572000"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Read it as a sentence: if the value in I2 is 750 or less, put 1, otherwise put 0.</a:t>
            </a:r>
          </a:p>
        </p:txBody>
      </p:sp>
      <p:sp>
        <p:nvSpPr>
          <p:cNvPr id="35" name="Rectangle 34"/>
          <p:cNvSpPr/>
          <p:nvPr/>
        </p:nvSpPr>
        <p:spPr>
          <a:xfrm>
            <a:off x="310896" y="331012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37" name="Rectangle 3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Q2(a)  Eligible households in treatment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Three conditions at once: treatment, one round only, and eligible.</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M6</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a:t>
            </a:r>
          </a:p>
        </p:txBody>
      </p:sp>
      <p:sp>
        <p:nvSpPr>
          <p:cNvPr id="8" name="Oval 7"/>
          <p:cNvSpPr/>
          <p:nvPr/>
        </p:nvSpPr>
        <p:spPr>
          <a:xfrm>
            <a:off x="310896" y="223113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9" name="TextBox 8"/>
          <p:cNvSpPr txBox="1"/>
          <p:nvPr/>
        </p:nvSpPr>
        <p:spPr>
          <a:xfrm>
            <a:off x="640080" y="2199132"/>
            <a:ext cx="4791455" cy="248538"/>
          </a:xfrm>
          <a:prstGeom prst="rect">
            <a:avLst/>
          </a:prstGeom>
          <a:noFill/>
        </p:spPr>
        <p:txBody>
          <a:bodyPr wrap="square" lIns="0" tIns="0" bIns="0">
            <a:spAutoFit/>
          </a:bodyPr>
          <a:lstStyle/>
          <a:p>
            <a:pPr>
              <a:spcAft>
                <a:spcPts val="0"/>
              </a:spcAft>
              <a:buNone/>
            </a:pPr>
            <a:r>
              <a:rPr sz="1250" b="0" i="0">
                <a:solidFill>
                  <a:srgbClr val="212121"/>
                </a:solidFill>
              </a:rPr>
              <a:t>treatcom = 1 keeps the treatment locality</a:t>
            </a:r>
          </a:p>
        </p:txBody>
      </p:sp>
      <p:sp>
        <p:nvSpPr>
          <p:cNvPr id="10" name="Oval 9"/>
          <p:cNvSpPr/>
          <p:nvPr/>
        </p:nvSpPr>
        <p:spPr>
          <a:xfrm>
            <a:off x="310896" y="251625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1" name="TextBox 10"/>
          <p:cNvSpPr txBox="1"/>
          <p:nvPr/>
        </p:nvSpPr>
        <p:spPr>
          <a:xfrm>
            <a:off x="640080" y="2484246"/>
            <a:ext cx="4791455" cy="248538"/>
          </a:xfrm>
          <a:prstGeom prst="rect">
            <a:avLst/>
          </a:prstGeom>
          <a:noFill/>
        </p:spPr>
        <p:txBody>
          <a:bodyPr wrap="square" lIns="0" tIns="0" bIns="0">
            <a:spAutoFit/>
          </a:bodyPr>
          <a:lstStyle/>
          <a:p>
            <a:pPr>
              <a:spcAft>
                <a:spcPts val="0"/>
              </a:spcAft>
              <a:buNone/>
            </a:pPr>
            <a:r>
              <a:rPr sz="1250" b="0" i="0">
                <a:solidFill>
                  <a:srgbClr val="212121"/>
                </a:solidFill>
              </a:rPr>
              <a:t>round = 0 keeps one row per household</a:t>
            </a:r>
          </a:p>
        </p:txBody>
      </p:sp>
      <p:sp>
        <p:nvSpPr>
          <p:cNvPr id="12" name="Oval 11"/>
          <p:cNvSpPr/>
          <p:nvPr/>
        </p:nvSpPr>
        <p:spPr>
          <a:xfrm>
            <a:off x="310896" y="28013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3" name="TextBox 12"/>
          <p:cNvSpPr txBox="1"/>
          <p:nvPr/>
        </p:nvSpPr>
        <p:spPr>
          <a:xfrm>
            <a:off x="640080" y="2769361"/>
            <a:ext cx="4791455" cy="248538"/>
          </a:xfrm>
          <a:prstGeom prst="rect">
            <a:avLst/>
          </a:prstGeom>
          <a:noFill/>
        </p:spPr>
        <p:txBody>
          <a:bodyPr wrap="square" lIns="0" tIns="0" bIns="0">
            <a:spAutoFit/>
          </a:bodyPr>
          <a:lstStyle/>
          <a:p>
            <a:pPr>
              <a:spcAft>
                <a:spcPts val="0"/>
              </a:spcAft>
              <a:buNone/>
            </a:pPr>
            <a:r>
              <a:rPr sz="1250" b="0" i="0">
                <a:solidFill>
                  <a:srgbClr val="212121"/>
                </a:solidFill>
              </a:rPr>
              <a:t>eligible = 1 keeps the households below the threshold</a:t>
            </a:r>
          </a:p>
        </p:txBody>
      </p:sp>
      <p:sp>
        <p:nvSpPr>
          <p:cNvPr id="14" name="Rectangle 13"/>
          <p:cNvSpPr/>
          <p:nvPr/>
        </p:nvSpPr>
        <p:spPr>
          <a:xfrm>
            <a:off x="310896" y="352958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52958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60 households (120 observations) in the treatment locality are eligible.</a:t>
            </a: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Q2(b)  What fraction is that?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Divide by the treatment households you already counted in Question 1.</a:t>
            </a:r>
          </a:p>
        </p:txBody>
      </p:sp>
      <p:sp>
        <p:nvSpPr>
          <p:cNvPr id="6" name="Rounded Rectangle 5"/>
          <p:cNvSpPr/>
          <p:nvPr/>
        </p:nvSpPr>
        <p:spPr>
          <a:xfrm>
            <a:off x="310896" y="1773936"/>
            <a:ext cx="8522208" cy="1029906"/>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b="1">
                <a:solidFill>
                  <a:srgbClr val="007986"/>
                </a:solidFill>
                <a:latin typeface="Courier New"/>
              </a:rPr>
              <a:t>e</a:t>
            </a:r>
            <a:r>
              <a:rPr sz="1300" b="1">
                <a:solidFill>
                  <a:srgbClr val="007986"/>
                </a:solidFill>
                <a:latin typeface="Courier New"/>
              </a:rPr>
              <a:t>l</a:t>
            </a:r>
            <a:r>
              <a:rPr sz="1300" b="1">
                <a:solidFill>
                  <a:srgbClr val="007986"/>
                </a:solidFill>
                <a:latin typeface="Courier New"/>
              </a:rPr>
              <a:t>i</a:t>
            </a:r>
            <a:r>
              <a:rPr sz="1300" b="1">
                <a:solidFill>
                  <a:srgbClr val="007986"/>
                </a:solidFill>
                <a:latin typeface="Courier New"/>
              </a:rPr>
              <a:t>g</a:t>
            </a:r>
            <a:r>
              <a:rPr sz="1300" b="1">
                <a:solidFill>
                  <a:srgbClr val="007986"/>
                </a:solidFill>
                <a:latin typeface="Courier New"/>
              </a:rPr>
              <a:t>i</a:t>
            </a:r>
            <a:r>
              <a:rPr sz="1300" b="1">
                <a:solidFill>
                  <a:srgbClr val="007986"/>
                </a:solidFill>
                <a:latin typeface="Courier New"/>
              </a:rPr>
              <a:t>b</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120</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262</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650">
                <a:latin typeface="Courier New"/>
              </a:rPr>
              <a:t> </a:t>
            </a:r>
          </a:p>
          <a:p>
            <a:pPr algn="l">
              <a:spcAft>
                <a:spcPts val="0"/>
              </a:spcAft>
              <a:buNone/>
            </a:pP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0.458</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45.8</a:t>
            </a:r>
            <a:r>
              <a:rPr sz="1300">
                <a:solidFill>
                  <a:srgbClr val="1C272B"/>
                </a:solidFill>
                <a:latin typeface="Courier New"/>
              </a:rPr>
              <a:t>%</a:t>
            </a:r>
          </a:p>
        </p:txBody>
      </p:sp>
      <p:sp>
        <p:nvSpPr>
          <p:cNvPr id="7" name="Rectangle 6"/>
          <p:cNvSpPr/>
          <p:nvPr/>
        </p:nvSpPr>
        <p:spPr>
          <a:xfrm>
            <a:off x="310896" y="1828800"/>
            <a:ext cx="45720" cy="920178"/>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3182112"/>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3182112"/>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45.8% of treatment-locality households are eligible.</a:t>
            </a:r>
          </a:p>
        </p:txBody>
      </p:sp>
      <p:sp>
        <p:nvSpPr>
          <p:cNvPr id="11" name="TextBox 10"/>
          <p:cNvSpPr txBox="1"/>
          <p:nvPr/>
        </p:nvSpPr>
        <p:spPr>
          <a:xfrm>
            <a:off x="310896" y="3712463"/>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Dividing observations by observations gives the same answer — 120 / 262 = 45.8% — because the factor of two cancels. Mixing the two is what goes wrong.</a:t>
            </a:r>
          </a:p>
        </p:txBody>
      </p:sp>
      <p:sp>
        <p:nvSpPr>
          <p:cNvPr id="12" name="Rectangle 11"/>
          <p:cNvSpPr/>
          <p:nvPr/>
        </p:nvSpPr>
        <p:spPr>
          <a:xfrm>
            <a:off x="310896" y="3712463"/>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Work out (c) and (d) yourself: of the eligible treatment households, how many took up the programme, and what fraction is that?</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Q2(c)–(d)  Take-up</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Add takeup = 1 as a fourth condition.</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M8</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=COUNTIFS($E$2:$E$551,1,$B$2:$B$551,0,$K$2:$K$551,1,$J$2:$J$551,1)</a:t>
            </a:r>
          </a:p>
        </p:txBody>
      </p:sp>
      <p:sp>
        <p:nvSpPr>
          <p:cNvPr id="8" name="Rounded Rectangle 7"/>
          <p:cNvSpPr/>
          <p:nvPr/>
        </p:nvSpPr>
        <p:spPr>
          <a:xfrm>
            <a:off x="310896" y="2212848"/>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o</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o</a:t>
            </a:r>
            <a:r>
              <a:rPr sz="1250" b="1">
                <a:solidFill>
                  <a:srgbClr val="007986"/>
                </a:solidFill>
                <a:latin typeface="Courier New"/>
              </a:rPr>
              <a:t>o</a:t>
            </a:r>
            <a:r>
              <a:rPr sz="1250" b="1">
                <a:solidFill>
                  <a:srgbClr val="007986"/>
                </a:solidFill>
                <a:latin typeface="Courier New"/>
              </a:rPr>
              <a:t>k</a:t>
            </a:r>
            <a:r>
              <a:rPr sz="1250">
                <a:solidFill>
                  <a:srgbClr val="1C272B"/>
                </a:solidFill>
                <a:latin typeface="Courier New"/>
              </a:rPr>
              <a:t> </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118</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120</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625">
                <a:latin typeface="Courier New"/>
              </a:rPr>
              <a:t> </a:t>
            </a:r>
          </a:p>
          <a:p>
            <a:pPr algn="l">
              <a:spcAft>
                <a:spcPts val="0"/>
              </a:spcAft>
              <a:buNone/>
            </a:pP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0.983</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98.3</a:t>
            </a:r>
            <a:r>
              <a:rPr sz="1250">
                <a:solidFill>
                  <a:srgbClr val="1C272B"/>
                </a:solidFill>
                <a:latin typeface="Courier New"/>
              </a:rPr>
              <a:t>%</a:t>
            </a:r>
          </a:p>
        </p:txBody>
      </p:sp>
      <p:sp>
        <p:nvSpPr>
          <p:cNvPr id="9" name="Rectangle 8"/>
          <p:cNvSpPr/>
          <p:nvPr/>
        </p:nvSpPr>
        <p:spPr>
          <a:xfrm>
            <a:off x="310896" y="2267712"/>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ZCHIP"/>
          <p:cNvSpPr txBox="1"/>
          <p:nvPr/>
        </p:nvSpPr>
        <p:spPr>
          <a:xfrm>
            <a:off x="8119872" y="22768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1" name="Rectangle 10"/>
          <p:cNvSpPr/>
          <p:nvPr/>
        </p:nvSpPr>
        <p:spPr>
          <a:xfrm>
            <a:off x="310896" y="3602736"/>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2" name="Rectangle 11"/>
          <p:cNvSpPr/>
          <p:nvPr/>
        </p:nvSpPr>
        <p:spPr>
          <a:xfrm>
            <a:off x="1271016" y="3602736"/>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59 of the 60 eligible households participated — a take-up rate of 98.3%.</a:t>
            </a: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3 and 4</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Comparing treatment and control at baseline.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5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3</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 four-row table, with a treatment column and a control column.</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On the Results sheet, set up headings: Variable, Treatment, Control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List the four variables down column A</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Use AVERAGEIFS: it averages one column subject to conditions on others</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Lock the condition ranges with $ so you can fill the formula across</a:t>
            </a:r>
          </a:p>
        </p:txBody>
      </p:sp>
      <p:sp>
        <p:nvSpPr>
          <p:cNvPr id="14" name="Rounded Rectangle 13"/>
          <p:cNvSpPr/>
          <p:nvPr/>
        </p:nvSpPr>
        <p:spPr>
          <a:xfrm>
            <a:off x="310896" y="3218688"/>
            <a:ext cx="8522208" cy="85496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15" name="Rectangle 14"/>
          <p:cNvSpPr/>
          <p:nvPr/>
        </p:nvSpPr>
        <p:spPr>
          <a:xfrm>
            <a:off x="310896" y="3273552"/>
            <a:ext cx="45720" cy="74523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CHIP"/>
          <p:cNvSpPr txBox="1"/>
          <p:nvPr/>
        </p:nvSpPr>
        <p:spPr>
          <a:xfrm>
            <a:off x="8119872" y="328269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7" name="TextBox 16"/>
          <p:cNvSpPr txBox="1"/>
          <p:nvPr/>
        </p:nvSpPr>
        <p:spPr>
          <a:xfrm>
            <a:off x="310896" y="4078224"/>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Average column D where round = 0 and treatcom = 1. Change the 1 to a 0 for control.</a:t>
            </a:r>
          </a:p>
        </p:txBody>
      </p:sp>
      <p:sp>
        <p:nvSpPr>
          <p:cNvPr id="18" name="Rectangle 17"/>
          <p:cNvSpPr/>
          <p:nvPr/>
        </p:nvSpPr>
        <p:spPr>
          <a:xfrm>
            <a:off x="310896" y="4078224"/>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Q3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all households.</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71.50</a:t>
                      </a:r>
                    </a:p>
                  </a:txBody>
                  <a:tcPr marL="73152" marR="54864" marT="27432" marB="27432" anchor="ctr">
                    <a:solidFill>
                      <a:srgbClr val="FFFFFF"/>
                    </a:solidFill>
                  </a:tcPr>
                </a:tc>
                <a:tc>
                  <a:txBody>
                    <a:bodyPr wrap="square"/>
                    <a:lstStyle/>
                    <a:p>
                      <a:pPr>
                        <a:spcAft>
                          <a:spcPts val="0"/>
                        </a:spcAft>
                      </a:pPr>
                      <a:r>
                        <a:rPr sz="1300">
                          <a:solidFill>
                            <a:srgbClr val="1C272B"/>
                          </a:solidFill>
                        </a:rPr>
                        <a:t>66.49</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3.44</a:t>
                      </a:r>
                    </a:p>
                  </a:txBody>
                  <a:tcPr marL="73152" marR="54864" marT="27432" marB="27432" anchor="ctr">
                    <a:solidFill>
                      <a:srgbClr val="F7F9FA"/>
                    </a:solidFill>
                  </a:tcPr>
                </a:tc>
                <a:tc>
                  <a:txBody>
                    <a:bodyPr wrap="square"/>
                    <a:lstStyle/>
                    <a:p>
                      <a:pPr>
                        <a:spcAft>
                          <a:spcPts val="0"/>
                        </a:spcAft>
                      </a:pPr>
                      <a:r>
                        <a:rPr sz="1300">
                          <a:solidFill>
                            <a:srgbClr val="1C272B"/>
                          </a:solidFill>
                        </a:rPr>
                        <a:t>2.98</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4.93</a:t>
                      </a:r>
                    </a:p>
                  </a:txBody>
                  <a:tcPr marL="73152" marR="54864" marT="27432" marB="27432" anchor="ctr">
                    <a:solidFill>
                      <a:srgbClr val="FFFFFF"/>
                    </a:solidFill>
                  </a:tcPr>
                </a:tc>
                <a:tc>
                  <a:txBody>
                    <a:bodyPr wrap="square"/>
                    <a:lstStyle/>
                    <a:p>
                      <a:pPr>
                        <a:spcAft>
                          <a:spcPts val="0"/>
                        </a:spcAft>
                      </a:pPr>
                      <a:r>
                        <a:rPr sz="1300">
                          <a:solidFill>
                            <a:srgbClr val="1C272B"/>
                          </a:solidFill>
                        </a:rPr>
                        <a:t>5.91</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782.27</a:t>
                      </a:r>
                    </a:p>
                  </a:txBody>
                  <a:tcPr marL="73152" marR="54864" marT="27432" marB="27432" anchor="ctr">
                    <a:solidFill>
                      <a:srgbClr val="F7F9FA"/>
                    </a:solidFill>
                  </a:tcPr>
                </a:tc>
                <a:tc>
                  <a:txBody>
                    <a:bodyPr wrap="square"/>
                    <a:lstStyle/>
                    <a:p>
                      <a:pPr>
                        <a:spcAft>
                          <a:spcPts val="0"/>
                        </a:spcAft>
                      </a:pPr>
                      <a:r>
                        <a:rPr sz="1300">
                          <a:solidFill>
                            <a:srgbClr val="1C272B"/>
                          </a:solidFill>
                        </a:rPr>
                        <a:t>763.29</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131</a:t>
                      </a:r>
                    </a:p>
                  </a:txBody>
                  <a:tcPr marL="73152" marR="54864" marT="27432" marB="27432" anchor="ctr">
                    <a:solidFill>
                      <a:srgbClr val="FFFFFF"/>
                    </a:solidFill>
                  </a:tcPr>
                </a:tc>
                <a:tc>
                  <a:txBody>
                    <a:bodyPr wrap="square"/>
                    <a:lstStyle/>
                    <a:p>
                      <a:pPr>
                        <a:spcAft>
                          <a:spcPts val="0"/>
                        </a:spcAft>
                      </a:pPr>
                      <a:r>
                        <a:rPr sz="1300">
                          <a:solidFill>
                            <a:srgbClr val="1C272B"/>
                          </a:solidFill>
                        </a:rPr>
                        <a:t>144</a:t>
                      </a:r>
                    </a:p>
                  </a:txBody>
                  <a:tcPr marL="73152" marR="54864" marT="27432" marB="27432" anchor="ctr">
                    <a:solidFill>
                      <a:srgbClr val="FFFFFF"/>
                    </a:solidFill>
                  </a:tcPr>
                </a:tc>
              </a:tr>
            </a:tbl>
          </a:graphicData>
        </a:graphic>
      </p:graphicFrame>
      <p:sp>
        <p:nvSpPr>
          <p:cNvPr id="7" name="TextBox 6"/>
          <p:cNvSpPr txBox="1"/>
          <p:nvPr/>
        </p:nvSpPr>
        <p:spPr>
          <a:xfrm>
            <a:off x="310896" y="402336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Always report the number of households the averages rest on. A mean without an n cannot be judged.</a:t>
            </a:r>
          </a:p>
        </p:txBody>
      </p:sp>
      <p:sp>
        <p:nvSpPr>
          <p:cNvPr id="8" name="Rectangle 7"/>
          <p:cNvSpPr/>
          <p:nvPr/>
        </p:nvSpPr>
        <p:spPr>
          <a:xfrm>
            <a:off x="310896" y="402336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4</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The same table, with one extra condition.</a:t>
            </a:r>
          </a:p>
        </p:txBody>
      </p:sp>
      <p:sp>
        <p:nvSpPr>
          <p:cNvPr id="6" name="Rounded Rectangle 5"/>
          <p:cNvSpPr/>
          <p:nvPr/>
        </p:nvSpPr>
        <p:spPr>
          <a:xfrm>
            <a:off x="310896" y="1755648"/>
            <a:ext cx="8522208" cy="107594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e</a:t>
            </a:r>
            <a:r>
              <a:rPr sz="1200" b="1">
                <a:solidFill>
                  <a:srgbClr val="007986"/>
                </a:solidFill>
                <a:latin typeface="Courier New"/>
              </a:rPr>
              <a:t>l</a:t>
            </a:r>
            <a:r>
              <a:rPr sz="1200" b="1">
                <a:solidFill>
                  <a:srgbClr val="007986"/>
                </a:solidFill>
                <a:latin typeface="Courier New"/>
              </a:rPr>
              <a:t>i</a:t>
            </a:r>
            <a:r>
              <a:rPr sz="1200" b="1">
                <a:solidFill>
                  <a:srgbClr val="007986"/>
                </a:solidFill>
                <a:latin typeface="Courier New"/>
              </a:rPr>
              <a:t>g</a:t>
            </a:r>
            <a:r>
              <a:rPr sz="1200" b="1">
                <a:solidFill>
                  <a:srgbClr val="007986"/>
                </a:solidFill>
                <a:latin typeface="Courier New"/>
              </a:rPr>
              <a:t>i</a:t>
            </a:r>
            <a:r>
              <a:rPr sz="1200" b="1">
                <a:solidFill>
                  <a:srgbClr val="007986"/>
                </a:solidFill>
                <a:latin typeface="Courier New"/>
              </a:rPr>
              <a:t>b</a:t>
            </a:r>
            <a:r>
              <a:rPr sz="1200" b="1">
                <a:solidFill>
                  <a:srgbClr val="007986"/>
                </a:solidFill>
                <a:latin typeface="Courier New"/>
              </a:rPr>
              <a:t>l</a:t>
            </a:r>
            <a:r>
              <a:rPr sz="1200" b="1">
                <a:solidFill>
                  <a:srgbClr val="007986"/>
                </a:solidFill>
                <a:latin typeface="Courier New"/>
              </a:rPr>
              <a:t>e</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7" name="Rectangle 6"/>
          <p:cNvSpPr/>
          <p:nvPr/>
        </p:nvSpPr>
        <p:spPr>
          <a:xfrm>
            <a:off x="310896" y="1810512"/>
            <a:ext cx="45720" cy="96621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017520"/>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only change from Question 3 is the final pair of arguments: eligible = 1. Copy the Q3 block and add the condition.</a:t>
            </a:r>
          </a:p>
        </p:txBody>
      </p:sp>
      <p:sp>
        <p:nvSpPr>
          <p:cNvPr id="10" name="Rectangle 9"/>
          <p:cNvSpPr/>
          <p:nvPr/>
        </p:nvSpPr>
        <p:spPr>
          <a:xfrm>
            <a:off x="310896" y="3017520"/>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Build the Question 4 table yourself, restricted to eligible households.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Q4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eligible households only.</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60.13</a:t>
                      </a:r>
                    </a:p>
                  </a:txBody>
                  <a:tcPr marL="73152" marR="54864" marT="27432" marB="27432" anchor="ctr">
                    <a:solidFill>
                      <a:srgbClr val="FFFFFF"/>
                    </a:solidFill>
                  </a:tcPr>
                </a:tc>
                <a:tc>
                  <a:txBody>
                    <a:bodyPr wrap="square"/>
                    <a:lstStyle/>
                    <a:p>
                      <a:pPr>
                        <a:spcAft>
                          <a:spcPts val="0"/>
                        </a:spcAft>
                      </a:pPr>
                      <a:r>
                        <a:rPr sz="1300">
                          <a:solidFill>
                            <a:srgbClr val="1C272B"/>
                          </a:solidFill>
                        </a:rPr>
                        <a:t>61.75</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4.27</a:t>
                      </a:r>
                    </a:p>
                  </a:txBody>
                  <a:tcPr marL="73152" marR="54864" marT="27432" marB="27432" anchor="ctr">
                    <a:solidFill>
                      <a:srgbClr val="F7F9FA"/>
                    </a:solidFill>
                  </a:tcPr>
                </a:tc>
                <a:tc>
                  <a:txBody>
                    <a:bodyPr wrap="square"/>
                    <a:lstStyle/>
                    <a:p>
                      <a:pPr>
                        <a:spcAft>
                          <a:spcPts val="0"/>
                        </a:spcAft>
                      </a:pPr>
                      <a:r>
                        <a:rPr sz="1300">
                          <a:solidFill>
                            <a:srgbClr val="1C272B"/>
                          </a:solidFill>
                        </a:rPr>
                        <a:t>3.47</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5.57</a:t>
                      </a:r>
                    </a:p>
                  </a:txBody>
                  <a:tcPr marL="73152" marR="54864" marT="27432" marB="27432" anchor="ctr">
                    <a:solidFill>
                      <a:srgbClr val="FFFFFF"/>
                    </a:solidFill>
                  </a:tcPr>
                </a:tc>
                <a:tc>
                  <a:txBody>
                    <a:bodyPr wrap="square"/>
                    <a:lstStyle/>
                    <a:p>
                      <a:pPr>
                        <a:spcAft>
                          <a:spcPts val="0"/>
                        </a:spcAft>
                      </a:pPr>
                      <a:r>
                        <a:rPr sz="1300">
                          <a:solidFill>
                            <a:srgbClr val="1C272B"/>
                          </a:solidFill>
                        </a:rPr>
                        <a:t>5.86</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672.12</a:t>
                      </a:r>
                    </a:p>
                  </a:txBody>
                  <a:tcPr marL="73152" marR="54864" marT="27432" marB="27432" anchor="ctr">
                    <a:solidFill>
                      <a:srgbClr val="F7F9FA"/>
                    </a:solidFill>
                  </a:tcPr>
                </a:tc>
                <a:tc>
                  <a:txBody>
                    <a:bodyPr wrap="square"/>
                    <a:lstStyle/>
                    <a:p>
                      <a:pPr>
                        <a:spcAft>
                          <a:spcPts val="0"/>
                        </a:spcAft>
                      </a:pPr>
                      <a:r>
                        <a:rPr sz="1300">
                          <a:solidFill>
                            <a:srgbClr val="1C272B"/>
                          </a:solidFill>
                        </a:rPr>
                        <a:t>659.61</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60</a:t>
                      </a:r>
                    </a:p>
                  </a:txBody>
                  <a:tcPr marL="73152" marR="54864" marT="27432" marB="27432" anchor="ctr">
                    <a:solidFill>
                      <a:srgbClr val="FFFFFF"/>
                    </a:solidFill>
                  </a:tcPr>
                </a:tc>
                <a:tc>
                  <a:txBody>
                    <a:bodyPr wrap="square"/>
                    <a:lstStyle/>
                    <a:p>
                      <a:pPr>
                        <a:spcAft>
                          <a:spcPts val="0"/>
                        </a:spcAft>
                      </a:pPr>
                      <a:r>
                        <a:rPr sz="1300">
                          <a:solidFill>
                            <a:srgbClr val="1C272B"/>
                          </a:solidFill>
                        </a:rPr>
                        <a:t>70</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Restricting to eligible households pulls both poverty indices down by ~100 points.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5 and 6</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Seeing a relationship, then measuring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6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5  Making the scatter plot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Baseline only, poverty index against health expenditure.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Clear any filters and sorting still in place</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Filter round to 0 — you should be left with 275 rows</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Select column I (pscore), then hold Ctrl/Cmd and select column D (hhe)</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Insert → Charts → Scatter, and pick the plain markers option</a:t>
            </a:r>
          </a:p>
        </p:txBody>
      </p:sp>
      <p:sp>
        <p:nvSpPr>
          <p:cNvPr id="14" name="Oval 13"/>
          <p:cNvSpPr/>
          <p:nvPr/>
        </p:nvSpPr>
        <p:spPr>
          <a:xfrm>
            <a:off x="310896" y="290880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5</a:t>
            </a:r>
          </a:p>
        </p:txBody>
      </p:sp>
      <p:sp>
        <p:nvSpPr>
          <p:cNvPr id="15" name="TextBox 14"/>
          <p:cNvSpPr txBox="1"/>
          <p:nvPr/>
        </p:nvSpPr>
        <p:spPr>
          <a:xfrm>
            <a:off x="640080" y="2876803"/>
            <a:ext cx="7900416" cy="256285"/>
          </a:xfrm>
          <a:prstGeom prst="rect">
            <a:avLst/>
          </a:prstGeom>
          <a:noFill/>
        </p:spPr>
        <p:txBody>
          <a:bodyPr wrap="square" lIns="0" tIns="0" bIns="0">
            <a:spAutoFit/>
          </a:bodyPr>
          <a:lstStyle/>
          <a:p>
            <a:pPr>
              <a:spcAft>
                <a:spcPts val="0"/>
              </a:spcAft>
              <a:buNone/>
            </a:pPr>
            <a:r>
              <a:rPr sz="1300" b="0" i="0">
                <a:solidFill>
                  <a:srgbClr val="212121"/>
                </a:solidFill>
              </a:rPr>
              <a:t>Add axis titles: Chart Design → Add Chart Element → Axis Titles</a:t>
            </a:r>
          </a:p>
        </p:txBody>
      </p:sp>
      <p:sp>
        <p:nvSpPr>
          <p:cNvPr id="16" name="TextBox 15"/>
          <p:cNvSpPr txBox="1"/>
          <p:nvPr/>
        </p:nvSpPr>
        <p:spPr>
          <a:xfrm>
            <a:off x="640080" y="3165093"/>
            <a:ext cx="7900416" cy="225298"/>
          </a:xfrm>
          <a:prstGeom prst="rect">
            <a:avLst/>
          </a:prstGeom>
          <a:noFill/>
        </p:spPr>
        <p:txBody>
          <a:bodyPr wrap="square" lIns="0" tIns="0" bIns="0">
            <a:spAutoFit/>
          </a:bodyPr>
          <a:lstStyle/>
          <a:p>
            <a:pPr>
              <a:spcAft>
                <a:spcPts val="0"/>
              </a:spcAft>
              <a:buNone/>
            </a:pPr>
            <a:r>
              <a:rPr sz="1100" b="0" i="1">
                <a:solidFill>
                  <a:srgbClr val="37474F"/>
                </a:solidFill>
              </a:rPr>
              <a:t>an unlabelled chart is not a finished answer</a:t>
            </a:r>
          </a:p>
        </p:txBody>
      </p:sp>
      <p:sp>
        <p:nvSpPr>
          <p:cNvPr id="17" name="TextBox 16"/>
          <p:cNvSpPr txBox="1"/>
          <p:nvPr/>
        </p:nvSpPr>
        <p:spPr>
          <a:xfrm>
            <a:off x="310896" y="3785615"/>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Excel puts the first selected column on the x-axis. Select pscore first so the poverty index ends up horizontal.</a:t>
            </a:r>
          </a:p>
        </p:txBody>
      </p:sp>
      <p:sp>
        <p:nvSpPr>
          <p:cNvPr id="18" name="Rectangle 17"/>
          <p:cNvSpPr/>
          <p:nvPr/>
        </p:nvSpPr>
        <p:spPr>
          <a:xfrm>
            <a:off x="310896" y="3785615"/>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Q5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5_scatter.png"/>
          <p:cNvPicPr>
            <a:picLocks noChangeAspect="1"/>
          </p:cNvPicPr>
          <p:nvPr/>
        </p:nvPicPr>
        <p:blipFill>
          <a:blip r:embed="rId2"/>
          <a:stretch>
            <a:fillRect/>
          </a:stretch>
        </p:blipFill>
        <p:spPr>
          <a:xfrm>
            <a:off x="310896" y="1298448"/>
            <a:ext cx="5029200" cy="3008923"/>
          </a:xfrm>
          <a:prstGeom prst="rect">
            <a:avLst/>
          </a:prstGeom>
        </p:spPr>
      </p:pic>
      <p:sp>
        <p:nvSpPr>
          <p:cNvPr id="6" name="TextBox 5"/>
          <p:cNvSpPr txBox="1"/>
          <p:nvPr/>
        </p:nvSpPr>
        <p:spPr>
          <a:xfrm>
            <a:off x="5577840" y="1371600"/>
            <a:ext cx="3255264" cy="1073912"/>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What it shows</a:t>
            </a:r>
          </a:p>
          <a:p>
            <a:pPr>
              <a:spcAft>
                <a:spcPts val="0"/>
              </a:spcAft>
            </a:pPr>
            <a:r>
              <a:rPr sz="1400" b="0" i="0">
                <a:solidFill>
                  <a:srgbClr val="212121"/>
                </a:solidFill>
              </a:rPr>
              <a:t>The cloud slopes upward: households with a higher poverty index spend more on health at baseline.</a:t>
            </a:r>
          </a:p>
        </p:txBody>
      </p:sp>
      <p:sp>
        <p:nvSpPr>
          <p:cNvPr id="7" name="Rectangle 6"/>
          <p:cNvSpPr/>
          <p:nvPr/>
        </p:nvSpPr>
        <p:spPr>
          <a:xfrm>
            <a:off x="5577840" y="1371600"/>
            <a:ext cx="50292" cy="107391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2542032"/>
            <a:ext cx="32552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the sign carefully</a:t>
            </a:r>
          </a:p>
          <a:p>
            <a:pPr>
              <a:spcAft>
                <a:spcPts val="0"/>
              </a:spcAft>
            </a:pPr>
            <a:r>
              <a:rPr sz="1400" b="0" i="0">
                <a:solidFill>
                  <a:srgbClr val="212121"/>
                </a:solidFill>
              </a:rPr>
              <a:t>Remember the direction of the index. A higher pscore means a poorer household, so poorer households are spending more, not less.</a:t>
            </a:r>
          </a:p>
        </p:txBody>
      </p:sp>
      <p:sp>
        <p:nvSpPr>
          <p:cNvPr id="9" name="Rectangle 8"/>
          <p:cNvSpPr/>
          <p:nvPr/>
        </p:nvSpPr>
        <p:spPr>
          <a:xfrm>
            <a:off x="5577840" y="254203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0" y="3858768"/>
            <a:ext cx="3255264"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Paste the chart into your write-up as an image.</a:t>
            </a:r>
          </a:p>
        </p:txBody>
      </p:sp>
      <p:sp>
        <p:nvSpPr>
          <p:cNvPr id="11" name="Rectangle 10"/>
          <p:cNvSpPr/>
          <p:nvPr/>
        </p:nvSpPr>
        <p:spPr>
          <a:xfrm>
            <a:off x="5577840" y="385876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3" name="Rectangle 1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6  Correlation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6. Calculate the correlation between household health expenditure and education of the household head at baseline.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CORREL has no “IFS” version, so restrict the data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608576" cy="248538"/>
          </a:xfrm>
          <a:prstGeom prst="rect">
            <a:avLst/>
          </a:prstGeom>
          <a:noFill/>
        </p:spPr>
        <p:txBody>
          <a:bodyPr wrap="square" lIns="0" tIns="0" bIns="0">
            <a:spAutoFit/>
          </a:bodyPr>
          <a:lstStyle/>
          <a:p>
            <a:pPr>
              <a:spcAft>
                <a:spcPts val="0"/>
              </a:spcAft>
              <a:buNone/>
            </a:pPr>
            <a:r>
              <a:rPr sz="1250" b="0" i="0">
                <a:solidFill>
                  <a:srgbClr val="212121"/>
                </a:solidFill>
              </a:rPr>
              <a:t>Filter to round = 0, then copy the visible rows onto a new sheet</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4608576" cy="248538"/>
          </a:xfrm>
          <a:prstGeom prst="rect">
            <a:avLst/>
          </a:prstGeom>
          <a:noFill/>
        </p:spPr>
        <p:txBody>
          <a:bodyPr wrap="square" lIns="0" tIns="0" bIns="0">
            <a:spAutoFit/>
          </a:bodyPr>
          <a:lstStyle/>
          <a:p>
            <a:pPr>
              <a:spcAft>
                <a:spcPts val="0"/>
              </a:spcAft>
              <a:buNone/>
            </a:pPr>
            <a:r>
              <a:rPr sz="1250" b="0" i="0">
                <a:solidFill>
                  <a:srgbClr val="212121"/>
                </a:solidFill>
              </a:rPr>
              <a:t>You now have 275 rows: 2 to 276</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4608576" cy="248538"/>
          </a:xfrm>
          <a:prstGeom prst="rect">
            <a:avLst/>
          </a:prstGeom>
          <a:noFill/>
        </p:spPr>
        <p:txBody>
          <a:bodyPr wrap="square" lIns="0" tIns="0" bIns="0">
            <a:spAutoFit/>
          </a:bodyPr>
          <a:lstStyle/>
          <a:p>
            <a:pPr>
              <a:spcAft>
                <a:spcPts val="0"/>
              </a:spcAft>
              <a:buNone/>
            </a:pPr>
            <a:r>
              <a:rPr sz="1250" b="0" i="0">
                <a:solidFill>
                  <a:srgbClr val="212121"/>
                </a:solidFill>
              </a:rPr>
              <a:t>Point CORREL at the two columns you want</a:t>
            </a:r>
          </a:p>
        </p:txBody>
      </p:sp>
      <p:sp>
        <p:nvSpPr>
          <p:cNvPr id="12" name="Rectangle 11"/>
          <p:cNvSpPr/>
          <p:nvPr/>
        </p:nvSpPr>
        <p:spPr>
          <a:xfrm>
            <a:off x="310896" y="279806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3" name="Rectangle 12"/>
          <p:cNvSpPr/>
          <p:nvPr/>
        </p:nvSpPr>
        <p:spPr>
          <a:xfrm>
            <a:off x="1097280" y="279806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=CORREL(D2:D276, G2:G276)</a:t>
            </a:r>
          </a:p>
        </p:txBody>
      </p:sp>
      <p:sp>
        <p:nvSpPr>
          <p:cNvPr id="14" name="Rectangle 13"/>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−0.099. The correlation is negative, and very weak.</a:t>
            </a:r>
          </a:p>
        </p:txBody>
      </p:sp>
      <p:sp>
        <p:nvSpPr>
          <p:cNvPr id="16" name="TextBox 15"/>
          <p:cNvSpPr txBox="1"/>
          <p:nvPr/>
        </p:nvSpPr>
        <p:spPr>
          <a:xfrm>
            <a:off x="310896" y="3675887"/>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easiest mistake on this sheet</a:t>
            </a:r>
          </a:p>
          <a:p>
            <a:pPr>
              <a:spcAft>
                <a:spcPts val="0"/>
              </a:spcAft>
            </a:pPr>
            <a:r>
              <a:rPr sz="1400" b="0" i="0">
                <a:solidFill>
                  <a:srgbClr val="212121"/>
                </a:solidFill>
              </a:rPr>
              <a:t>D is hhe and G is educhh. Point at I by mistake and you get +0.469 — the correlation with the poverty index, not education.</a:t>
            </a:r>
          </a:p>
        </p:txBody>
      </p:sp>
      <p:sp>
        <p:nvSpPr>
          <p:cNvPr id="17" name="Rectangle 16"/>
          <p:cNvSpPr/>
          <p:nvPr/>
        </p:nvSpPr>
        <p:spPr>
          <a:xfrm>
            <a:off x="310896" y="3675887"/>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9" name="Rectangle 1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7 and 8</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Estimating the programme's impact with regression.</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7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7  What regression does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Fit a straight line through the data by least squares.</a:t>
            </a:r>
          </a:p>
        </p:txBody>
      </p:sp>
      <p:sp>
        <p:nvSpPr>
          <p:cNvPr id="6" name="Rounded Rectangle 5"/>
          <p:cNvSpPr/>
          <p:nvPr/>
        </p:nvSpPr>
        <p:spPr>
          <a:xfrm>
            <a:off x="310896" y="1755648"/>
            <a:ext cx="8522208" cy="1458055"/>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b</a:t>
            </a:r>
            <a:r>
              <a:rPr sz="1250">
                <a:solidFill>
                  <a:srgbClr val="1C272B"/>
                </a:solidFill>
                <a:latin typeface="Courier New"/>
              </a:rPr>
              <a:t>·</a:t>
            </a:r>
            <a:r>
              <a:rPr sz="1250" b="1">
                <a:solidFill>
                  <a:srgbClr val="007986"/>
                </a:solidFill>
                <a:latin typeface="Courier New"/>
              </a:rPr>
              <a:t>x</a:t>
            </a:r>
          </a:p>
          <a:p>
            <a:pPr algn="l">
              <a:spcAft>
                <a:spcPts val="0"/>
              </a:spcAft>
              <a:buNone/>
            </a:pPr>
            <a:r>
              <a:rPr sz="625">
                <a:latin typeface="Courier New"/>
              </a:rPr>
              <a:t> </a:t>
            </a:r>
          </a:p>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y</a:t>
            </a:r>
            <a:r>
              <a:rPr sz="1250" b="1">
                <a:solidFill>
                  <a:srgbClr val="007986"/>
                </a:solidFill>
                <a:latin typeface="Courier New"/>
              </a:rPr>
              <a:t>o</a:t>
            </a:r>
            <a:r>
              <a:rPr sz="1250" b="1">
                <a:solidFill>
                  <a:srgbClr val="007986"/>
                </a:solidFill>
                <a:latin typeface="Courier New"/>
              </a:rPr>
              <a:t>u</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h</a:t>
            </a:r>
            <a:r>
              <a:rPr sz="1250" b="1">
                <a:solidFill>
                  <a:srgbClr val="007986"/>
                </a:solidFill>
                <a:latin typeface="Courier New"/>
              </a:rPr>
              <a:t>e</a:t>
            </a:r>
          </a:p>
          <a:p>
            <a:pPr algn="l">
              <a:spcAft>
                <a:spcPts val="0"/>
              </a:spcAft>
              <a:buNone/>
            </a:pPr>
            <a:r>
              <a:rPr sz="1250" b="1">
                <a:solidFill>
                  <a:srgbClr val="007986"/>
                </a:solidFill>
                <a:latin typeface="Courier New"/>
              </a:rPr>
              <a:t>x</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a</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d</a:t>
            </a:r>
            <a:r>
              <a:rPr sz="1250" b="1">
                <a:solidFill>
                  <a:srgbClr val="007986"/>
                </a:solidFill>
                <a:latin typeface="Courier New"/>
              </a:rPr>
              <a:t>o</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p>
          <a:p>
            <a:pPr algn="l">
              <a:spcAft>
                <a:spcPts val="0"/>
              </a:spcAft>
              <a:buNone/>
            </a:pP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z</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o</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l</a:t>
            </a:r>
            <a:r>
              <a:rPr sz="1250">
                <a:solidFill>
                  <a:srgbClr val="1C272B"/>
                </a:solidFill>
                <a:latin typeface="Courier New"/>
              </a:rPr>
              <a:t>-</a:t>
            </a:r>
            <a:r>
              <a:rPr sz="1250" b="1">
                <a:solidFill>
                  <a:srgbClr val="007986"/>
                </a:solidFill>
                <a:latin typeface="Courier New"/>
              </a:rPr>
              <a:t>g</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a</a:t>
            </a:r>
            <a:r>
              <a:rPr sz="1250" b="1">
                <a:solidFill>
                  <a:srgbClr val="007986"/>
                </a:solidFill>
                <a:latin typeface="Courier New"/>
              </a:rPr>
              <a:t>g</a:t>
            </a:r>
            <a:r>
              <a:rPr sz="1250" b="1">
                <a:solidFill>
                  <a:srgbClr val="007986"/>
                </a:solidFill>
                <a:latin typeface="Courier New"/>
              </a:rPr>
              <a:t>e</a:t>
            </a:r>
          </a:p>
          <a:p>
            <a:pPr algn="l">
              <a:spcAft>
                <a:spcPts val="0"/>
              </a:spcAft>
              <a:buNone/>
            </a:pPr>
            <a:r>
              <a:rPr sz="1250" b="1">
                <a:solidFill>
                  <a:srgbClr val="007986"/>
                </a:solidFill>
                <a:latin typeface="Courier New"/>
              </a:rPr>
              <a:t>b</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l</a:t>
            </a:r>
            <a:r>
              <a:rPr sz="1250" b="1">
                <a:solidFill>
                  <a:srgbClr val="007986"/>
                </a:solidFill>
                <a:latin typeface="Courier New"/>
              </a:rPr>
              <a:t>o</a:t>
            </a:r>
            <a:r>
              <a:rPr sz="1250" b="1">
                <a:solidFill>
                  <a:srgbClr val="007986"/>
                </a:solidFill>
                <a:latin typeface="Courier New"/>
              </a:rPr>
              <a:t>p</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w</a:t>
            </a:r>
            <a:r>
              <a:rPr sz="1250">
                <a:solidFill>
                  <a:srgbClr val="1C272B"/>
                </a:solidFill>
                <a:latin typeface="Courier New"/>
              </a:rPr>
              <a:t> </a:t>
            </a:r>
            <a:r>
              <a:rPr sz="1250" b="1">
                <a:solidFill>
                  <a:srgbClr val="007986"/>
                </a:solidFill>
                <a:latin typeface="Courier New"/>
              </a:rPr>
              <a:t>m</a:t>
            </a:r>
            <a:r>
              <a:rPr sz="1250" b="1">
                <a:solidFill>
                  <a:srgbClr val="007986"/>
                </a:solidFill>
                <a:latin typeface="Courier New"/>
              </a:rPr>
              <a:t>u</a:t>
            </a:r>
            <a:r>
              <a:rPr sz="1250" b="1">
                <a:solidFill>
                  <a:srgbClr val="007986"/>
                </a:solidFill>
                <a:latin typeface="Courier New"/>
              </a:rPr>
              <a:t>c</a:t>
            </a:r>
            <a:r>
              <a:rPr sz="1250" b="1">
                <a:solidFill>
                  <a:srgbClr val="007986"/>
                </a:solidFill>
                <a:latin typeface="Courier New"/>
              </a:rPr>
              <a:t>h</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h</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g</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b</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e</a:t>
            </a:r>
          </a:p>
        </p:txBody>
      </p:sp>
      <p:sp>
        <p:nvSpPr>
          <p:cNvPr id="7" name="Rectangle 6"/>
          <p:cNvSpPr/>
          <p:nvPr/>
        </p:nvSpPr>
        <p:spPr>
          <a:xfrm>
            <a:off x="310896" y="1810512"/>
            <a:ext cx="45720" cy="1348327"/>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40156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Why a dummy makes this easy</a:t>
            </a:r>
          </a:p>
          <a:p>
            <a:pPr>
              <a:spcAft>
                <a:spcPts val="0"/>
              </a:spcAft>
            </a:pPr>
            <a:r>
              <a:rPr sz="1400" b="0" i="0">
                <a:solidFill>
                  <a:srgbClr val="212121"/>
                </a:solidFill>
              </a:rPr>
              <a:t>Because treatcom is 0 or 1, the slope b is simply the difference in average health expenditure between the treatment and control localities.</a:t>
            </a:r>
          </a:p>
        </p:txBody>
      </p:sp>
      <p:sp>
        <p:nvSpPr>
          <p:cNvPr id="10" name="Rectangle 9"/>
          <p:cNvSpPr/>
          <p:nvPr/>
        </p:nvSpPr>
        <p:spPr>
          <a:xfrm>
            <a:off x="310896" y="340156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Running LINEST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LINEST returns a block of numbers, so select the block before you type.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00016" cy="442214"/>
          </a:xfrm>
          <a:prstGeom prst="rect">
            <a:avLst/>
          </a:prstGeom>
          <a:noFill/>
        </p:spPr>
        <p:txBody>
          <a:bodyPr wrap="square" lIns="0" tIns="0" bIns="0">
            <a:spAutoFit/>
          </a:bodyPr>
          <a:lstStyle/>
          <a:p>
            <a:pPr>
              <a:spcAft>
                <a:spcPts val="0"/>
              </a:spcAft>
              <a:buNone/>
            </a:pPr>
            <a:r>
              <a:rPr sz="1250" b="0" i="0">
                <a:solidFill>
                  <a:srgbClr val="212121"/>
                </a:solidFill>
              </a:rPr>
              <a:t>Filter to round = 1 and copy the visible rows to a new sheet (275 rows)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700016" cy="248538"/>
          </a:xfrm>
          <a:prstGeom prst="rect">
            <a:avLst/>
          </a:prstGeom>
          <a:noFill/>
        </p:spPr>
        <p:txBody>
          <a:bodyPr wrap="square" lIns="0" tIns="0" bIns="0">
            <a:spAutoFit/>
          </a:bodyPr>
          <a:lstStyle/>
          <a:p>
            <a:pPr>
              <a:spcAft>
                <a:spcPts val="0"/>
              </a:spcAft>
              <a:buNone/>
            </a:pPr>
            <a:r>
              <a:rPr sz="1250" b="0" i="0">
                <a:solidFill>
                  <a:srgbClr val="212121"/>
                </a:solidFill>
              </a:rPr>
              <a:t>Select an empty 5-row by 2-column block</a:t>
            </a:r>
          </a:p>
        </p:txBody>
      </p:sp>
      <p:sp>
        <p:nvSpPr>
          <p:cNvPr id="10" name="Oval 9"/>
          <p:cNvSpPr/>
          <p:nvPr/>
        </p:nvSpPr>
        <p:spPr>
          <a:xfrm>
            <a:off x="310896" y="25012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69261"/>
            <a:ext cx="4700016" cy="248538"/>
          </a:xfrm>
          <a:prstGeom prst="rect">
            <a:avLst/>
          </a:prstGeom>
          <a:noFill/>
        </p:spPr>
        <p:txBody>
          <a:bodyPr wrap="square" lIns="0" tIns="0" bIns="0">
            <a:spAutoFit/>
          </a:bodyPr>
          <a:lstStyle/>
          <a:p>
            <a:pPr>
              <a:spcAft>
                <a:spcPts val="0"/>
              </a:spcAft>
              <a:buNone/>
            </a:pPr>
            <a:r>
              <a:rPr sz="1250" b="0" i="0">
                <a:solidFill>
                  <a:srgbClr val="212121"/>
                </a:solidFill>
              </a:rPr>
              <a:t>Type the formula, then press Ctrl+Shift+Enter</a:t>
            </a:r>
          </a:p>
        </p:txBody>
      </p:sp>
      <p:sp>
        <p:nvSpPr>
          <p:cNvPr id="12" name="Oval 11"/>
          <p:cNvSpPr/>
          <p:nvPr/>
        </p:nvSpPr>
        <p:spPr>
          <a:xfrm>
            <a:off x="310896" y="278638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754375"/>
            <a:ext cx="4700016" cy="248538"/>
          </a:xfrm>
          <a:prstGeom prst="rect">
            <a:avLst/>
          </a:prstGeom>
          <a:noFill/>
        </p:spPr>
        <p:txBody>
          <a:bodyPr wrap="square" lIns="0" tIns="0" bIns="0">
            <a:spAutoFit/>
          </a:bodyPr>
          <a:lstStyle/>
          <a:p>
            <a:pPr>
              <a:spcAft>
                <a:spcPts val="0"/>
              </a:spcAft>
              <a:buNone/>
            </a:pPr>
            <a:r>
              <a:rPr sz="1250" b="0" i="0">
                <a:solidFill>
                  <a:srgbClr val="212121"/>
                </a:solidFill>
              </a:rPr>
              <a:t>In Microsoft 365 plain Enter works</a:t>
            </a:r>
          </a:p>
        </p:txBody>
      </p:sp>
      <p:sp>
        <p:nvSpPr>
          <p:cNvPr id="14" name="TextBox 13"/>
          <p:cNvSpPr txBox="1"/>
          <p:nvPr/>
        </p:nvSpPr>
        <p:spPr>
          <a:xfrm>
            <a:off x="640080" y="3034918"/>
            <a:ext cx="4700016" cy="217551"/>
          </a:xfrm>
          <a:prstGeom prst="rect">
            <a:avLst/>
          </a:prstGeom>
          <a:noFill/>
        </p:spPr>
        <p:txBody>
          <a:bodyPr wrap="square" lIns="0" tIns="0" bIns="0">
            <a:spAutoFit/>
          </a:bodyPr>
          <a:lstStyle/>
          <a:p>
            <a:pPr>
              <a:spcAft>
                <a:spcPts val="0"/>
              </a:spcAft>
              <a:buNone/>
            </a:pPr>
            <a:r>
              <a:rPr sz="1050" b="0" i="1">
                <a:solidFill>
                  <a:srgbClr val="37474F"/>
                </a:solidFill>
              </a:rPr>
              <a:t>the result spills into the block on its own</a:t>
            </a:r>
          </a:p>
        </p:txBody>
      </p:sp>
      <p:sp>
        <p:nvSpPr>
          <p:cNvPr id="15" name="Rectangle 14"/>
          <p:cNvSpPr/>
          <p:nvPr/>
        </p:nvSpPr>
        <p:spPr>
          <a:xfrm>
            <a:off x="310896" y="33467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6" name="Rectangle 15"/>
          <p:cNvSpPr/>
          <p:nvPr/>
        </p:nvSpPr>
        <p:spPr>
          <a:xfrm>
            <a:off x="1097280" y="33467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=LINEST(D2:D276, E2:E276, TRUE, TRUE)</a:t>
            </a:r>
          </a:p>
        </p:txBody>
      </p:sp>
      <p:sp>
        <p:nvSpPr>
          <p:cNvPr id="17" name="TextBox 16"/>
          <p:cNvSpPr txBox="1"/>
          <p:nvPr/>
        </p:nvSpPr>
        <p:spPr>
          <a:xfrm>
            <a:off x="310896" y="3803904"/>
            <a:ext cx="8522208" cy="475488"/>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two TRUEs mean: fit an intercept, and return the full statistics block rather than just the coefficients.</a:t>
            </a:r>
          </a:p>
        </p:txBody>
      </p:sp>
      <p:sp>
        <p:nvSpPr>
          <p:cNvPr id="18" name="Rectangle 17"/>
          <p:cNvSpPr/>
          <p:nvPr/>
        </p:nvSpPr>
        <p:spPr>
          <a:xfrm>
            <a:off x="310896" y="3803904"/>
            <a:ext cx="50292" cy="475488"/>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Reading the LINEST block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Five rows by two columns. The coefficients come out backwards.</a:t>
            </a:r>
          </a:p>
        </p:txBody>
      </p:sp>
      <p:sp>
        <p:nvSpPr>
          <p:cNvPr id="6" name="Rectangle 5"/>
          <p:cNvSpPr/>
          <p:nvPr/>
        </p:nvSpPr>
        <p:spPr>
          <a:xfrm>
            <a:off x="310896" y="173736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7" name="Rectangle 6"/>
          <p:cNvSpPr/>
          <p:nvPr/>
        </p:nvSpPr>
        <p:spPr>
          <a:xfrm>
            <a:off x="62179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M</a:t>
            </a:r>
          </a:p>
        </p:txBody>
      </p:sp>
      <p:sp>
        <p:nvSpPr>
          <p:cNvPr id="8" name="Rectangle 7"/>
          <p:cNvSpPr/>
          <p:nvPr/>
        </p:nvSpPr>
        <p:spPr>
          <a:xfrm>
            <a:off x="167335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N</a:t>
            </a:r>
          </a:p>
        </p:txBody>
      </p:sp>
      <p:sp>
        <p:nvSpPr>
          <p:cNvPr id="9" name="Rectangle 8"/>
          <p:cNvSpPr/>
          <p:nvPr/>
        </p:nvSpPr>
        <p:spPr>
          <a:xfrm>
            <a:off x="310896" y="1952243"/>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0" name="Rectangle 9"/>
          <p:cNvSpPr/>
          <p:nvPr/>
        </p:nvSpPr>
        <p:spPr>
          <a:xfrm>
            <a:off x="62179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-15.12</a:t>
            </a:r>
          </a:p>
        </p:txBody>
      </p:sp>
      <p:sp>
        <p:nvSpPr>
          <p:cNvPr id="11" name="Rectangle 10"/>
          <p:cNvSpPr/>
          <p:nvPr/>
        </p:nvSpPr>
        <p:spPr>
          <a:xfrm>
            <a:off x="167335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78.44</a:t>
            </a:r>
          </a:p>
        </p:txBody>
      </p:sp>
      <p:sp>
        <p:nvSpPr>
          <p:cNvPr id="12" name="Rectangle 11"/>
          <p:cNvSpPr/>
          <p:nvPr/>
        </p:nvSpPr>
        <p:spPr>
          <a:xfrm>
            <a:off x="310896" y="21671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13" name="Rectangle 12"/>
          <p:cNvSpPr/>
          <p:nvPr/>
        </p:nvSpPr>
        <p:spPr>
          <a:xfrm>
            <a:off x="62179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4.56</a:t>
            </a:r>
          </a:p>
        </p:txBody>
      </p:sp>
      <p:sp>
        <p:nvSpPr>
          <p:cNvPr id="14" name="Rectangle 13"/>
          <p:cNvSpPr/>
          <p:nvPr/>
        </p:nvSpPr>
        <p:spPr>
          <a:xfrm>
            <a:off x="167335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3.15</a:t>
            </a:r>
          </a:p>
        </p:txBody>
      </p:sp>
      <p:sp>
        <p:nvSpPr>
          <p:cNvPr id="15" name="Rectangle 14"/>
          <p:cNvSpPr/>
          <p:nvPr/>
        </p:nvSpPr>
        <p:spPr>
          <a:xfrm>
            <a:off x="310896" y="23820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16" name="Rectangle 15"/>
          <p:cNvSpPr/>
          <p:nvPr/>
        </p:nvSpPr>
        <p:spPr>
          <a:xfrm>
            <a:off x="62179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0.039</a:t>
            </a:r>
          </a:p>
        </p:txBody>
      </p:sp>
      <p:sp>
        <p:nvSpPr>
          <p:cNvPr id="17" name="Rectangle 16"/>
          <p:cNvSpPr/>
          <p:nvPr/>
        </p:nvSpPr>
        <p:spPr>
          <a:xfrm>
            <a:off x="167335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30.30</a:t>
            </a:r>
          </a:p>
        </p:txBody>
      </p:sp>
      <p:sp>
        <p:nvSpPr>
          <p:cNvPr id="18" name="Rectangle 17"/>
          <p:cNvSpPr/>
          <p:nvPr/>
        </p:nvSpPr>
        <p:spPr>
          <a:xfrm>
            <a:off x="310896" y="259689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19" name="Rectangle 18"/>
          <p:cNvSpPr/>
          <p:nvPr/>
        </p:nvSpPr>
        <p:spPr>
          <a:xfrm>
            <a:off x="62179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11.05</a:t>
            </a:r>
          </a:p>
        </p:txBody>
      </p:sp>
      <p:sp>
        <p:nvSpPr>
          <p:cNvPr id="20" name="Rectangle 19"/>
          <p:cNvSpPr/>
          <p:nvPr/>
        </p:nvSpPr>
        <p:spPr>
          <a:xfrm>
            <a:off x="167335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273</a:t>
            </a:r>
          </a:p>
        </p:txBody>
      </p:sp>
      <p:sp>
        <p:nvSpPr>
          <p:cNvPr id="21" name="Rectangle 20"/>
          <p:cNvSpPr/>
          <p:nvPr/>
        </p:nvSpPr>
        <p:spPr>
          <a:xfrm>
            <a:off x="310896" y="281177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6</a:t>
            </a:r>
          </a:p>
        </p:txBody>
      </p:sp>
      <p:sp>
        <p:nvSpPr>
          <p:cNvPr id="22" name="Rectangle 21"/>
          <p:cNvSpPr/>
          <p:nvPr/>
        </p:nvSpPr>
        <p:spPr>
          <a:xfrm>
            <a:off x="62179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10121</a:t>
            </a:r>
          </a:p>
        </p:txBody>
      </p:sp>
      <p:sp>
        <p:nvSpPr>
          <p:cNvPr id="23" name="Rectangle 22"/>
          <p:cNvSpPr/>
          <p:nvPr/>
        </p:nvSpPr>
        <p:spPr>
          <a:xfrm>
            <a:off x="167335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250097</a:t>
            </a:r>
          </a:p>
        </p:txBody>
      </p:sp>
      <p:graphicFrame>
        <p:nvGraphicFramePr>
          <p:cNvPr id="24" name="Table 23"/>
          <p:cNvGraphicFramePr>
            <a:graphicFrameLocks noGrp="1"/>
          </p:cNvGraphicFramePr>
          <p:nvPr/>
        </p:nvGraphicFramePr>
        <p:xfrm>
          <a:off x="2834640" y="1737360"/>
          <a:ext cx="5998464" cy="1691640"/>
        </p:xfrm>
        <a:graphic>
          <a:graphicData uri="http://schemas.openxmlformats.org/drawingml/2006/table">
            <a:tbl>
              <a:tblPr firstRow="1" bandRow="1">
                <a:tableStyleId>{5C22544A-7EE6-4342-B048-85BDC9FD1C3A}</a:tableStyleId>
              </a:tblPr>
              <a:tblGrid>
                <a:gridCol w="640080"/>
                <a:gridCol w="5358384"/>
              </a:tblGrid>
              <a:tr h="281940">
                <a:tc>
                  <a:txBody>
                    <a:bodyPr wrap="square"/>
                    <a:lstStyle/>
                    <a:p>
                      <a:pPr>
                        <a:spcAft>
                          <a:spcPts val="0"/>
                        </a:spcAft>
                      </a:pPr>
                      <a:r>
                        <a:rPr sz="1150" b="1">
                          <a:solidFill>
                            <a:srgbClr val="FFFFFF"/>
                          </a:solidFill>
                        </a:rPr>
                        <a:t>Row</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holds</a:t>
                      </a:r>
                    </a:p>
                  </a:txBody>
                  <a:tcPr marL="73152" marR="54864" marT="27432" marB="27432" anchor="ctr">
                    <a:solidFill>
                      <a:srgbClr val="455A64"/>
                    </a:solidFill>
                  </a:tcPr>
                </a:tc>
              </a:tr>
              <a:tr h="281940">
                <a:tc>
                  <a:txBody>
                    <a:bodyPr wrap="square"/>
                    <a:lstStyle/>
                    <a:p>
                      <a:pPr>
                        <a:spcAft>
                          <a:spcPts val="0"/>
                        </a:spcAft>
                      </a:pPr>
                      <a:r>
                        <a:rPr sz="1150">
                          <a:solidFill>
                            <a:srgbClr val="1C272B"/>
                          </a:solidFill>
                        </a:rPr>
                        <a:t>1</a:t>
                      </a:r>
                    </a:p>
                  </a:txBody>
                  <a:tcPr marL="73152" marR="54864" marT="27432" marB="27432" anchor="ctr">
                    <a:solidFill>
                      <a:srgbClr val="FFFFFF"/>
                    </a:solidFill>
                  </a:tcPr>
                </a:tc>
                <a:tc>
                  <a:txBody>
                    <a:bodyPr wrap="square"/>
                    <a:lstStyle/>
                    <a:p>
                      <a:pPr>
                        <a:spcAft>
                          <a:spcPts val="0"/>
                        </a:spcAft>
                      </a:pPr>
                      <a:r>
                        <a:rPr sz="1150">
                          <a:solidFill>
                            <a:srgbClr val="1C272B"/>
                          </a:solidFill>
                        </a:rPr>
                        <a:t>coefficients — treatcom, then the intercept</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2</a:t>
                      </a:r>
                    </a:p>
                  </a:txBody>
                  <a:tcPr marL="73152" marR="54864" marT="27432" marB="27432" anchor="ctr">
                    <a:solidFill>
                      <a:srgbClr val="F7F9FA"/>
                    </a:solidFill>
                  </a:tcPr>
                </a:tc>
                <a:tc>
                  <a:txBody>
                    <a:bodyPr wrap="square"/>
                    <a:lstStyle/>
                    <a:p>
                      <a:pPr>
                        <a:spcAft>
                          <a:spcPts val="0"/>
                        </a:spcAft>
                      </a:pPr>
                      <a:r>
                        <a:rPr sz="1150">
                          <a:solidFill>
                            <a:srgbClr val="1C272B"/>
                          </a:solidFill>
                        </a:rPr>
                        <a:t>standard errors, in the same order</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3</a:t>
                      </a:r>
                    </a:p>
                  </a:txBody>
                  <a:tcPr marL="73152" marR="54864" marT="27432" marB="27432" anchor="ctr">
                    <a:solidFill>
                      <a:srgbClr val="FFFFFF"/>
                    </a:solidFill>
                  </a:tcPr>
                </a:tc>
                <a:tc>
                  <a:txBody>
                    <a:bodyPr wrap="square"/>
                    <a:lstStyle/>
                    <a:p>
                      <a:pPr>
                        <a:spcAft>
                          <a:spcPts val="0"/>
                        </a:spcAft>
                      </a:pPr>
                      <a:r>
                        <a:rPr sz="1150">
                          <a:solidFill>
                            <a:srgbClr val="1C272B"/>
                          </a:solidFill>
                        </a:rPr>
                        <a:t>R² and the standard error of y</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4</a:t>
                      </a:r>
                    </a:p>
                  </a:txBody>
                  <a:tcPr marL="73152" marR="54864" marT="27432" marB="27432" anchor="ctr">
                    <a:solidFill>
                      <a:srgbClr val="F7F9FA"/>
                    </a:solidFill>
                  </a:tcPr>
                </a:tc>
                <a:tc>
                  <a:txBody>
                    <a:bodyPr wrap="square"/>
                    <a:lstStyle/>
                    <a:p>
                      <a:pPr>
                        <a:spcAft>
                          <a:spcPts val="0"/>
                        </a:spcAft>
                      </a:pPr>
                      <a:r>
                        <a:rPr sz="1150">
                          <a:solidFill>
                            <a:srgbClr val="1C272B"/>
                          </a:solidFill>
                        </a:rPr>
                        <a:t>F statistic and degrees of freedom</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5</a:t>
                      </a:r>
                    </a:p>
                  </a:txBody>
                  <a:tcPr marL="73152" marR="54864" marT="27432" marB="27432" anchor="ctr">
                    <a:solidFill>
                      <a:srgbClr val="FFFFFF"/>
                    </a:solidFill>
                  </a:tcPr>
                </a:tc>
                <a:tc>
                  <a:txBody>
                    <a:bodyPr wrap="square"/>
                    <a:lstStyle/>
                    <a:p>
                      <a:pPr>
                        <a:spcAft>
                          <a:spcPts val="0"/>
                        </a:spcAft>
                      </a:pPr>
                      <a:r>
                        <a:rPr sz="1150">
                          <a:solidFill>
                            <a:srgbClr val="1C272B"/>
                          </a:solidFill>
                        </a:rPr>
                        <a:t>regression and residual sums of squares</a:t>
                      </a:r>
                    </a:p>
                  </a:txBody>
                  <a:tcPr marL="73152" marR="54864" marT="27432" marB="27432" anchor="ctr">
                    <a:solidFill>
                      <a:srgbClr val="FFFFFF"/>
                    </a:solidFill>
                  </a:tcPr>
                </a:tc>
              </a:tr>
            </a:tbl>
          </a:graphicData>
        </a:graphic>
      </p:graphicFrame>
      <p:sp>
        <p:nvSpPr>
          <p:cNvPr id="25" name="Rectangle 24"/>
          <p:cNvSpPr/>
          <p:nvPr/>
        </p:nvSpPr>
        <p:spPr>
          <a:xfrm>
            <a:off x="310896" y="362102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62102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The treatment coefficient is −15.12, with a standard error of 4.56.</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Q7(a)  Interpreting the result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Turn the coefficient into a sentence about households.</a:t>
            </a:r>
          </a:p>
        </p:txBody>
      </p:sp>
      <p:sp>
        <p:nvSpPr>
          <p:cNvPr id="6" name="Rounded Rectangle 5"/>
          <p:cNvSpPr/>
          <p:nvPr/>
        </p:nvSpPr>
        <p:spPr>
          <a:xfrm>
            <a:off x="310896" y="1773936"/>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e</a:t>
            </a:r>
            <a:r>
              <a:rPr sz="1250" b="1">
                <a:solidFill>
                  <a:srgbClr val="007986"/>
                </a:solidFill>
                <a:latin typeface="Courier New"/>
              </a:rPr>
              <a:t>f</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i</a:t>
            </a:r>
            <a:r>
              <a:rPr sz="1250" b="1">
                <a:solidFill>
                  <a:srgbClr val="007986"/>
                </a:solidFill>
                <a:latin typeface="Courier New"/>
              </a:rPr>
              <a:t>e</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4.56</a:t>
            </a:r>
          </a:p>
          <a:p>
            <a:pPr algn="l">
              <a:spcAft>
                <a:spcPts val="0"/>
              </a:spcAft>
              <a:buNone/>
            </a:pP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78.44</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3.15</a:t>
            </a:r>
          </a:p>
          <a:p>
            <a:pPr algn="l">
              <a:spcAft>
                <a:spcPts val="0"/>
              </a:spcAft>
              <a:buNone/>
            </a:pPr>
            <a:r>
              <a:rPr sz="625">
                <a:latin typeface="Courier New"/>
              </a:rPr>
              <a:t> </a:t>
            </a:r>
          </a:p>
          <a:p>
            <a:pPr algn="l">
              <a:spcAft>
                <a:spcPts val="0"/>
              </a:spcAft>
              <a:buNone/>
            </a:pP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4.56</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3.32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a:solidFill>
                  <a:srgbClr val="6A4C9C"/>
                </a:solidFill>
                <a:latin typeface="Courier New"/>
              </a:rPr>
              <a:t>1</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l</a:t>
            </a:r>
            <a:r>
              <a:rPr sz="1250" b="1">
                <a:solidFill>
                  <a:srgbClr val="007986"/>
                </a:solidFill>
                <a:latin typeface="Courier New"/>
              </a:rPr>
              <a:t>e</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l</a:t>
            </a:r>
          </a:p>
        </p:txBody>
      </p:sp>
      <p:sp>
        <p:nvSpPr>
          <p:cNvPr id="7" name="Rectangle 6"/>
          <p:cNvSpPr/>
          <p:nvPr/>
        </p:nvSpPr>
        <p:spPr>
          <a:xfrm>
            <a:off x="310896" y="1828800"/>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2999232"/>
            <a:ext cx="960120" cy="66293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99232"/>
            <a:ext cx="7562088" cy="66293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A year after the programme began, households in the treatment locality spend about 15 dollars less on health than households in the control locality.</a:t>
            </a:r>
          </a:p>
        </p:txBody>
      </p:sp>
      <p:sp>
        <p:nvSpPr>
          <p:cNvPr id="11" name="TextBox 10"/>
          <p:cNvSpPr txBox="1"/>
          <p:nvPr/>
        </p:nvSpPr>
        <p:spPr>
          <a:xfrm>
            <a:off x="310896" y="365760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 p-values from LINEST</a:t>
            </a:r>
          </a:p>
          <a:p>
            <a:pPr>
              <a:spcAft>
                <a:spcPts val="0"/>
              </a:spcAft>
            </a:pPr>
            <a:r>
              <a:rPr sz="1400" b="0" i="0">
                <a:solidFill>
                  <a:srgbClr val="212121"/>
                </a:solidFill>
              </a:rPr>
              <a:t>LINEST gives no p-values. Compute t as coefficient ÷ standard error; beyond about ±2 is significant at 5%.</a:t>
            </a:r>
          </a:p>
        </p:txBody>
      </p:sp>
      <p:sp>
        <p:nvSpPr>
          <p:cNvPr id="12" name="Rectangle 11"/>
          <p:cNvSpPr/>
          <p:nvPr/>
        </p:nvSpPr>
        <p:spPr>
          <a:xfrm>
            <a:off x="310896" y="365760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The same thing with the ToolPak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A labelled table instead of a bare block — easier to read, but it does not update.</a:t>
            </a:r>
          </a:p>
        </p:txBody>
      </p:sp>
      <p:sp>
        <p:nvSpPr>
          <p:cNvPr id="6" name="Rounded Rectangle 5"/>
          <p:cNvSpPr/>
          <p:nvPr/>
        </p:nvSpPr>
        <p:spPr>
          <a:xfrm>
            <a:off x="310896" y="1755648"/>
            <a:ext cx="6108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a:t>
            </a:r>
          </a:p>
        </p:txBody>
      </p:sp>
      <p:sp>
        <p:nvSpPr>
          <p:cNvPr id="7" name="TextBox 6"/>
          <p:cNvSpPr txBox="1"/>
          <p:nvPr/>
        </p:nvSpPr>
        <p:spPr>
          <a:xfrm>
            <a:off x="921766"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8" name="Rounded Rectangle 7"/>
          <p:cNvSpPr/>
          <p:nvPr/>
        </p:nvSpPr>
        <p:spPr>
          <a:xfrm>
            <a:off x="1196086" y="1755648"/>
            <a:ext cx="1245721"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 Analysis</a:t>
            </a:r>
          </a:p>
        </p:txBody>
      </p:sp>
      <p:sp>
        <p:nvSpPr>
          <p:cNvPr id="9" name="TextBox 8"/>
          <p:cNvSpPr txBox="1"/>
          <p:nvPr/>
        </p:nvSpPr>
        <p:spPr>
          <a:xfrm>
            <a:off x="2441807"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10" name="Rounded Rectangle 9"/>
          <p:cNvSpPr/>
          <p:nvPr/>
        </p:nvSpPr>
        <p:spPr>
          <a:xfrm>
            <a:off x="2716127" y="1755648"/>
            <a:ext cx="10807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Regression</a:t>
            </a:r>
          </a:p>
        </p:txBody>
      </p:sp>
      <p:sp>
        <p:nvSpPr>
          <p:cNvPr id="11" name="Oval 10"/>
          <p:cNvSpPr/>
          <p:nvPr/>
        </p:nvSpPr>
        <p:spPr>
          <a:xfrm>
            <a:off x="310896" y="21945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2" name="TextBox 11"/>
          <p:cNvSpPr txBox="1"/>
          <p:nvPr/>
        </p:nvSpPr>
        <p:spPr>
          <a:xfrm>
            <a:off x="640080" y="2162556"/>
            <a:ext cx="4608576" cy="248538"/>
          </a:xfrm>
          <a:prstGeom prst="rect">
            <a:avLst/>
          </a:prstGeom>
          <a:noFill/>
        </p:spPr>
        <p:txBody>
          <a:bodyPr wrap="square" lIns="0" tIns="0" bIns="0">
            <a:spAutoFit/>
          </a:bodyPr>
          <a:lstStyle/>
          <a:p>
            <a:pPr>
              <a:spcAft>
                <a:spcPts val="0"/>
              </a:spcAft>
              <a:buNone/>
            </a:pPr>
            <a:r>
              <a:rPr sz="1250" b="0" i="0">
                <a:solidFill>
                  <a:srgbClr val="212121"/>
                </a:solidFill>
              </a:rPr>
              <a:t>Y range: D1:D276    (include the header)</a:t>
            </a:r>
          </a:p>
        </p:txBody>
      </p:sp>
      <p:sp>
        <p:nvSpPr>
          <p:cNvPr id="13" name="Oval 12"/>
          <p:cNvSpPr/>
          <p:nvPr/>
        </p:nvSpPr>
        <p:spPr>
          <a:xfrm>
            <a:off x="310896" y="247967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4" name="TextBox 13"/>
          <p:cNvSpPr txBox="1"/>
          <p:nvPr/>
        </p:nvSpPr>
        <p:spPr>
          <a:xfrm>
            <a:off x="640080" y="2447670"/>
            <a:ext cx="4608576" cy="248538"/>
          </a:xfrm>
          <a:prstGeom prst="rect">
            <a:avLst/>
          </a:prstGeom>
          <a:noFill/>
        </p:spPr>
        <p:txBody>
          <a:bodyPr wrap="square" lIns="0" tIns="0" bIns="0">
            <a:spAutoFit/>
          </a:bodyPr>
          <a:lstStyle/>
          <a:p>
            <a:pPr>
              <a:spcAft>
                <a:spcPts val="0"/>
              </a:spcAft>
              <a:buNone/>
            </a:pPr>
            <a:r>
              <a:rPr sz="1250" b="0" i="0">
                <a:solidFill>
                  <a:srgbClr val="212121"/>
                </a:solidFill>
              </a:rPr>
              <a:t>X range: E1:E276</a:t>
            </a:r>
          </a:p>
        </p:txBody>
      </p:sp>
      <p:sp>
        <p:nvSpPr>
          <p:cNvPr id="15" name="Oval 14"/>
          <p:cNvSpPr/>
          <p:nvPr/>
        </p:nvSpPr>
        <p:spPr>
          <a:xfrm>
            <a:off x="310896" y="27647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6" name="TextBox 15"/>
          <p:cNvSpPr txBox="1"/>
          <p:nvPr/>
        </p:nvSpPr>
        <p:spPr>
          <a:xfrm>
            <a:off x="640080" y="2732785"/>
            <a:ext cx="4608576" cy="248538"/>
          </a:xfrm>
          <a:prstGeom prst="rect">
            <a:avLst/>
          </a:prstGeom>
          <a:noFill/>
        </p:spPr>
        <p:txBody>
          <a:bodyPr wrap="square" lIns="0" tIns="0" bIns="0">
            <a:spAutoFit/>
          </a:bodyPr>
          <a:lstStyle/>
          <a:p>
            <a:pPr>
              <a:spcAft>
                <a:spcPts val="0"/>
              </a:spcAft>
              <a:buNone/>
            </a:pPr>
            <a:r>
              <a:rPr sz="1250" b="0" i="0">
                <a:solidFill>
                  <a:srgbClr val="212121"/>
                </a:solidFill>
              </a:rPr>
              <a:t>Tick Labels so Excel names the rows</a:t>
            </a:r>
          </a:p>
        </p:txBody>
      </p:sp>
      <p:sp>
        <p:nvSpPr>
          <p:cNvPr id="17" name="Oval 16"/>
          <p:cNvSpPr/>
          <p:nvPr/>
        </p:nvSpPr>
        <p:spPr>
          <a:xfrm>
            <a:off x="310896" y="304990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8" name="TextBox 17"/>
          <p:cNvSpPr txBox="1"/>
          <p:nvPr/>
        </p:nvSpPr>
        <p:spPr>
          <a:xfrm>
            <a:off x="640080" y="3017900"/>
            <a:ext cx="4608576" cy="248538"/>
          </a:xfrm>
          <a:prstGeom prst="rect">
            <a:avLst/>
          </a:prstGeom>
          <a:noFill/>
        </p:spPr>
        <p:txBody>
          <a:bodyPr wrap="square" lIns="0" tIns="0" bIns="0">
            <a:spAutoFit/>
          </a:bodyPr>
          <a:lstStyle/>
          <a:p>
            <a:pPr>
              <a:spcAft>
                <a:spcPts val="0"/>
              </a:spcAft>
              <a:buNone/>
            </a:pPr>
            <a:r>
              <a:rPr sz="1250" b="0" i="0">
                <a:solidFill>
                  <a:srgbClr val="212121"/>
                </a:solidFill>
              </a:rPr>
              <a:t>Choose an output cell, then OK</a:t>
            </a:r>
          </a:p>
        </p:txBody>
      </p:sp>
      <p:sp>
        <p:nvSpPr>
          <p:cNvPr id="19" name="TextBox 18"/>
          <p:cNvSpPr txBox="1"/>
          <p:nvPr/>
        </p:nvSpPr>
        <p:spPr>
          <a:xfrm>
            <a:off x="310896" y="363931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Static, not live</a:t>
            </a:r>
          </a:p>
          <a:p>
            <a:pPr>
              <a:spcAft>
                <a:spcPts val="0"/>
              </a:spcAft>
            </a:pPr>
            <a:r>
              <a:rPr sz="1400" b="0" i="0">
                <a:solidFill>
                  <a:srgbClr val="212121"/>
                </a:solidFill>
              </a:rPr>
              <a:t>The ToolPak pastes a static snapshot. Change the data afterwards and the table will not refresh — LINEST would. Use the ToolPak to read results, LINEST to keep them live.</a:t>
            </a:r>
          </a:p>
        </p:txBody>
      </p:sp>
      <p:sp>
        <p:nvSpPr>
          <p:cNvPr id="20" name="Rectangle 19"/>
          <p:cNvSpPr/>
          <p:nvPr/>
        </p:nvSpPr>
        <p:spPr>
          <a:xfrm>
            <a:off x="310896" y="363931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2" name="Rectangle 2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8  Adding controls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The x argument must be one contiguous block, so rearrange the columns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48538"/>
          </a:xfrm>
          <a:prstGeom prst="rect">
            <a:avLst/>
          </a:prstGeom>
          <a:noFill/>
        </p:spPr>
        <p:txBody>
          <a:bodyPr wrap="square" lIns="0" tIns="0" bIns="0">
            <a:spAutoFit/>
          </a:bodyPr>
          <a:lstStyle/>
          <a:p>
            <a:pPr>
              <a:spcAft>
                <a:spcPts val="0"/>
              </a:spcAft>
              <a:buNone/>
            </a:pPr>
            <a:r>
              <a:rPr sz="1250" b="0" i="0">
                <a:solidFill>
                  <a:srgbClr val="212121"/>
                </a:solidFill>
              </a:rPr>
              <a:t>On your round = 1 sheet, copy treatcom, educhh, hhsize and pscore into four side-by-side columns</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7900416" cy="248538"/>
          </a:xfrm>
          <a:prstGeom prst="rect">
            <a:avLst/>
          </a:prstGeom>
          <a:noFill/>
        </p:spPr>
        <p:txBody>
          <a:bodyPr wrap="square" lIns="0" tIns="0" bIns="0">
            <a:spAutoFit/>
          </a:bodyPr>
          <a:lstStyle/>
          <a:p>
            <a:pPr>
              <a:spcAft>
                <a:spcPts val="0"/>
              </a:spcAft>
              <a:buNone/>
            </a:pPr>
            <a:r>
              <a:rPr sz="1250" b="0" i="0">
                <a:solidFill>
                  <a:srgbClr val="212121"/>
                </a:solidFill>
              </a:rPr>
              <a:t>Select a 5-row by 5-column block</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7900416" cy="248538"/>
          </a:xfrm>
          <a:prstGeom prst="rect">
            <a:avLst/>
          </a:prstGeom>
          <a:noFill/>
        </p:spPr>
        <p:txBody>
          <a:bodyPr wrap="square" lIns="0" tIns="0" bIns="0">
            <a:spAutoFit/>
          </a:bodyPr>
          <a:lstStyle/>
          <a:p>
            <a:pPr>
              <a:spcAft>
                <a:spcPts val="0"/>
              </a:spcAft>
              <a:buNone/>
            </a:pPr>
            <a:r>
              <a:rPr sz="1250" b="0" i="0">
                <a:solidFill>
                  <a:srgbClr val="212121"/>
                </a:solidFill>
              </a:rPr>
              <a:t>Run LINEST with the four-column range as x</a:t>
            </a:r>
          </a:p>
        </p:txBody>
      </p:sp>
      <p:sp>
        <p:nvSpPr>
          <p:cNvPr id="12" name="Rectangle 11"/>
          <p:cNvSpPr/>
          <p:nvPr/>
        </p:nvSpPr>
        <p:spPr>
          <a:xfrm>
            <a:off x="310896" y="29260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M10</a:t>
            </a:r>
          </a:p>
        </p:txBody>
      </p:sp>
      <p:sp>
        <p:nvSpPr>
          <p:cNvPr id="13" name="Rectangle 12"/>
          <p:cNvSpPr/>
          <p:nvPr/>
        </p:nvSpPr>
        <p:spPr>
          <a:xfrm>
            <a:off x="1097280" y="29260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=LINEST(hhe_range, four_column_range, TRUE, TRUE)</a:t>
            </a:r>
          </a:p>
        </p:txBody>
      </p:sp>
      <p:sp>
        <p:nvSpPr>
          <p:cNvPr id="14" name="TextBox 13"/>
          <p:cNvSpPr txBox="1"/>
          <p:nvPr/>
        </p:nvSpPr>
        <p:spPr>
          <a:xfrm>
            <a:off x="310896" y="3401568"/>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Check the copy</a:t>
            </a:r>
          </a:p>
          <a:p>
            <a:pPr>
              <a:spcAft>
                <a:spcPts val="0"/>
              </a:spcAft>
            </a:pPr>
            <a:r>
              <a:rPr sz="1400" b="0" i="0">
                <a:solidFill>
                  <a:srgbClr val="212121"/>
                </a:solidFill>
              </a:rPr>
              <a:t>That copying step is where transcription errors creep in. Do it once, then check that the column headings above your copied block still say what you think they say.</a:t>
            </a:r>
          </a:p>
        </p:txBody>
      </p:sp>
      <p:sp>
        <p:nvSpPr>
          <p:cNvPr id="15" name="Rectangle 14"/>
          <p:cNvSpPr/>
          <p:nvPr/>
        </p:nvSpPr>
        <p:spPr>
          <a:xfrm>
            <a:off x="310896" y="3401568"/>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Q8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450" b="0" i="0">
                <a:solidFill>
                  <a:srgbClr val="212121"/>
                </a:solidFill>
              </a:rPr>
              <a:t>Coefficients read right to left in the LINEST block; re-labelled here in the usual order.</a:t>
            </a:r>
          </a:p>
        </p:txBody>
      </p:sp>
      <p:graphicFrame>
        <p:nvGraphicFramePr>
          <p:cNvPr id="6" name="Table 5"/>
          <p:cNvGraphicFramePr>
            <a:graphicFrameLocks noGrp="1"/>
          </p:cNvGraphicFramePr>
          <p:nvPr/>
        </p:nvGraphicFramePr>
        <p:xfrm>
          <a:off x="1417320" y="1755648"/>
          <a:ext cx="6309360" cy="1920240"/>
        </p:xfrm>
        <a:graphic>
          <a:graphicData uri="http://schemas.openxmlformats.org/drawingml/2006/table">
            <a:tbl>
              <a:tblPr firstRow="1" bandRow="1">
                <a:tableStyleId>{5C22544A-7EE6-4342-B048-85BDC9FD1C3A}</a:tableStyleId>
              </a:tblPr>
              <a:tblGrid>
                <a:gridCol w="2743200"/>
                <a:gridCol w="1280160"/>
                <a:gridCol w="1188720"/>
                <a:gridCol w="1097280"/>
              </a:tblGrid>
              <a:tr h="32004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250" b="1">
                          <a:solidFill>
                            <a:srgbClr val="FFFFFF"/>
                          </a:solidFill>
                        </a:rPr>
                        <a:t>Coefficient</a:t>
                      </a:r>
                    </a:p>
                  </a:txBody>
                  <a:tcPr marL="73152" marR="54864" marT="27432" marB="27432" anchor="ctr">
                    <a:solidFill>
                      <a:srgbClr val="455A64"/>
                    </a:solidFill>
                  </a:tcPr>
                </a:tc>
                <a:tc>
                  <a:txBody>
                    <a:bodyPr wrap="square"/>
                    <a:lstStyle/>
                    <a:p>
                      <a:pPr>
                        <a:spcAft>
                          <a:spcPts val="0"/>
                        </a:spcAft>
                      </a:pPr>
                      <a:r>
                        <a:rPr sz="1250" b="1">
                          <a:solidFill>
                            <a:srgbClr val="FFFFFF"/>
                          </a:solidFill>
                        </a:rPr>
                        <a:t>Std. error</a:t>
                      </a:r>
                    </a:p>
                  </a:txBody>
                  <a:tcPr marL="73152" marR="54864" marT="27432" marB="27432" anchor="ctr">
                    <a:solidFill>
                      <a:srgbClr val="455A64"/>
                    </a:solidFill>
                  </a:tcPr>
                </a:tc>
                <a:tc>
                  <a:txBody>
                    <a:bodyPr wrap="square"/>
                    <a:lstStyle/>
                    <a:p>
                      <a:pPr>
                        <a:spcAft>
                          <a:spcPts val="0"/>
                        </a:spcAft>
                      </a:pPr>
                      <a:r>
                        <a:rPr sz="1250" b="1">
                          <a:solidFill>
                            <a:srgbClr val="FFFFFF"/>
                          </a:solidFill>
                        </a:rPr>
                        <a:t>t</a:t>
                      </a:r>
                    </a:p>
                  </a:txBody>
                  <a:tcPr marL="73152" marR="54864" marT="27432" marB="27432" anchor="ctr">
                    <a:solidFill>
                      <a:srgbClr val="455A64"/>
                    </a:solidFill>
                  </a:tcPr>
                </a:tc>
              </a:tr>
              <a:tr h="320040">
                <a:tc>
                  <a:txBody>
                    <a:bodyPr wrap="square"/>
                    <a:lstStyle/>
                    <a:p>
                      <a:pPr>
                        <a:spcAft>
                          <a:spcPts val="0"/>
                        </a:spcAft>
                      </a:pPr>
                      <a:r>
                        <a:rPr sz="1250">
                          <a:solidFill>
                            <a:srgbClr val="1C272B"/>
                          </a:solidFill>
                        </a:rPr>
                        <a:t>Treatment locality</a:t>
                      </a:r>
                    </a:p>
                  </a:txBody>
                  <a:tcPr marL="73152" marR="54864" marT="27432" marB="27432" anchor="ctr">
                    <a:solidFill>
                      <a:srgbClr val="FFFFFF"/>
                    </a:solidFill>
                  </a:tcPr>
                </a:tc>
                <a:tc>
                  <a:txBody>
                    <a:bodyPr wrap="square"/>
                    <a:lstStyle/>
                    <a:p>
                      <a:pPr>
                        <a:spcAft>
                          <a:spcPts val="0"/>
                        </a:spcAft>
                      </a:pPr>
                      <a:r>
                        <a:rPr sz="1250">
                          <a:solidFill>
                            <a:srgbClr val="1C272B"/>
                          </a:solidFill>
                        </a:rPr>
                        <a:t>−20.38</a:t>
                      </a:r>
                    </a:p>
                  </a:txBody>
                  <a:tcPr marL="73152" marR="54864" marT="27432" marB="27432" anchor="ctr">
                    <a:solidFill>
                      <a:srgbClr val="FFFFFF"/>
                    </a:solidFill>
                  </a:tcPr>
                </a:tc>
                <a:tc>
                  <a:txBody>
                    <a:bodyPr wrap="square"/>
                    <a:lstStyle/>
                    <a:p>
                      <a:pPr>
                        <a:spcAft>
                          <a:spcPts val="0"/>
                        </a:spcAft>
                      </a:pPr>
                      <a:r>
                        <a:rPr sz="1250">
                          <a:solidFill>
                            <a:srgbClr val="1C272B"/>
                          </a:solidFill>
                        </a:rPr>
                        <a:t>4.15</a:t>
                      </a:r>
                    </a:p>
                  </a:txBody>
                  <a:tcPr marL="73152" marR="54864" marT="27432" marB="27432" anchor="ctr">
                    <a:solidFill>
                      <a:srgbClr val="FFFFFF"/>
                    </a:solidFill>
                  </a:tcPr>
                </a:tc>
                <a:tc>
                  <a:txBody>
                    <a:bodyPr wrap="square"/>
                    <a:lstStyle/>
                    <a:p>
                      <a:pPr>
                        <a:spcAft>
                          <a:spcPts val="0"/>
                        </a:spcAft>
                      </a:pPr>
                      <a:r>
                        <a:rPr sz="1250">
                          <a:solidFill>
                            <a:srgbClr val="1C272B"/>
                          </a:solidFill>
                        </a:rPr>
                        <a:t>−4.92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250">
                          <a:solidFill>
                            <a:srgbClr val="1C272B"/>
                          </a:solidFill>
                        </a:rPr>
                        <a:t>−2.63</a:t>
                      </a:r>
                    </a:p>
                  </a:txBody>
                  <a:tcPr marL="73152" marR="54864" marT="27432" marB="27432" anchor="ctr">
                    <a:solidFill>
                      <a:srgbClr val="F7F9FA"/>
                    </a:solidFill>
                  </a:tcPr>
                </a:tc>
                <a:tc>
                  <a:txBody>
                    <a:bodyPr wrap="square"/>
                    <a:lstStyle/>
                    <a:p>
                      <a:pPr>
                        <a:spcAft>
                          <a:spcPts val="0"/>
                        </a:spcAft>
                      </a:pPr>
                      <a:r>
                        <a:rPr sz="1250">
                          <a:solidFill>
                            <a:srgbClr val="1C272B"/>
                          </a:solidFill>
                        </a:rPr>
                        <a:t>0.80</a:t>
                      </a:r>
                    </a:p>
                  </a:txBody>
                  <a:tcPr marL="73152" marR="54864" marT="27432" marB="27432" anchor="ctr">
                    <a:solidFill>
                      <a:srgbClr val="F7F9FA"/>
                    </a:solidFill>
                  </a:tcPr>
                </a:tc>
                <a:tc>
                  <a:txBody>
                    <a:bodyPr wrap="square"/>
                    <a:lstStyle/>
                    <a:p>
                      <a:pPr>
                        <a:spcAft>
                          <a:spcPts val="0"/>
                        </a:spcAft>
                      </a:pPr>
                      <a:r>
                        <a:rPr sz="1250">
                          <a:solidFill>
                            <a:srgbClr val="1C272B"/>
                          </a:solidFill>
                        </a:rPr>
                        <a:t>−3.29</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250">
                          <a:solidFill>
                            <a:srgbClr val="1C272B"/>
                          </a:solidFill>
                        </a:rPr>
                        <a:t>−5.26</a:t>
                      </a:r>
                    </a:p>
                  </a:txBody>
                  <a:tcPr marL="73152" marR="54864" marT="27432" marB="27432" anchor="ctr">
                    <a:solidFill>
                      <a:srgbClr val="FFFFFF"/>
                    </a:solidFill>
                  </a:tcPr>
                </a:tc>
                <a:tc>
                  <a:txBody>
                    <a:bodyPr wrap="square"/>
                    <a:lstStyle/>
                    <a:p>
                      <a:pPr>
                        <a:spcAft>
                          <a:spcPts val="0"/>
                        </a:spcAft>
                      </a:pPr>
                      <a:r>
                        <a:rPr sz="1250">
                          <a:solidFill>
                            <a:srgbClr val="1C272B"/>
                          </a:solidFill>
                        </a:rPr>
                        <a:t>0.92</a:t>
                      </a:r>
                    </a:p>
                  </a:txBody>
                  <a:tcPr marL="73152" marR="54864" marT="27432" marB="27432" anchor="ctr">
                    <a:solidFill>
                      <a:srgbClr val="FFFFFF"/>
                    </a:solidFill>
                  </a:tcPr>
                </a:tc>
                <a:tc>
                  <a:txBody>
                    <a:bodyPr wrap="square"/>
                    <a:lstStyle/>
                    <a:p>
                      <a:pPr>
                        <a:spcAft>
                          <a:spcPts val="0"/>
                        </a:spcAft>
                      </a:pPr>
                      <a:r>
                        <a:rPr sz="1250">
                          <a:solidFill>
                            <a:srgbClr val="1C272B"/>
                          </a:solidFill>
                        </a:rPr>
                        <a:t>−5.72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250">
                          <a:solidFill>
                            <a:srgbClr val="1C272B"/>
                          </a:solidFill>
                        </a:rPr>
                        <a:t>0.07</a:t>
                      </a:r>
                    </a:p>
                  </a:txBody>
                  <a:tcPr marL="73152" marR="54864" marT="27432" marB="27432" anchor="ctr">
                    <a:solidFill>
                      <a:srgbClr val="F7F9FA"/>
                    </a:solidFill>
                  </a:tcPr>
                </a:tc>
                <a:tc>
                  <a:txBody>
                    <a:bodyPr wrap="square"/>
                    <a:lstStyle/>
                    <a:p>
                      <a:pPr>
                        <a:spcAft>
                          <a:spcPts val="0"/>
                        </a:spcAft>
                      </a:pPr>
                      <a:r>
                        <a:rPr sz="1250">
                          <a:solidFill>
                            <a:srgbClr val="1C272B"/>
                          </a:solidFill>
                        </a:rPr>
                        <a:t>0.02</a:t>
                      </a:r>
                    </a:p>
                  </a:txBody>
                  <a:tcPr marL="73152" marR="54864" marT="27432" marB="27432" anchor="ctr">
                    <a:solidFill>
                      <a:srgbClr val="F7F9FA"/>
                    </a:solidFill>
                  </a:tcPr>
                </a:tc>
                <a:tc>
                  <a:txBody>
                    <a:bodyPr wrap="square"/>
                    <a:lstStyle/>
                    <a:p>
                      <a:pPr>
                        <a:spcAft>
                          <a:spcPts val="0"/>
                        </a:spcAft>
                      </a:pPr>
                      <a:r>
                        <a:rPr sz="1250">
                          <a:solidFill>
                            <a:srgbClr val="1C272B"/>
                          </a:solidFill>
                        </a:rPr>
                        <a:t>4.58</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Constant</a:t>
                      </a:r>
                    </a:p>
                  </a:txBody>
                  <a:tcPr marL="73152" marR="54864" marT="27432" marB="27432" anchor="ctr">
                    <a:solidFill>
                      <a:srgbClr val="FFFFFF"/>
                    </a:solidFill>
                  </a:tcPr>
                </a:tc>
                <a:tc>
                  <a:txBody>
                    <a:bodyPr wrap="square"/>
                    <a:lstStyle/>
                    <a:p>
                      <a:pPr>
                        <a:spcAft>
                          <a:spcPts val="0"/>
                        </a:spcAft>
                      </a:pPr>
                      <a:r>
                        <a:rPr sz="1250">
                          <a:solidFill>
                            <a:srgbClr val="1C272B"/>
                          </a:solidFill>
                        </a:rPr>
                        <a:t>63.73</a:t>
                      </a:r>
                    </a:p>
                  </a:txBody>
                  <a:tcPr marL="73152" marR="54864" marT="27432" marB="27432" anchor="ctr">
                    <a:solidFill>
                      <a:srgbClr val="FFFFFF"/>
                    </a:solidFill>
                  </a:tcPr>
                </a:tc>
                <a:tc>
                  <a:txBody>
                    <a:bodyPr wrap="square"/>
                    <a:lstStyle/>
                    <a:p>
                      <a:pPr>
                        <a:spcAft>
                          <a:spcPts val="0"/>
                        </a:spcAft>
                      </a:pPr>
                      <a:r>
                        <a:rPr sz="1250">
                          <a:solidFill>
                            <a:srgbClr val="1C272B"/>
                          </a:solidFill>
                        </a:rPr>
                        <a:t>14.47</a:t>
                      </a:r>
                    </a:p>
                  </a:txBody>
                  <a:tcPr marL="73152" marR="54864" marT="27432" marB="27432" anchor="ctr">
                    <a:solidFill>
                      <a:srgbClr val="FFFFFF"/>
                    </a:solidFill>
                  </a:tcPr>
                </a:tc>
                <a:tc>
                  <a:txBody>
                    <a:bodyPr wrap="square"/>
                    <a:lstStyle/>
                    <a:p>
                      <a:pPr>
                        <a:spcAft>
                          <a:spcPts val="0"/>
                        </a:spcAft>
                      </a:pPr>
                      <a:r>
                        <a:rPr sz="1250">
                          <a:solidFill>
                            <a:srgbClr val="1C272B"/>
                          </a:solidFill>
                        </a:rPr>
                        <a:t>4.40</a:t>
                      </a:r>
                    </a:p>
                  </a:txBody>
                  <a:tcPr marL="73152" marR="54864" marT="27432" marB="27432" anchor="ctr">
                    <a:solidFill>
                      <a:srgbClr val="FFFFFF"/>
                    </a:solidFill>
                  </a:tcPr>
                </a:tc>
              </a:tr>
            </a:tbl>
          </a:graphicData>
        </a:graphic>
      </p:graphicFrame>
      <p:sp>
        <p:nvSpPr>
          <p:cNvPr id="7" name="Rectangle 6"/>
          <p:cNvSpPr/>
          <p:nvPr/>
        </p:nvSpPr>
        <p:spPr>
          <a:xfrm>
            <a:off x="310896" y="38039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8" name="Rectangle 7"/>
          <p:cNvSpPr/>
          <p:nvPr/>
        </p:nvSpPr>
        <p:spPr>
          <a:xfrm>
            <a:off x="1271016" y="38039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With controls, the estimated impact grows from −15.12 to −20.38 dollars.</a:t>
            </a: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Wrapping up</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did, and what to take away.</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8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You're done</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Does anyone have questions about a step?</a:t>
            </a:r>
          </a:p>
          <a:p>
            <a:pPr>
              <a:spcAft>
                <a:spcPts val="600"/>
              </a:spcAft>
            </a:pPr>
            <a:r>
              <a:rPr sz="1700" b="0" i="0">
                <a:solidFill>
                  <a:srgbClr val="212121"/>
                </a:solidFill>
              </a:rPr>
              <a:t>Which parts of Excel felt easy, and which felt fiddly?</a:t>
            </a:r>
          </a:p>
          <a:p>
            <a:pPr>
              <a:spcAft>
                <a:spcPts val="600"/>
              </a:spcAft>
            </a:pPr>
            <a:r>
              <a:rPr sz="1700" b="0" i="0">
                <a:solidFill>
                  <a:srgbClr val="212121"/>
                </a:solidFill>
              </a:rPr>
              <a:t>Where did you have to stop and think about households versus observations?</a:t>
            </a:r>
          </a:p>
          <a:p>
            <a:pPr>
              <a:spcAft>
                <a:spcPts val="600"/>
              </a:spcAft>
            </a:pPr>
            <a:r>
              <a:rPr sz="1700" b="0" i="0">
                <a:solidFill>
                  <a:srgbClr val="212121"/>
                </a:solidFill>
              </a:rPr>
              <a:t>If you already use another tool, how does this compare?</a:t>
            </a:r>
          </a:p>
          <a:p>
            <a:pPr>
              <a:spcAft>
                <a:spcPts val="600"/>
              </a:spcAft>
            </a:pPr>
            <a:r>
              <a:rPr sz="1700" b="0" i="0">
                <a:solidFill>
                  <a:srgbClr val="212121"/>
                </a:solidFill>
              </a:rPr>
              <a:t>What would you want to look up again next time?</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W R A P P I N G   U P</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237744"/>
            <a:ext cx="7726679" cy="530352"/>
          </a:xfrm>
        </p:spPr>
        <p:txBody>
          <a:bodyPr/>
          <a:lstStyle/>
          <a:p>
            <a:pPr>
              <a:spcAft>
                <a:spcPts val="0"/>
              </a:spcAft>
            </a:pPr>
            <a:r>
              <a:rPr sz="2500" b="1" i="0">
                <a:solidFill>
                  <a:srgbClr val="212121"/>
                </a:solidFill>
              </a:rPr>
              <a:t>Thank you!</a:t>
            </a:r>
          </a:p>
        </p:txBody>
      </p:sp>
      <p:sp>
        <p:nvSpPr>
          <p:cNvPr id="3" name="Text Placeholder 2"/>
          <p:cNvSpPr>
            <a:spLocks noGrp="1"/>
          </p:cNvSpPr>
          <p:nvPr>
            <p:ph type="body" idx="1"/>
          </p:nvPr>
        </p:nvSpPr>
        <p:spPr/>
        <p:txBody>
          <a:bodyPr wrap="square"/>
          <a:lstStyle/>
          <a:p>
            <a:pPr>
              <a:spcAft>
                <a:spcPts val="500"/>
              </a:spcAft>
            </a:pPr>
            <a:r>
              <a:rPr sz="1500" b="0" i="0">
                <a:solidFill>
                  <a:srgbClr val="212121"/>
                </a:solidFill>
              </a:rPr>
              <a:t>Developed by DITI Research and Teaching Fellows</a:t>
            </a:r>
          </a:p>
          <a:p>
            <a:pPr>
              <a:spcAft>
                <a:spcPts val="500"/>
              </a:spcAft>
            </a:pPr>
            <a:r>
              <a:rPr sz="1500" b="0" i="0">
                <a:solidFill>
                  <a:srgbClr val="212121"/>
                </a:solidFill>
              </a:rPr>
              <a:t>Slides, handout, and dataset: [ADD COURSE MATERIALS LINK]</a:t>
            </a:r>
          </a:p>
          <a:p>
            <a:pPr>
              <a:spcAft>
                <a:spcPts val="500"/>
              </a:spcAft>
            </a:pPr>
            <a:r>
              <a:rPr sz="1500" b="0" i="0">
                <a:solidFill>
                  <a:srgbClr val="212121"/>
                </a:solidFill>
              </a:rPr>
              <a:t>Please fill out this survey to give us feedback: https://bit.ly/diti-feedback</a:t>
            </a:r>
          </a:p>
          <a:p>
            <a:pPr>
              <a:spcAft>
                <a:spcPts val="500"/>
              </a:spcAft>
            </a:pPr>
            <a:r>
              <a:rPr sz="1500" b="0" i="0">
                <a:solidFill>
                  <a:srgbClr val="212121"/>
                </a:solidFill>
              </a:rPr>
              <a:t>For more information on DITI, please see: https://bit.ly/diti-about</a:t>
            </a:r>
          </a:p>
          <a:p>
            <a:pPr>
              <a:spcAft>
                <a:spcPts val="500"/>
              </a:spcAft>
            </a:pPr>
            <a:r>
              <a:rPr sz="1500" b="0" i="0">
                <a:solidFill>
                  <a:srgbClr val="212121"/>
                </a:solidFill>
              </a:rPr>
              <a:t>Schedule an appointment with us! https://bit.ly/diti-meeting</a:t>
            </a:r>
          </a:p>
          <a:p>
            <a:pPr>
              <a:spcAft>
                <a:spcPts val="500"/>
              </a:spcAft>
            </a:pPr>
            <a:r>
              <a:rPr sz="1500" b="0" i="0">
                <a:solidFill>
                  <a:srgbClr val="212121"/>
                </a:solidFill>
              </a:rPr>
              <a:t>If you have any questions, contact us at: nulab.info@gmail.com</a:t>
            </a:r>
          </a:p>
        </p:txBody>
      </p:sp>
    </p:spTree>
  </p:cSld>
  <p:clrMapOvr>
    <a:masterClrMapping/>
  </p:clrMapOvr>
</p:sld>
</file>

<file path=ppt/theme/theme1.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